
<file path=[Content_Types].xml><?xml version="1.0" encoding="utf-8"?>
<Types xmlns="http://schemas.openxmlformats.org/package/2006/content-types">
  <Default Extension="emf" ContentType="image/x-emf"/>
  <Default Extension="jpeg" ContentType="image/jpeg"/>
  <Default Extension="mov" ContentType="video/quicktime"/>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9"/>
  </p:notesMasterIdLst>
  <p:handoutMasterIdLst>
    <p:handoutMasterId r:id="rId40"/>
  </p:handoutMasterIdLst>
  <p:sldIdLst>
    <p:sldId id="303" r:id="rId2"/>
    <p:sldId id="458" r:id="rId3"/>
    <p:sldId id="406" r:id="rId4"/>
    <p:sldId id="326" r:id="rId5"/>
    <p:sldId id="569" r:id="rId6"/>
    <p:sldId id="571" r:id="rId7"/>
    <p:sldId id="302" r:id="rId8"/>
    <p:sldId id="597" r:id="rId9"/>
    <p:sldId id="598" r:id="rId10"/>
    <p:sldId id="311" r:id="rId11"/>
    <p:sldId id="313" r:id="rId12"/>
    <p:sldId id="314" r:id="rId13"/>
    <p:sldId id="599" r:id="rId14"/>
    <p:sldId id="258" r:id="rId15"/>
    <p:sldId id="348" r:id="rId16"/>
    <p:sldId id="264" r:id="rId17"/>
    <p:sldId id="328" r:id="rId18"/>
    <p:sldId id="329" r:id="rId19"/>
    <p:sldId id="600" r:id="rId20"/>
    <p:sldId id="601" r:id="rId21"/>
    <p:sldId id="331" r:id="rId22"/>
    <p:sldId id="332" r:id="rId23"/>
    <p:sldId id="586" r:id="rId24"/>
    <p:sldId id="593" r:id="rId25"/>
    <p:sldId id="335" r:id="rId26"/>
    <p:sldId id="336" r:id="rId27"/>
    <p:sldId id="337" r:id="rId28"/>
    <p:sldId id="338" r:id="rId29"/>
    <p:sldId id="340" r:id="rId30"/>
    <p:sldId id="341" r:id="rId31"/>
    <p:sldId id="351" r:id="rId32"/>
    <p:sldId id="352" r:id="rId33"/>
    <p:sldId id="595" r:id="rId34"/>
    <p:sldId id="573" r:id="rId35"/>
    <p:sldId id="541" r:id="rId36"/>
    <p:sldId id="492" r:id="rId37"/>
    <p:sldId id="60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8DD5"/>
    <a:srgbClr val="92B573"/>
    <a:srgbClr val="75B6E5"/>
    <a:srgbClr val="FF0000"/>
    <a:srgbClr val="8DB4E2"/>
    <a:srgbClr val="D3908F"/>
    <a:srgbClr val="E0524A"/>
    <a:srgbClr val="8DB4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25"/>
    <p:restoredTop sz="88288"/>
  </p:normalViewPr>
  <p:slideViewPr>
    <p:cSldViewPr snapToGrid="0" snapToObjects="1">
      <p:cViewPr varScale="1">
        <p:scale>
          <a:sx n="111" d="100"/>
          <a:sy n="111" d="100"/>
        </p:scale>
        <p:origin x="1792" y="208"/>
      </p:cViewPr>
      <p:guideLst>
        <p:guide orient="horz" pos="2160"/>
        <p:guide pos="3840"/>
      </p:guideLst>
    </p:cSldViewPr>
  </p:slideViewPr>
  <p:notesTextViewPr>
    <p:cViewPr>
      <p:scale>
        <a:sx n="150" d="100"/>
        <a:sy n="150" d="100"/>
      </p:scale>
      <p:origin x="0" y="0"/>
    </p:cViewPr>
  </p:notesTextViewPr>
  <p:notesViewPr>
    <p:cSldViewPr snapToGrid="0" snapToObjects="1">
      <p:cViewPr varScale="1">
        <p:scale>
          <a:sx n="99" d="100"/>
          <a:sy n="99" d="100"/>
        </p:scale>
        <p:origin x="316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88389790-147C-7748-A8A1-65FAC8A20F72}" type="datetimeFigureOut">
              <a:rPr lang="en-US" smtClean="0"/>
              <a:t>10/24/25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1187C3C-3B4A-A94C-9469-5678414FBFB8}" type="slidenum">
              <a:rPr lang="en-US" smtClean="0"/>
              <a:t>‹#›</a:t>
            </a:fld>
            <a:endParaRPr lang="en-US"/>
          </a:p>
        </p:txBody>
      </p:sp>
    </p:spTree>
    <p:extLst>
      <p:ext uri="{BB962C8B-B14F-4D97-AF65-F5344CB8AC3E}">
        <p14:creationId xmlns:p14="http://schemas.microsoft.com/office/powerpoint/2010/main" val="8209896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48CB77B6-7185-9642-B594-FCD5D893C7A0}" type="datetimeFigureOut">
              <a:rPr lang="en-US" smtClean="0"/>
              <a:t>10/24/25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93586-FEB5-7C43-8F44-7EFAE4EECA28}" type="slidenum">
              <a:rPr lang="en-US" smtClean="0"/>
              <a:t>‹#›</a:t>
            </a:fld>
            <a:endParaRPr lang="en-US"/>
          </a:p>
        </p:txBody>
      </p:sp>
    </p:spTree>
    <p:extLst>
      <p:ext uri="{BB962C8B-B14F-4D97-AF65-F5344CB8AC3E}">
        <p14:creationId xmlns:p14="http://schemas.microsoft.com/office/powerpoint/2010/main" val="281107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itchFamily="2" charset="2"/>
            </a:endParaRPr>
          </a:p>
        </p:txBody>
      </p:sp>
      <p:sp>
        <p:nvSpPr>
          <p:cNvPr id="4" name="Slide Number Placeholder 3"/>
          <p:cNvSpPr>
            <a:spLocks noGrp="1"/>
          </p:cNvSpPr>
          <p:nvPr>
            <p:ph type="sldNum" sz="quarter" idx="10"/>
          </p:nvPr>
        </p:nvSpPr>
        <p:spPr/>
        <p:txBody>
          <a:bodyPr/>
          <a:lstStyle/>
          <a:p>
            <a:fld id="{DD65BEC1-91A9-F040-80A2-A1EC33E8D6DB}"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442918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a:t>
            </a:fld>
            <a:endParaRPr lang="en-US"/>
          </a:p>
        </p:txBody>
      </p:sp>
    </p:spTree>
    <p:extLst>
      <p:ext uri="{BB962C8B-B14F-4D97-AF65-F5344CB8AC3E}">
        <p14:creationId xmlns:p14="http://schemas.microsoft.com/office/powerpoint/2010/main" val="2648508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session we will continue our focus on transformation and introduce some tools for basic statistics and modeling also.</a:t>
            </a:r>
          </a:p>
        </p:txBody>
      </p:sp>
      <p:sp>
        <p:nvSpPr>
          <p:cNvPr id="4" name="Slide Number Placeholder 3"/>
          <p:cNvSpPr>
            <a:spLocks noGrp="1"/>
          </p:cNvSpPr>
          <p:nvPr>
            <p:ph type="sldNum" sz="quarter" idx="10"/>
          </p:nvPr>
        </p:nvSpPr>
        <p:spPr/>
        <p:txBody>
          <a:bodyPr/>
          <a:lstStyle/>
          <a:p>
            <a:fld id="{0A193586-FEB5-7C43-8F44-7EFAE4EECA28}" type="slidenum">
              <a:rPr lang="en-US" smtClean="0"/>
              <a:t>4</a:t>
            </a:fld>
            <a:endParaRPr lang="en-US"/>
          </a:p>
        </p:txBody>
      </p:sp>
    </p:spTree>
    <p:extLst>
      <p:ext uri="{BB962C8B-B14F-4D97-AF65-F5344CB8AC3E}">
        <p14:creationId xmlns:p14="http://schemas.microsoft.com/office/powerpoint/2010/main" val="4078793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The first</a:t>
            </a:r>
            <a:r>
              <a:rPr lang="en-US" baseline="0" dirty="0"/>
              <a:t> set of functions we will explore will be ones whose primary goal is to extracting the data of interest from a large and often messy pile of data.</a:t>
            </a:r>
          </a:p>
          <a:p>
            <a:pPr marL="85487" indent="0">
              <a:buNone/>
            </a:pPr>
            <a:endParaRPr lang="en-US" baseline="0" dirty="0"/>
          </a:p>
          <a:p>
            <a:pPr marL="85487"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Reducing a dataset to a narrow subset of columns and rows is often the first step in an analysis.</a:t>
            </a:r>
          </a:p>
        </p:txBody>
      </p:sp>
    </p:spTree>
    <p:extLst>
      <p:ext uri="{BB962C8B-B14F-4D97-AF65-F5344CB8AC3E}">
        <p14:creationId xmlns:p14="http://schemas.microsoft.com/office/powerpoint/2010/main" val="1423496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baseline="0" dirty="0">
              <a:sym typeface="Wingdings" panose="05000000000000000000" pitchFamily="2" charset="2"/>
            </a:endParaRPr>
          </a:p>
        </p:txBody>
      </p:sp>
    </p:spTree>
    <p:extLst>
      <p:ext uri="{BB962C8B-B14F-4D97-AF65-F5344CB8AC3E}">
        <p14:creationId xmlns:p14="http://schemas.microsoft.com/office/powerpoint/2010/main" val="2136038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baseline="0" dirty="0">
                <a:sym typeface="Wingdings" panose="05000000000000000000" pitchFamily="2" charset="2"/>
              </a:rPr>
              <a:t>Relatively inefficient: we are typing </a:t>
            </a:r>
            <a:r>
              <a:rPr lang="en-US" baseline="0" dirty="0" err="1">
                <a:sym typeface="Wingdings" panose="05000000000000000000" pitchFamily="2" charset="2"/>
              </a:rPr>
              <a:t>tat_outliers</a:t>
            </a:r>
            <a:r>
              <a:rPr lang="en-US" baseline="0" dirty="0">
                <a:sym typeface="Wingdings" panose="05000000000000000000" pitchFamily="2" charset="2"/>
              </a:rPr>
              <a:t> over and over again</a:t>
            </a:r>
          </a:p>
        </p:txBody>
      </p:sp>
    </p:spTree>
    <p:extLst>
      <p:ext uri="{BB962C8B-B14F-4D97-AF65-F5344CB8AC3E}">
        <p14:creationId xmlns:p14="http://schemas.microsoft.com/office/powerpoint/2010/main" val="3192056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487" indent="0">
              <a:buNone/>
            </a:pPr>
            <a:r>
              <a:rPr lang="en-US" dirty="0"/>
              <a:t>This is exactly what the pipe operator</a:t>
            </a:r>
            <a:r>
              <a:rPr lang="en-US" baseline="0" dirty="0"/>
              <a:t> does. </a:t>
            </a:r>
          </a:p>
          <a:p>
            <a:pPr marL="85487" indent="0">
              <a:buNone/>
            </a:pPr>
            <a:endParaRPr lang="en-US" baseline="0" dirty="0"/>
          </a:p>
          <a:p>
            <a:pPr marL="85487" indent="0">
              <a:buNone/>
            </a:pPr>
            <a:r>
              <a:rPr lang="en-US" baseline="0" dirty="0"/>
              <a:t>The pipe operator is this percent, greater than, percent symbol. It's a tool that we use to glue the pieces of our analysis together into one pipeline.</a:t>
            </a:r>
          </a:p>
          <a:p>
            <a:pPr marL="85487" indent="0">
              <a:buNone/>
            </a:pPr>
            <a:endParaRPr lang="en-US" baseline="0" dirty="0"/>
          </a:p>
          <a:p>
            <a:pPr marL="85487" indent="0">
              <a:buNone/>
            </a:pPr>
            <a:r>
              <a:rPr lang="en-US" baseline="0" dirty="0"/>
              <a:t>The pipe operator does something very simple but at the same time incredible useful. It takes the product of whatever is on the left and puts it into the function on the right. </a:t>
            </a:r>
          </a:p>
          <a:p>
            <a:pPr marL="85487" indent="0">
              <a:buNone/>
            </a:pPr>
            <a:endParaRPr lang="en-US" baseline="0" dirty="0"/>
          </a:p>
          <a:p>
            <a:pPr marL="85487" indent="0">
              <a:buNone/>
            </a:pPr>
            <a:r>
              <a:rPr lang="en-US" baseline="0" dirty="0"/>
              <a:t>So for example, the two lines of code in the gray box do exactly the same thing. </a:t>
            </a:r>
          </a:p>
          <a:p>
            <a:pPr marL="85487" indent="0">
              <a:buNone/>
            </a:pPr>
            <a:endParaRPr lang="en-US" baseline="0" dirty="0"/>
          </a:p>
          <a:p>
            <a:pPr marL="85487" indent="0">
              <a:buNone/>
            </a:pPr>
            <a:r>
              <a:rPr lang="en-US" baseline="0" dirty="0"/>
              <a:t>There are a whole bunch of reasons as to why this is a useful thing but for me, one of the most important reasons is that it turns computer code into something that is almost legible as human language. </a:t>
            </a:r>
          </a:p>
          <a:p>
            <a:pPr marL="85487" indent="0">
              <a:buNone/>
            </a:pPr>
            <a:endParaRPr lang="en-US" baseline="0" dirty="0"/>
          </a:p>
          <a:p>
            <a:pPr marL="85487" indent="0">
              <a:buNone/>
            </a:pPr>
            <a:r>
              <a:rPr lang="en-US" baseline="0" dirty="0"/>
              <a:t>You could essentially read the second line of code as “Take the </a:t>
            </a:r>
            <a:r>
              <a:rPr lang="en-US" baseline="0" dirty="0" err="1"/>
              <a:t>covid_testing</a:t>
            </a:r>
            <a:r>
              <a:rPr lang="en-US" baseline="0" dirty="0"/>
              <a:t> data frame, and then filter the </a:t>
            </a:r>
            <a:r>
              <a:rPr lang="en-US" baseline="0" dirty="0" err="1"/>
              <a:t>pan_day</a:t>
            </a:r>
            <a:r>
              <a:rPr lang="en-US" baseline="0" dirty="0"/>
              <a:t> column to rows that are less than or equal to 10.”</a:t>
            </a:r>
            <a:endParaRPr lang="en-US" dirty="0"/>
          </a:p>
        </p:txBody>
      </p:sp>
    </p:spTree>
    <p:extLst>
      <p:ext uri="{BB962C8B-B14F-4D97-AF65-F5344CB8AC3E}">
        <p14:creationId xmlns:p14="http://schemas.microsoft.com/office/powerpoint/2010/main" val="2578460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code here is far more succinct. It's essentially self describing since it’s written in a sequential,</a:t>
            </a:r>
            <a:r>
              <a:rPr lang="en-US" baseline="0" dirty="0"/>
              <a:t> essentially human readable format. </a:t>
            </a:r>
          </a:p>
          <a:p>
            <a:pPr marL="0" indent="0">
              <a:buNone/>
            </a:pPr>
            <a:endParaRPr lang="en-US" baseline="0"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aseline="0" dirty="0"/>
              <a:t>The pipe operator allows us to form chains that accomplish complicated data transformation operations but which are made up of very simple, self-contained, building blocks. So we're able to make something complex by joining together many simple elements that are easy to understand in isolation.</a:t>
            </a:r>
          </a:p>
          <a:p>
            <a:pPr marL="0" indent="0">
              <a:buNone/>
            </a:pPr>
            <a:endParaRPr lang="en-US" baseline="0" dirty="0"/>
          </a:p>
          <a:p>
            <a:pPr marL="0" indent="0">
              <a:buNone/>
            </a:pPr>
            <a:r>
              <a:rPr lang="en-US" baseline="0" dirty="0"/>
              <a:t>An additional benefit is that it makes it easier to actually write code because it's much easier to translate our thoughts into an analytical pipeline. </a:t>
            </a:r>
          </a:p>
        </p:txBody>
      </p:sp>
    </p:spTree>
    <p:extLst>
      <p:ext uri="{BB962C8B-B14F-4D97-AF65-F5344CB8AC3E}">
        <p14:creationId xmlns:p14="http://schemas.microsoft.com/office/powerpoint/2010/main" val="1755690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8750" indent="0">
              <a:buNone/>
            </a:pPr>
            <a:r>
              <a:rPr lang="en-US" dirty="0"/>
              <a:t>This pipe operator</a:t>
            </a:r>
            <a:r>
              <a:rPr lang="en-US" baseline="0" dirty="0"/>
              <a:t> is going to be so useful to you </a:t>
            </a:r>
            <a:r>
              <a:rPr lang="en-US" baseline="0" dirty="0" err="1"/>
              <a:t>you</a:t>
            </a:r>
            <a:r>
              <a:rPr lang="en-US" baseline="0" dirty="0"/>
              <a:t> might as well learning a shortcut key that will type it out for you.</a:t>
            </a:r>
          </a:p>
          <a:p>
            <a:pPr marL="158750" indent="0">
              <a:buNone/>
            </a:pPr>
            <a:endParaRPr lang="en-US" baseline="0" dirty="0"/>
          </a:p>
          <a:p>
            <a:pPr marL="158750" indent="0">
              <a:buNone/>
            </a:pPr>
            <a:r>
              <a:rPr lang="en-US" baseline="0" dirty="0"/>
              <a:t>You can use either command, shift M on a mac or Ctrl shift M on a PC to save your fingers a few inches of movement.</a:t>
            </a:r>
            <a:endParaRPr lang="en-US" dirty="0"/>
          </a:p>
        </p:txBody>
      </p:sp>
    </p:spTree>
    <p:extLst>
      <p:ext uri="{BB962C8B-B14F-4D97-AF65-F5344CB8AC3E}">
        <p14:creationId xmlns:p14="http://schemas.microsoft.com/office/powerpoint/2010/main" val="3287606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by introducing the concept of summarizing with with Summarize() function.</a:t>
            </a:r>
          </a:p>
        </p:txBody>
      </p:sp>
      <p:sp>
        <p:nvSpPr>
          <p:cNvPr id="4" name="Slide Number Placeholder 3"/>
          <p:cNvSpPr>
            <a:spLocks noGrp="1"/>
          </p:cNvSpPr>
          <p:nvPr>
            <p:ph type="sldNum" sz="quarter" idx="5"/>
          </p:nvPr>
        </p:nvSpPr>
        <p:spPr/>
        <p:txBody>
          <a:bodyPr/>
          <a:lstStyle/>
          <a:p>
            <a:fld id="{0A193586-FEB5-7C43-8F44-7EFAE4EECA28}" type="slidenum">
              <a:rPr lang="en-US" smtClean="0"/>
              <a:t>14</a:t>
            </a:fld>
            <a:endParaRPr lang="en-US"/>
          </a:p>
        </p:txBody>
      </p:sp>
    </p:spTree>
    <p:extLst>
      <p:ext uri="{BB962C8B-B14F-4D97-AF65-F5344CB8AC3E}">
        <p14:creationId xmlns:p14="http://schemas.microsoft.com/office/powerpoint/2010/main" val="1322844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straightforward and practical question that we might ask of our data set.</a:t>
            </a:r>
          </a:p>
          <a:p>
            <a:endParaRPr lang="en-US" dirty="0"/>
          </a:p>
          <a:p>
            <a:r>
              <a:rPr lang="en-US" dirty="0"/>
              <a:t>What is the average sodium value</a:t>
            </a:r>
          </a:p>
          <a:p>
            <a:endParaRPr lang="en-US" dirty="0"/>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15</a:t>
            </a:fld>
            <a:endParaRPr lang="en-US"/>
          </a:p>
        </p:txBody>
      </p:sp>
    </p:spTree>
    <p:extLst>
      <p:ext uri="{BB962C8B-B14F-4D97-AF65-F5344CB8AC3E}">
        <p14:creationId xmlns:p14="http://schemas.microsoft.com/office/powerpoint/2010/main" val="1871288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Summarize allows us to take a variable (column) of data and apply a function</a:t>
            </a:r>
            <a:r>
              <a:rPr lang="en-US" baseline="0" dirty="0"/>
              <a:t> (or functions)</a:t>
            </a:r>
            <a:r>
              <a:rPr lang="en-US" dirty="0"/>
              <a:t> to all observations.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Using summarize we can return a single value, or summary.</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2394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 make summaries of our data we use the following code construct.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pass a data set using pipes to the summarize function.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Within the summarize function we provide a variable name and set it to a calculation or value that we define.</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7090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Let’s look at a simple example using summarize() to count the number of orders in a data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Note, that to simplify the data frame, we first will select 2 variables and include the first 4 observations.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a:t>
            </a:r>
            <a:r>
              <a:rPr lang="en-US" baseline="0" dirty="0"/>
              <a:t> returns the number of observations or rows for a data frame.</a:t>
            </a:r>
          </a:p>
          <a:p>
            <a:pPr marL="0" lvl="0" indent="0" algn="l" rtl="0">
              <a:spcBef>
                <a:spcPts val="0"/>
              </a:spcBef>
              <a:spcAft>
                <a:spcPts val="0"/>
              </a:spcAft>
              <a:buNone/>
            </a:pPr>
            <a:endParaRPr lang="en-US" baseline="0"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67533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Let’s look at a simple example using summarize() to count the number of orders in a data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Note, that to simplify the data frame, we first will select 2 variables and include the first 4 observations.</a:t>
            </a: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a:t>
            </a:r>
            <a:r>
              <a:rPr lang="en-US" baseline="0" dirty="0"/>
              <a:t> returns the number of observations or rows for a data frame.</a:t>
            </a:r>
          </a:p>
          <a:p>
            <a:pPr marL="0" lvl="0" indent="0" algn="l" rtl="0">
              <a:spcBef>
                <a:spcPts val="0"/>
              </a:spcBef>
              <a:spcAft>
                <a:spcPts val="0"/>
              </a:spcAft>
              <a:buNone/>
            </a:pPr>
            <a:endParaRPr lang="en-US" baseline="0"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1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a:t>
            </a:r>
            <a:r>
              <a:rPr lang="en-US" baseline="0" dirty="0"/>
              <a:t> many different summary functions.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20</a:t>
            </a:fld>
            <a:endParaRPr lang="en-US"/>
          </a:p>
        </p:txBody>
      </p:sp>
    </p:spTree>
    <p:extLst>
      <p:ext uri="{BB962C8B-B14F-4D97-AF65-F5344CB8AC3E}">
        <p14:creationId xmlns:p14="http://schemas.microsoft.com/office/powerpoint/2010/main" val="41668307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mins</a:t>
            </a:r>
          </a:p>
        </p:txBody>
      </p:sp>
      <p:sp>
        <p:nvSpPr>
          <p:cNvPr id="4" name="Slide Number Placeholder 3"/>
          <p:cNvSpPr>
            <a:spLocks noGrp="1"/>
          </p:cNvSpPr>
          <p:nvPr>
            <p:ph type="sldNum" sz="quarter" idx="5"/>
          </p:nvPr>
        </p:nvSpPr>
        <p:spPr/>
        <p:txBody>
          <a:bodyPr/>
          <a:lstStyle/>
          <a:p>
            <a:fld id="{0A193586-FEB5-7C43-8F44-7EFAE4EECA28}" type="slidenum">
              <a:rPr lang="en-US" smtClean="0"/>
              <a:t>21</a:t>
            </a:fld>
            <a:endParaRPr lang="en-US"/>
          </a:p>
        </p:txBody>
      </p:sp>
    </p:spTree>
    <p:extLst>
      <p:ext uri="{BB962C8B-B14F-4D97-AF65-F5344CB8AC3E}">
        <p14:creationId xmlns:p14="http://schemas.microsoft.com/office/powerpoint/2010/main" val="647534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a:t>
            </a:r>
            <a:r>
              <a:rPr lang="en-US" baseline="0" dirty="0"/>
              <a:t> many different summary functions.</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22</a:t>
            </a:fld>
            <a:endParaRPr lang="en-US"/>
          </a:p>
        </p:txBody>
      </p:sp>
    </p:spTree>
    <p:extLst>
      <p:ext uri="{BB962C8B-B14F-4D97-AF65-F5344CB8AC3E}">
        <p14:creationId xmlns:p14="http://schemas.microsoft.com/office/powerpoint/2010/main" val="290935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baseline="0" dirty="0"/>
              <a:t>To answer this question we need to be able to group data.</a:t>
            </a:r>
            <a:endParaRPr lang="en-US" dirty="0"/>
          </a:p>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25</a:t>
            </a:fld>
            <a:endParaRPr lang="en-US"/>
          </a:p>
        </p:txBody>
      </p:sp>
    </p:spTree>
    <p:extLst>
      <p:ext uri="{BB962C8B-B14F-4D97-AF65-F5344CB8AC3E}">
        <p14:creationId xmlns:p14="http://schemas.microsoft.com/office/powerpoint/2010/main" val="12346557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Group_by</a:t>
            </a:r>
            <a:r>
              <a:rPr lang="en-US" dirty="0"/>
              <a:t> is a challenging</a:t>
            </a:r>
            <a:r>
              <a:rPr lang="en-US" baseline="0" dirty="0"/>
              <a:t> function to master, but </a:t>
            </a:r>
            <a:r>
              <a:rPr lang="en-US" b="1" baseline="0" dirty="0"/>
              <a:t>extremely</a:t>
            </a:r>
            <a:r>
              <a:rPr lang="en-US" baseline="0" dirty="0"/>
              <a:t> powerful. It is one of those tools that once you understand how to use, you cannot possibly go back to live without it.</a:t>
            </a:r>
          </a:p>
          <a:p>
            <a:endParaRPr lang="en-US" baseline="0" dirty="0"/>
          </a:p>
          <a:p>
            <a:r>
              <a:rPr lang="en-US" baseline="0" dirty="0" err="1"/>
              <a:t>Group_by</a:t>
            </a:r>
            <a:r>
              <a:rPr lang="en-US" baseline="0" dirty="0"/>
              <a:t> allows us to take a data frame and break the observations up into several groups.</a:t>
            </a:r>
          </a:p>
          <a:p>
            <a:endParaRPr lang="en-US" baseline="0" dirty="0"/>
          </a:p>
          <a:p>
            <a:r>
              <a:rPr lang="en-US" baseline="0" dirty="0"/>
              <a:t>Then we can “look” at those groups separately.</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26</a:t>
            </a:fld>
            <a:endParaRPr lang="en-US"/>
          </a:p>
        </p:txBody>
      </p:sp>
    </p:spTree>
    <p:extLst>
      <p:ext uri="{BB962C8B-B14F-4D97-AF65-F5344CB8AC3E}">
        <p14:creationId xmlns:p14="http://schemas.microsoft.com/office/powerpoint/2010/main" val="1050883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construct for grouping.</a:t>
            </a:r>
          </a:p>
          <a:p>
            <a:endParaRPr lang="en-US" dirty="0"/>
          </a:p>
          <a:p>
            <a:r>
              <a:rPr lang="en-US" dirty="0"/>
              <a:t>We pass a data set using pipes to the </a:t>
            </a:r>
            <a:r>
              <a:rPr lang="en-US" dirty="0" err="1"/>
              <a:t>group_by</a:t>
            </a:r>
            <a:r>
              <a:rPr lang="en-US" dirty="0"/>
              <a:t>() function.</a:t>
            </a:r>
          </a:p>
          <a:p>
            <a:endParaRPr lang="en-US" dirty="0"/>
          </a:p>
          <a:p>
            <a:r>
              <a:rPr lang="en-US" dirty="0"/>
              <a:t>Then we specify the variable that we want to define groups.</a:t>
            </a:r>
          </a:p>
        </p:txBody>
      </p:sp>
      <p:sp>
        <p:nvSpPr>
          <p:cNvPr id="4" name="Slide Number Placeholder 3"/>
          <p:cNvSpPr>
            <a:spLocks noGrp="1"/>
          </p:cNvSpPr>
          <p:nvPr>
            <p:ph type="sldNum" sz="quarter" idx="10"/>
          </p:nvPr>
        </p:nvSpPr>
        <p:spPr/>
        <p:txBody>
          <a:bodyPr/>
          <a:lstStyle/>
          <a:p>
            <a:fld id="{0A193586-FEB5-7C43-8F44-7EFAE4EECA28}" type="slidenum">
              <a:rPr lang="en-US" smtClean="0"/>
              <a:t>27</a:t>
            </a:fld>
            <a:endParaRPr lang="en-US"/>
          </a:p>
        </p:txBody>
      </p:sp>
    </p:spTree>
    <p:extLst>
      <p:ext uri="{BB962C8B-B14F-4D97-AF65-F5344CB8AC3E}">
        <p14:creationId xmlns:p14="http://schemas.microsoft.com/office/powerpoint/2010/main" val="35250431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a example of grouping by </a:t>
            </a:r>
            <a:r>
              <a:rPr lang="en-US" dirty="0" err="1"/>
              <a:t>pan_day</a:t>
            </a:r>
            <a:r>
              <a:rPr lang="en-US" dirty="0"/>
              <a:t>.</a:t>
            </a:r>
          </a:p>
          <a:p>
            <a:endParaRPr lang="en-US" dirty="0"/>
          </a:p>
          <a:p>
            <a:r>
              <a:rPr lang="en-US" dirty="0"/>
              <a:t>We can see that the resulting object</a:t>
            </a:r>
            <a:r>
              <a:rPr lang="en-US" baseline="0" dirty="0"/>
              <a:t> has 15,524 rows that are broken up into 102 groups. </a:t>
            </a:r>
          </a:p>
          <a:p>
            <a:endParaRPr lang="en-US" baseline="0" dirty="0"/>
          </a:p>
          <a:p>
            <a:r>
              <a:rPr lang="en-US" baseline="0" dirty="0"/>
              <a:t>This means there are 102 distinct `</a:t>
            </a:r>
            <a:r>
              <a:rPr lang="en-US" baseline="0" dirty="0" err="1"/>
              <a:t>pan_day`’s</a:t>
            </a:r>
            <a:r>
              <a:rPr lang="en-US" baseline="0" dirty="0"/>
              <a:t>. </a:t>
            </a:r>
          </a:p>
          <a:p>
            <a:endParaRPr lang="en-US" baseline="0" dirty="0"/>
          </a:p>
          <a:p>
            <a:r>
              <a:rPr lang="en-US" baseline="0" dirty="0"/>
              <a:t>Some of these groups will have a single observation. Many of these groups will have more than one observation.</a:t>
            </a:r>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28</a:t>
            </a:fld>
            <a:endParaRPr lang="en-US"/>
          </a:p>
        </p:txBody>
      </p:sp>
    </p:spTree>
    <p:extLst>
      <p:ext uri="{BB962C8B-B14F-4D97-AF65-F5344CB8AC3E}">
        <p14:creationId xmlns:p14="http://schemas.microsoft.com/office/powerpoint/2010/main" val="37614081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like we can apply </a:t>
            </a:r>
            <a:r>
              <a:rPr lang="en-US" i="1" dirty="0"/>
              <a:t>summarize()</a:t>
            </a:r>
            <a:r>
              <a:rPr lang="en-US" dirty="0"/>
              <a:t> to a full data</a:t>
            </a:r>
            <a:r>
              <a:rPr lang="en-US" baseline="0" dirty="0"/>
              <a:t> frame, we can apply </a:t>
            </a:r>
            <a:r>
              <a:rPr lang="en-US" i="1" baseline="0" dirty="0"/>
              <a:t>summarize()</a:t>
            </a:r>
            <a:r>
              <a:rPr lang="en-US" i="0" baseline="0" dirty="0"/>
              <a:t> to each group separately.</a:t>
            </a:r>
          </a:p>
          <a:p>
            <a:endParaRPr lang="en-US" i="0" baseline="0" dirty="0"/>
          </a:p>
          <a:p>
            <a:r>
              <a:rPr lang="en-US" i="0" baseline="0" dirty="0"/>
              <a:t>The combination of </a:t>
            </a:r>
            <a:r>
              <a:rPr lang="en-US" i="0" baseline="0" dirty="0" err="1"/>
              <a:t>group_by</a:t>
            </a:r>
            <a:r>
              <a:rPr lang="en-US" i="0" baseline="0" dirty="0"/>
              <a:t>() and summarize() is extremely powerful.</a:t>
            </a:r>
            <a:endParaRPr lang="en-US" i="0" dirty="0"/>
          </a:p>
        </p:txBody>
      </p:sp>
      <p:sp>
        <p:nvSpPr>
          <p:cNvPr id="4" name="Slide Number Placeholder 3"/>
          <p:cNvSpPr>
            <a:spLocks noGrp="1"/>
          </p:cNvSpPr>
          <p:nvPr>
            <p:ph type="sldNum" sz="quarter" idx="10"/>
          </p:nvPr>
        </p:nvSpPr>
        <p:spPr/>
        <p:txBody>
          <a:bodyPr/>
          <a:lstStyle/>
          <a:p>
            <a:fld id="{0A193586-FEB5-7C43-8F44-7EFAE4EECA28}" type="slidenum">
              <a:rPr lang="en-US" smtClean="0"/>
              <a:t>30</a:t>
            </a:fld>
            <a:endParaRPr lang="en-US"/>
          </a:p>
        </p:txBody>
      </p:sp>
    </p:spTree>
    <p:extLst>
      <p:ext uri="{BB962C8B-B14F-4D97-AF65-F5344CB8AC3E}">
        <p14:creationId xmlns:p14="http://schemas.microsoft.com/office/powerpoint/2010/main" val="16721263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Using summarize() without </a:t>
            </a:r>
            <a:r>
              <a:rPr lang="en-US" dirty="0" err="1"/>
              <a:t>group_by</a:t>
            </a:r>
            <a:r>
              <a:rPr lang="en-US" dirty="0"/>
              <a:t>() we can count how many total rows there are.</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9206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3:notes"/>
          <p:cNvSpPr txBox="1">
            <a:spLocks noGrp="1"/>
          </p:cNvSpPr>
          <p:nvPr>
            <p:ph type="body" idx="1"/>
          </p:nvPr>
        </p:nvSpPr>
        <p:spPr>
          <a:xfrm>
            <a:off x="1507801" y="7162567"/>
            <a:ext cx="12062456" cy="678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Adding </a:t>
            </a:r>
            <a:r>
              <a:rPr lang="en-US" dirty="0" err="1"/>
              <a:t>group_by</a:t>
            </a:r>
            <a:r>
              <a:rPr lang="en-US" dirty="0"/>
              <a:t>(), we count how many rows there are for each `</a:t>
            </a:r>
            <a:r>
              <a:rPr lang="en-US" dirty="0" err="1"/>
              <a:t>pan_day</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the data that underlies the figure we looked at in slide 6.</a:t>
            </a:r>
            <a:endParaRPr dirty="0"/>
          </a:p>
        </p:txBody>
      </p:sp>
      <p:sp>
        <p:nvSpPr>
          <p:cNvPr id="290" name="Google Shape;290;p23:notes"/>
          <p:cNvSpPr>
            <a:spLocks noGrp="1" noRot="1" noChangeAspect="1"/>
          </p:cNvSpPr>
          <p:nvPr>
            <p:ph type="sldImg" idx="2"/>
          </p:nvPr>
        </p:nvSpPr>
        <p:spPr>
          <a:xfrm>
            <a:off x="2513013" y="1130300"/>
            <a:ext cx="10053637" cy="5656263"/>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57147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33</a:t>
            </a:fld>
            <a:endParaRPr lang="en-US"/>
          </a:p>
        </p:txBody>
      </p:sp>
    </p:spTree>
    <p:extLst>
      <p:ext uri="{BB962C8B-B14F-4D97-AF65-F5344CB8AC3E}">
        <p14:creationId xmlns:p14="http://schemas.microsoft.com/office/powerpoint/2010/main" val="3694842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193586-FEB5-7C43-8F44-7EFAE4EECA28}" type="slidenum">
              <a:rPr lang="en-US" smtClean="0"/>
              <a:t>34</a:t>
            </a:fld>
            <a:endParaRPr lang="en-US"/>
          </a:p>
        </p:txBody>
      </p:sp>
    </p:spTree>
    <p:extLst>
      <p:ext uri="{BB962C8B-B14F-4D97-AF65-F5344CB8AC3E}">
        <p14:creationId xmlns:p14="http://schemas.microsoft.com/office/powerpoint/2010/main" val="40307036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193586-FEB5-7C43-8F44-7EFAE4EECA28}" type="slidenum">
              <a:rPr lang="en-US" smtClean="0"/>
              <a:t>35</a:t>
            </a:fld>
            <a:endParaRPr lang="en-US"/>
          </a:p>
        </p:txBody>
      </p:sp>
    </p:spTree>
    <p:extLst>
      <p:ext uri="{BB962C8B-B14F-4D97-AF65-F5344CB8AC3E}">
        <p14:creationId xmlns:p14="http://schemas.microsoft.com/office/powerpoint/2010/main" val="21557267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dplyr</a:t>
            </a:r>
            <a:r>
              <a:rPr lang="en-US" dirty="0"/>
              <a:t> cheat sheet helps with the grammar of transforming data including functions functions grouping and summarizing data.</a:t>
            </a:r>
          </a:p>
          <a:p>
            <a:endParaRPr lang="en-US" dirty="0"/>
          </a:p>
          <a:p>
            <a:r>
              <a:rPr lang="en-US" dirty="0"/>
              <a:t>The </a:t>
            </a:r>
            <a:r>
              <a:rPr lang="en-US" dirty="0" err="1"/>
              <a:t>dplyr</a:t>
            </a:r>
            <a:r>
              <a:rPr lang="en-US" dirty="0"/>
              <a:t> cheat sheet is available on the RStudio website.</a:t>
            </a:r>
          </a:p>
        </p:txBody>
      </p:sp>
      <p:sp>
        <p:nvSpPr>
          <p:cNvPr id="4" name="Slide Number Placeholder 3"/>
          <p:cNvSpPr>
            <a:spLocks noGrp="1"/>
          </p:cNvSpPr>
          <p:nvPr>
            <p:ph type="sldNum" sz="quarter" idx="10"/>
          </p:nvPr>
        </p:nvSpPr>
        <p:spPr/>
        <p:txBody>
          <a:bodyPr/>
          <a:lstStyle/>
          <a:p>
            <a:fld id="{0A193586-FEB5-7C43-8F44-7EFAE4EECA28}" type="slidenum">
              <a:rPr lang="en-US" smtClean="0"/>
              <a:t>36</a:t>
            </a:fld>
            <a:endParaRPr lang="en-US"/>
          </a:p>
        </p:txBody>
      </p:sp>
    </p:spTree>
    <p:extLst>
      <p:ext uri="{BB962C8B-B14F-4D97-AF65-F5344CB8AC3E}">
        <p14:creationId xmlns:p14="http://schemas.microsoft.com/office/powerpoint/2010/main" val="1949317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193586-FEB5-7C43-8F44-7EFAE4EECA28}" type="slidenum">
              <a:rPr lang="en-US" smtClean="0"/>
              <a:t>37</a:t>
            </a:fld>
            <a:endParaRPr lang="en-US"/>
          </a:p>
        </p:txBody>
      </p:sp>
    </p:spTree>
    <p:extLst>
      <p:ext uri="{BB962C8B-B14F-4D97-AF65-F5344CB8AC3E}">
        <p14:creationId xmlns:p14="http://schemas.microsoft.com/office/powerpoint/2010/main" val="4206530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1.mov"/><Relationship Id="rId1" Type="http://schemas.microsoft.com/office/2007/relationships/media" Target="../media/media1.mov"/><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4.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3.mov"/><Relationship Id="rId1" Type="http://schemas.microsoft.com/office/2007/relationships/media" Target="../media/media3.mov"/><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video" Target="../media/media4.mov"/><Relationship Id="rId1" Type="http://schemas.microsoft.com/office/2007/relationships/media" Target="../media/media4.mov"/><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84CD6EC9-350B-7044-B5F0-8DCF21610B34}"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lvl1pPr>
              <a:defRPr sz="1200"/>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42AE76-ADD2-C54F-A619-039722557B09}"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6EF16A-3B61-9E4F-9E1F-EB5DF7E46F00}"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Section Header">
    <p:spTree>
      <p:nvGrpSpPr>
        <p:cNvPr id="1" name=""/>
        <p:cNvGrpSpPr/>
        <p:nvPr/>
      </p:nvGrpSpPr>
      <p:grpSpPr>
        <a:xfrm>
          <a:off x="0" y="0"/>
          <a:ext cx="0" cy="0"/>
          <a:chOff x="0" y="0"/>
          <a:chExt cx="0" cy="0"/>
        </a:xfrm>
      </p:grpSpPr>
      <p:sp>
        <p:nvSpPr>
          <p:cNvPr id="9" name="Rectangle 8"/>
          <p:cNvSpPr/>
          <p:nvPr/>
        </p:nvSpPr>
        <p:spPr>
          <a:xfrm>
            <a:off x="0" y="0"/>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502443" y="2683193"/>
            <a:ext cx="11187112" cy="1463040"/>
          </a:xfrm>
        </p:spPr>
        <p:txBody>
          <a:bodyPr anchor="ctr">
            <a:normAutofit/>
          </a:bodyPr>
          <a:lstStyle>
            <a:lvl1pPr algn="ctr">
              <a:defRPr sz="5000" b="0" spc="200" baseline="0"/>
            </a:lvl1pPr>
          </a:lstStyle>
          <a:p>
            <a:r>
              <a:rPr lang="en-US"/>
              <a:t>Click to edit Master title style</a:t>
            </a:r>
            <a:endParaRPr lang="en-US" dirty="0"/>
          </a:p>
        </p:txBody>
      </p:sp>
      <p:sp>
        <p:nvSpPr>
          <p:cNvPr id="10" name="Rectangle 9"/>
          <p:cNvSpPr/>
          <p:nvPr userDrawn="1"/>
        </p:nvSpPr>
        <p:spPr>
          <a:xfrm>
            <a:off x="0" y="4617721"/>
            <a:ext cx="12192000" cy="22574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5"/>
          <p:cNvSpPr/>
          <p:nvPr userDrawn="1"/>
        </p:nvSpPr>
        <p:spPr>
          <a:xfrm>
            <a:off x="-1" y="4003358"/>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A15ECA-FE03-EB4F-9287-38F194A60F5A}"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440FEB-939C-6D4F-AA90-A288EC45062B}"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8" name="Footer Placeholder 7"/>
          <p:cNvSpPr>
            <a:spLocks noGrp="1"/>
          </p:cNvSpPr>
          <p:nvPr>
            <p:ph type="ftr" sz="quarter" idx="11"/>
          </p:nvPr>
        </p:nvSpPr>
        <p:spPr/>
        <p:txBody>
          <a:bodyPr/>
          <a:lstStyle/>
          <a:p>
            <a:endParaRPr lang="en-US">
              <a:solidFill>
                <a:prstClr val="black">
                  <a:lumMod val="95000"/>
                  <a:lumOff val="5000"/>
                </a:prstClr>
              </a:solidFill>
            </a:endParaRPr>
          </a:p>
        </p:txBody>
      </p:sp>
      <p:sp>
        <p:nvSpPr>
          <p:cNvPr id="9" name="Slide Number Placeholder 8"/>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E799EA-DDAD-854E-A05A-18B120B5A289}"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4" name="Footer Placeholder 3"/>
          <p:cNvSpPr>
            <a:spLocks noGrp="1"/>
          </p:cNvSpPr>
          <p:nvPr>
            <p:ph type="ftr" sz="quarter" idx="11"/>
          </p:nvPr>
        </p:nvSpPr>
        <p:spPr/>
        <p:txBody>
          <a:bodyPr/>
          <a:lstStyle/>
          <a:p>
            <a:endParaRPr lang="en-US">
              <a:solidFill>
                <a:prstClr val="black">
                  <a:lumMod val="95000"/>
                  <a:lumOff val="5000"/>
                </a:prstClr>
              </a:solidFill>
            </a:endParaRPr>
          </a:p>
        </p:txBody>
      </p:sp>
      <p:sp>
        <p:nvSpPr>
          <p:cNvPr id="5" name="Slide Number Placeholder 4"/>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Your_Turn_10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F81D07-0F0E-C944-8AC9-C81607AC64B5}"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12"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30"/>
            <a:ext cx="2130970" cy="637613"/>
          </a:xfrm>
          <a:prstGeom prst="rect">
            <a:avLst/>
          </a:prstGeom>
          <a:ln w="12700">
            <a:solidFill>
              <a:srgbClr val="A6AAA9"/>
            </a:solidFill>
            <a:miter lim="400000"/>
          </a:ln>
        </p:spPr>
      </p:pic>
      <p:sp>
        <p:nvSpPr>
          <p:cNvPr id="18"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childTnLst>
        </p:cTn>
      </p:par>
    </p:tnLst>
  </p:timing>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Your_Turn_5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Black_W_10_Alarm-6">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8"/>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79F5013B-1C83-744C-AE64-CBAFADC9E8F0}"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pic>
        <p:nvPicPr>
          <p:cNvPr id="8" name="Timer_Black_W_10_Alarm-6.mov" descr="Timer_Black_W_10_Alarm-6.mov"/>
          <p:cNvPicPr>
            <a:picLocks/>
          </p:cNvPicPr>
          <p:nvPr userDrawn="1">
            <a:videoFile r:link="rId2"/>
            <p:extLst>
              <p:ext uri="{DAA4B4D4-6D71-4841-9C94-3DE7FCFB9230}">
                <p14:media xmlns:p14="http://schemas.microsoft.com/office/powerpoint/2010/main" r:embed="rId1"/>
              </p:ext>
            </p:extLst>
          </p:nvPr>
        </p:nvPicPr>
        <p:blipFill>
          <a:blip r:embed="rId5"/>
          <a:stretch>
            <a:fillRect/>
          </a:stretch>
        </p:blipFill>
        <p:spPr>
          <a:xfrm>
            <a:off x="19088406" y="11645648"/>
            <a:ext cx="4544635" cy="1359812"/>
          </a:xfrm>
          <a:prstGeom prst="rect">
            <a:avLst/>
          </a:prstGeom>
          <a:ln w="12700">
            <a:solidFill>
              <a:srgbClr val="A6AAA9"/>
            </a:solidFill>
            <a:miter lim="400000"/>
          </a:ln>
        </p:spPr>
      </p:pic>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000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video>
              <p:cMediaNode vol="80000">
                <p:cTn id="13"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Your_Turn_3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 name="timer_3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3F2FA98B-EA5F-714E-A794-F1873AF6F273}"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0"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Your_Turn_1min">
    <p:bg>
      <p:bgPr>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67" name="timer_1min">
            <a:hlinkClick r:id="" action="ppaction://media"/>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9680030" y="5679827"/>
            <a:ext cx="2130970" cy="637613"/>
          </a:xfrm>
          <a:prstGeom prst="rect">
            <a:avLst/>
          </a:prstGeom>
          <a:ln>
            <a:solidFill>
              <a:schemeClr val="bg1">
                <a:lumMod val="50000"/>
              </a:schemeClr>
            </a:solidFill>
          </a:ln>
        </p:spPr>
      </p:pic>
      <p:sp>
        <p:nvSpPr>
          <p:cNvPr id="2" name="Date Placeholder 1"/>
          <p:cNvSpPr>
            <a:spLocks noGrp="1"/>
          </p:cNvSpPr>
          <p:nvPr>
            <p:ph type="dt" sz="half" idx="10"/>
          </p:nvPr>
        </p:nvSpPr>
        <p:spPr/>
        <p:txBody>
          <a:bodyPr/>
          <a:lstStyle/>
          <a:p>
            <a:fld id="{21A48A3E-C0E7-224D-8307-E096DE5D56AC}"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
        <p:nvSpPr>
          <p:cNvPr id="5" name="Title 1"/>
          <p:cNvSpPr>
            <a:spLocks noGrp="1"/>
          </p:cNvSpPr>
          <p:nvPr>
            <p:ph type="title" hasCustomPrompt="1"/>
          </p:nvPr>
        </p:nvSpPr>
        <p:spPr>
          <a:xfrm>
            <a:off x="1024128" y="585216"/>
            <a:ext cx="9720072" cy="1499616"/>
          </a:xfrm>
        </p:spPr>
        <p:txBody>
          <a:bodyPr>
            <a:normAutofit/>
          </a:bodyPr>
          <a:lstStyle>
            <a:lvl1pPr algn="ctr">
              <a:defRPr sz="6600">
                <a:solidFill>
                  <a:schemeClr val="accent4">
                    <a:lumMod val="75000"/>
                  </a:schemeClr>
                </a:solidFill>
              </a:defRPr>
            </a:lvl1pPr>
          </a:lstStyle>
          <a:p>
            <a:r>
              <a:rPr lang="en-US" dirty="0"/>
              <a:t>Your Turn</a:t>
            </a:r>
          </a:p>
        </p:txBody>
      </p:sp>
      <p:sp>
        <p:nvSpPr>
          <p:cNvPr id="11" name="Text Placeholder 17"/>
          <p:cNvSpPr>
            <a:spLocks noGrp="1"/>
          </p:cNvSpPr>
          <p:nvPr>
            <p:ph type="body" sz="quarter" idx="13" hasCustomPrompt="1"/>
          </p:nvPr>
        </p:nvSpPr>
        <p:spPr>
          <a:xfrm>
            <a:off x="1024128" y="2238375"/>
            <a:ext cx="9720072" cy="3178175"/>
          </a:xfrm>
        </p:spPr>
        <p:txBody>
          <a:bodyPr>
            <a:normAutofit/>
          </a:bodyPr>
          <a:lstStyle>
            <a:lvl1pPr>
              <a:defRPr sz="4800">
                <a:solidFill>
                  <a:schemeClr val="accent4">
                    <a:lumMod val="75000"/>
                  </a:schemeClr>
                </a:solidFill>
              </a:defRPr>
            </a:lvl1pPr>
            <a:lvl2pPr>
              <a:defRPr sz="2800"/>
            </a:lvl2pPr>
            <a:lvl3pPr>
              <a:defRPr sz="2000"/>
            </a:lvl3pPr>
            <a:lvl4pPr>
              <a:defRPr sz="2000"/>
            </a:lvl4pPr>
            <a:lvl5pPr>
              <a:defRPr sz="2000"/>
            </a:lvl5pPr>
          </a:lstStyle>
          <a:p>
            <a:pPr lvl="0"/>
            <a:r>
              <a:rPr lang="en-US" dirty="0"/>
              <a:t>An exercise</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7"/>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7"/>
                                        </p:tgtEl>
                                      </p:cBhvr>
                                    </p:cmd>
                                  </p:childTnLst>
                                </p:cTn>
                              </p:par>
                            </p:childTnLst>
                          </p:cTn>
                        </p:par>
                      </p:childTnLst>
                    </p:cTn>
                  </p:par>
                </p:childTnLst>
              </p:cTn>
              <p:nextCondLst>
                <p:cond evt="onClick" delay="0">
                  <p:tgtEl>
                    <p:spTgt spid="67"/>
                  </p:tgtEl>
                </p:cond>
              </p:nextCondLst>
            </p:seq>
            <p:video>
              <p:cMediaNode vol="80000">
                <p:cTn id="7" fill="hold" display="0">
                  <p:stCondLst>
                    <p:cond delay="indefinite"/>
                  </p:stCondLst>
                </p:cTn>
                <p:tgtEl>
                  <p:spTgt spid="67"/>
                </p:tgtEl>
              </p:cMediaNode>
            </p:video>
          </p:childTnLst>
        </p:cTn>
      </p:par>
    </p:tnLst>
  </p:timing>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AC7F2C-1188-B142-BB61-171D61203300}"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3" name="Footer Placeholder 2"/>
          <p:cNvSpPr>
            <a:spLocks noGrp="1"/>
          </p:cNvSpPr>
          <p:nvPr>
            <p:ph type="ftr" sz="quarter" idx="11"/>
          </p:nvPr>
        </p:nvSpPr>
        <p:spPr/>
        <p:txBody>
          <a:bodyPr/>
          <a:lstStyle/>
          <a:p>
            <a:endParaRPr lang="en-US">
              <a:solidFill>
                <a:prstClr val="black">
                  <a:lumMod val="95000"/>
                  <a:lumOff val="5000"/>
                </a:prstClr>
              </a:solidFill>
            </a:endParaRPr>
          </a:p>
        </p:txBody>
      </p:sp>
      <p:sp>
        <p:nvSpPr>
          <p:cNvPr id="4" name="Slide Number Placeholder 3"/>
          <p:cNvSpPr>
            <a:spLocks noGrp="1"/>
          </p:cNvSpPr>
          <p:nvPr>
            <p:ph type="sldNum" sz="quarter" idx="12"/>
          </p:nvPr>
        </p:nvSpPr>
        <p:spPr/>
        <p:txBody>
          <a:bodyPr/>
          <a:lstStyle>
            <a:lvl1pPr>
              <a:defRPr sz="1200"/>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B80074-8971-E04D-9BC0-BE45F9FDAB75}"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8EB8C1-84C2-8646-8732-51338E926D44}"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6" name="Footer Placeholder 5"/>
          <p:cNvSpPr>
            <a:spLocks noGrp="1"/>
          </p:cNvSpPr>
          <p:nvPr>
            <p:ph type="ftr" sz="quarter" idx="11"/>
          </p:nvPr>
        </p:nvSpPr>
        <p:spPr/>
        <p:txBody>
          <a:bodyPr/>
          <a:lstStyle/>
          <a:p>
            <a:endParaRPr lang="en-US" dirty="0">
              <a:solidFill>
                <a:prstClr val="black">
                  <a:lumMod val="95000"/>
                  <a:lumOff val="5000"/>
                </a:prstClr>
              </a:solidFill>
            </a:endParaRPr>
          </a:p>
        </p:txBody>
      </p:sp>
      <p:sp>
        <p:nvSpPr>
          <p:cNvPr id="7" name="Slide Number Placeholder 6"/>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F1DE77-30E9-3F4D-BBA5-9B6AB79190B6}"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E3E7EBE-1DB2-E74E-9C44-79AC52ED10C9}"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5" name="Footer Placeholder 4"/>
          <p:cNvSpPr>
            <a:spLocks noGrp="1"/>
          </p:cNvSpPr>
          <p:nvPr>
            <p:ph type="ftr" sz="quarter" idx="11"/>
          </p:nvPr>
        </p:nvSpPr>
        <p:spPr/>
        <p:txBody>
          <a:bodyPr/>
          <a:lstStyle/>
          <a:p>
            <a:endParaRPr lang="en-US">
              <a:solidFill>
                <a:prstClr val="black">
                  <a:lumMod val="95000"/>
                  <a:lumOff val="5000"/>
                </a:prstClr>
              </a:solidFill>
            </a:endParaRPr>
          </a:p>
        </p:txBody>
      </p:sp>
      <p:sp>
        <p:nvSpPr>
          <p:cNvPr id="6" name="Slide Number Placeholder 5"/>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a:t>
            </a:fld>
            <a:endParaRPr lang="en-US">
              <a:solidFill>
                <a:prstClr val="black">
                  <a:lumMod val="95000"/>
                  <a:lumOff val="5000"/>
                </a:prstClr>
              </a:solidFill>
            </a:endParaRPr>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97825" y="614555"/>
            <a:ext cx="2996437" cy="777536"/>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sz="4420" b="0" i="0">
                <a:solidFill>
                  <a:srgbClr val="005493"/>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24838CF-CBF1-4447-82E7-DAC39F50D634}" type="datetime1">
              <a:rPr lang="en-US" smtClean="0"/>
              <a:t>10/24/25</a:t>
            </a:fld>
            <a:endParaRPr/>
          </a:p>
        </p:txBody>
      </p:sp>
      <p:sp>
        <p:nvSpPr>
          <p:cNvPr id="27" name="Google Shape;27;p4"/>
          <p:cNvSpPr txBox="1">
            <a:spLocks noGrp="1"/>
          </p:cNvSpPr>
          <p:nvPr>
            <p:ph type="sldNum" idx="12"/>
          </p:nvPr>
        </p:nvSpPr>
        <p:spPr>
          <a:xfrm>
            <a:off x="8778241" y="6377941"/>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54480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1_Blank">
    <p:spTree>
      <p:nvGrpSpPr>
        <p:cNvPr id="1" name="Shape 28"/>
        <p:cNvGrpSpPr/>
        <p:nvPr/>
      </p:nvGrpSpPr>
      <p:grpSpPr>
        <a:xfrm>
          <a:off x="0" y="0"/>
          <a:ext cx="0" cy="0"/>
          <a:chOff x="0" y="0"/>
          <a:chExt cx="0" cy="0"/>
        </a:xfrm>
      </p:grpSpPr>
      <p:sp>
        <p:nvSpPr>
          <p:cNvPr id="29" name="Google Shape;29;p5"/>
          <p:cNvSpPr txBox="1">
            <a:spLocks noGrp="1"/>
          </p:cNvSpPr>
          <p:nvPr>
            <p:ph type="ftr" idx="11"/>
          </p:nvPr>
        </p:nvSpPr>
        <p:spPr>
          <a:xfrm>
            <a:off x="4145280" y="6377941"/>
            <a:ext cx="3901372" cy="342964"/>
          </a:xfrm>
          <a:prstGeom prst="rect">
            <a:avLst/>
          </a:prstGeom>
          <a:noFill/>
          <a:ln>
            <a:noFill/>
          </a:ln>
        </p:spPr>
        <p:txBody>
          <a:bodyPr spcFirstLastPara="1" wrap="square" lIns="0" tIns="0" rIns="0" bIns="0" anchor="t" anchorCtr="0"/>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dt" idx="10"/>
          </p:nvPr>
        </p:nvSpPr>
        <p:spPr>
          <a:xfrm>
            <a:off x="609600" y="6377941"/>
            <a:ext cx="2804134" cy="342964"/>
          </a:xfrm>
          <a:prstGeom prst="rect">
            <a:avLst/>
          </a:prstGeom>
          <a:noFill/>
          <a:ln>
            <a:noFill/>
          </a:ln>
        </p:spPr>
        <p:txBody>
          <a:bodyPr spcFirstLastPara="1" wrap="square" lIns="0" tIns="0" rIns="0" bIns="0" anchor="t" anchorCtr="0"/>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F33664DC-9917-D640-9945-1A214E394308}" type="datetime1">
              <a:rPr lang="en-US" smtClean="0"/>
              <a:t>10/24/25</a:t>
            </a:fld>
            <a:endParaRPr/>
          </a:p>
        </p:txBody>
      </p:sp>
      <p:sp>
        <p:nvSpPr>
          <p:cNvPr id="31" name="Google Shape;31;p5"/>
          <p:cNvSpPr txBox="1">
            <a:spLocks noGrp="1"/>
          </p:cNvSpPr>
          <p:nvPr>
            <p:ph type="sldNum" idx="12"/>
          </p:nvPr>
        </p:nvSpPr>
        <p:spPr>
          <a:xfrm>
            <a:off x="8778241" y="6377941"/>
            <a:ext cx="2804134" cy="342964"/>
          </a:xfrm>
          <a:prstGeom prst="rect">
            <a:avLst/>
          </a:prstGeom>
          <a:noFill/>
          <a:ln>
            <a:noFill/>
          </a:ln>
        </p:spPr>
        <p:txBody>
          <a:bodyPr spcFirstLastPara="1" wrap="square" lIns="0" tIns="0" rIns="0" bIns="0" anchor="t"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23820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6D19A642-2C89-DA4A-A5A6-140F44AFA833}" type="datetime1">
              <a:rPr lang="en-US" smtClean="0">
                <a:solidFill>
                  <a:prstClr val="black">
                    <a:lumMod val="95000"/>
                    <a:lumOff val="5000"/>
                  </a:prstClr>
                </a:solidFill>
              </a:rPr>
              <a:t>10/24/25</a:t>
            </a:fld>
            <a:endParaRPr lang="en-US">
              <a:solidFill>
                <a:prstClr val="black">
                  <a:lumMod val="95000"/>
                  <a:lumOff val="5000"/>
                </a:prstClr>
              </a:solidFill>
            </a:endParaRPr>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solidFill>
                <a:prstClr val="black">
                  <a:lumMod val="95000"/>
                  <a:lumOff val="5000"/>
                </a:prstClr>
              </a:solidFill>
            </a:endParaRP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E7EBC154-6848-214C-B925-399887F0DE31}" type="slidenum">
              <a:rPr lang="en-US" smtClean="0">
                <a:solidFill>
                  <a:prstClr val="black">
                    <a:lumMod val="95000"/>
                    <a:lumOff val="5000"/>
                  </a:prstClr>
                </a:solidFill>
              </a:rPr>
              <a:pPr/>
              <a:t>‹#›</a:t>
            </a:fld>
            <a:endParaRPr lang="en-US" dirty="0">
              <a:solidFill>
                <a:prstClr val="black">
                  <a:lumMod val="95000"/>
                  <a:lumOff val="5000"/>
                </a:prstClr>
              </a:solidFill>
            </a:endParaRPr>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4624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73" r:id="rId8"/>
    <p:sldLayoutId id="2147483674" r:id="rId9"/>
    <p:sldLayoutId id="2147483675" r:id="rId10"/>
    <p:sldLayoutId id="2147483676" r:id="rId11"/>
    <p:sldLayoutId id="2147483668" r:id="rId12"/>
    <p:sldLayoutId id="2147483669" r:id="rId13"/>
    <p:sldLayoutId id="2147483670" r:id="rId14"/>
    <p:sldLayoutId id="2147483671" r:id="rId15"/>
    <p:sldLayoutId id="2147483672" r:id="rId16"/>
    <p:sldLayoutId id="2147483677" r:id="rId17"/>
    <p:sldLayoutId id="2147483678" r:id="rId18"/>
  </p:sldLayoutIdLst>
  <p:hf hdr="0" ftr="0" dt="0"/>
  <p:txStyles>
    <p:titleStyle>
      <a:lvl1pPr algn="l" defTabSz="914400" rtl="0" eaLnBrk="1" latinLnBrk="0" hangingPunct="1">
        <a:lnSpc>
          <a:spcPct val="80000"/>
        </a:lnSpc>
        <a:spcBef>
          <a:spcPct val="0"/>
        </a:spcBef>
        <a:buNone/>
        <a:defRPr sz="5000" kern="1200" cap="none"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38872" y="4589747"/>
            <a:ext cx="7755038" cy="1463040"/>
          </a:xfrm>
        </p:spPr>
        <p:txBody>
          <a:bodyPr>
            <a:normAutofit/>
          </a:bodyPr>
          <a:lstStyle/>
          <a:p>
            <a:pPr algn="l"/>
            <a:r>
              <a:rPr lang="en-US" sz="4400" b="1" dirty="0"/>
              <a:t>Grouping and Summarizing Data</a:t>
            </a:r>
          </a:p>
        </p:txBody>
      </p:sp>
      <p:sp>
        <p:nvSpPr>
          <p:cNvPr id="4" name="Subtitle 2">
            <a:extLst>
              <a:ext uri="{FF2B5EF4-FFF2-40B4-BE49-F238E27FC236}">
                <a16:creationId xmlns:a16="http://schemas.microsoft.com/office/drawing/2014/main" id="{FB3D0369-89E4-5974-2767-70D88CE2FBFD}"/>
              </a:ext>
            </a:extLst>
          </p:cNvPr>
          <p:cNvSpPr txBox="1">
            <a:spLocks/>
          </p:cNvSpPr>
          <p:nvPr/>
        </p:nvSpPr>
        <p:spPr>
          <a:xfrm>
            <a:off x="438872" y="5590111"/>
            <a:ext cx="7883325" cy="1463040"/>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mn-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r>
              <a:rPr lang="en-US" sz="2800" dirty="0"/>
              <a:t>Patrick Mathias, MD, PhD</a:t>
            </a:r>
          </a:p>
          <a:p>
            <a:r>
              <a:rPr lang="en-US" sz="2800" dirty="0"/>
              <a:t>University of Washington School of Medicine</a:t>
            </a:r>
          </a:p>
        </p:txBody>
      </p:sp>
      <p:pic>
        <p:nvPicPr>
          <p:cNvPr id="7" name="Picture 6" descr="A black background with pink and blue text&#10;&#10;AI-generated content may be incorrect.">
            <a:extLst>
              <a:ext uri="{FF2B5EF4-FFF2-40B4-BE49-F238E27FC236}">
                <a16:creationId xmlns:a16="http://schemas.microsoft.com/office/drawing/2014/main" id="{9F159636-0B0A-67D8-E8DF-DD4B824D347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316655" y="4659018"/>
            <a:ext cx="2013996" cy="1862187"/>
          </a:xfrm>
          <a:prstGeom prst="rect">
            <a:avLst/>
          </a:prstGeom>
        </p:spPr>
      </p:pic>
    </p:spTree>
    <p:extLst>
      <p:ext uri="{BB962C8B-B14F-4D97-AF65-F5344CB8AC3E}">
        <p14:creationId xmlns:p14="http://schemas.microsoft.com/office/powerpoint/2010/main" val="767747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FC3C1D-173D-474D-A66D-E94C8F19CCF4}"/>
              </a:ext>
            </a:extLst>
          </p:cNvPr>
          <p:cNvSpPr>
            <a:spLocks noGrp="1"/>
          </p:cNvSpPr>
          <p:nvPr>
            <p:ph idx="1"/>
          </p:nvPr>
        </p:nvSpPr>
        <p:spPr/>
        <p:txBody>
          <a:bodyPr>
            <a:normAutofit/>
          </a:bodyPr>
          <a:lstStyle/>
          <a:p>
            <a:r>
              <a:rPr lang="en-US" sz="3200" dirty="0"/>
              <a:t>I have no financial relationships with ineligible companies to disclose</a:t>
            </a:r>
          </a:p>
        </p:txBody>
      </p:sp>
      <p:sp>
        <p:nvSpPr>
          <p:cNvPr id="5" name="Title 4">
            <a:extLst>
              <a:ext uri="{FF2B5EF4-FFF2-40B4-BE49-F238E27FC236}">
                <a16:creationId xmlns:a16="http://schemas.microsoft.com/office/drawing/2014/main" id="{9A5D2C32-C9E5-6944-92F5-3FE4131A3594}"/>
              </a:ext>
            </a:extLst>
          </p:cNvPr>
          <p:cNvSpPr>
            <a:spLocks noGrp="1"/>
          </p:cNvSpPr>
          <p:nvPr>
            <p:ph type="title"/>
          </p:nvPr>
        </p:nvSpPr>
        <p:spPr/>
        <p:txBody>
          <a:bodyPr/>
          <a:lstStyle/>
          <a:p>
            <a:r>
              <a:rPr lang="en-US"/>
              <a:t>DISCLOSURE</a:t>
            </a:r>
            <a:endParaRPr lang="en-US" dirty="0"/>
          </a:p>
        </p:txBody>
      </p:sp>
    </p:spTree>
    <p:extLst>
      <p:ext uri="{BB962C8B-B14F-4D97-AF65-F5344CB8AC3E}">
        <p14:creationId xmlns:p14="http://schemas.microsoft.com/office/powerpoint/2010/main" val="1944407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36074"/>
            <a:ext cx="10939550" cy="6385851"/>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Construct a table that summarizes basic statistics (e.g., count, proportion, mean, range) of a dataset and its subgroups</a:t>
            </a:r>
          </a:p>
          <a:p>
            <a:pPr marL="342900" indent="-342900">
              <a:lnSpc>
                <a:spcPct val="107000"/>
              </a:lnSpc>
              <a:buFont typeface="+mj-lt"/>
              <a:buAutoNum type="arabicPeriod"/>
            </a:pPr>
            <a:r>
              <a:rPr lang="en-US" sz="3200" kern="100" dirty="0">
                <a:effectLst/>
                <a:ea typeface="Calibri" panose="020F0502020204030204" pitchFamily="34" charset="0"/>
                <a:cs typeface="Arial" panose="020B0604020202020204" pitchFamily="34" charset="0"/>
              </a:rPr>
              <a:t>Utilize programming and software tools to facilitate efficient, reproducible, and transparent data analytics workflows</a:t>
            </a:r>
            <a:endParaRPr lang="en-US" sz="3200" dirty="0"/>
          </a:p>
          <a:p>
            <a:r>
              <a:rPr lang="en-US" sz="4000" dirty="0"/>
              <a:t>Lesson Objectives</a:t>
            </a:r>
          </a:p>
          <a:p>
            <a:pPr marL="457200" indent="-457200">
              <a:buFont typeface="+mj-lt"/>
              <a:buAutoNum type="arabicPeriod"/>
            </a:pPr>
            <a:r>
              <a:rPr lang="en-US" sz="3200" dirty="0"/>
              <a:t>Link sequential data analysis steps together using the pipe operator to improve readability</a:t>
            </a:r>
          </a:p>
          <a:p>
            <a:pPr marL="457200" indent="-457200">
              <a:lnSpc>
                <a:spcPct val="100000"/>
              </a:lnSpc>
              <a:spcBef>
                <a:spcPts val="0"/>
              </a:spcBef>
              <a:spcAft>
                <a:spcPts val="0"/>
              </a:spcAft>
              <a:buClrTx/>
              <a:buSzTx/>
              <a:buFont typeface="+mj-lt"/>
              <a:buAutoNum type="arabicPeriod"/>
            </a:pPr>
            <a:r>
              <a:rPr lang="en-US" sz="3200" dirty="0"/>
              <a:t>Calculate a summary statistic for a variable using the summarize() function</a:t>
            </a:r>
          </a:p>
          <a:p>
            <a:pPr marL="457200" indent="-457200">
              <a:lnSpc>
                <a:spcPct val="100000"/>
              </a:lnSpc>
              <a:spcBef>
                <a:spcPts val="0"/>
              </a:spcBef>
              <a:spcAft>
                <a:spcPts val="0"/>
              </a:spcAft>
              <a:buClrTx/>
              <a:buSzTx/>
              <a:buFont typeface="+mj-lt"/>
              <a:buAutoNum type="arabicPeriod"/>
            </a:pPr>
            <a:r>
              <a:rPr lang="en-US" sz="3200" dirty="0"/>
              <a:t>Combine </a:t>
            </a:r>
            <a:r>
              <a:rPr lang="en-US" sz="3200" dirty="0" err="1"/>
              <a:t>group_by</a:t>
            </a:r>
            <a:r>
              <a:rPr lang="en-US" sz="3200" dirty="0"/>
              <a:t>() and summarize() functions to calculate summary statistics for groups of data</a:t>
            </a:r>
          </a:p>
        </p:txBody>
      </p:sp>
    </p:spTree>
    <p:extLst>
      <p:ext uri="{BB962C8B-B14F-4D97-AF65-F5344CB8AC3E}">
        <p14:creationId xmlns:p14="http://schemas.microsoft.com/office/powerpoint/2010/main" val="495534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EDD1C-6CFF-334A-AB67-99CF4CC9B7AD}"/>
              </a:ext>
            </a:extLst>
          </p:cNvPr>
          <p:cNvSpPr>
            <a:spLocks noGrp="1"/>
          </p:cNvSpPr>
          <p:nvPr>
            <p:ph type="title"/>
          </p:nvPr>
        </p:nvSpPr>
        <p:spPr/>
        <p:txBody>
          <a:bodyPr/>
          <a:lstStyle/>
          <a:p>
            <a:r>
              <a:rPr lang="en-US" dirty="0"/>
              <a:t>Typical Data Science Pipeline</a:t>
            </a:r>
          </a:p>
        </p:txBody>
      </p:sp>
      <p:sp>
        <p:nvSpPr>
          <p:cNvPr id="3" name="Content Placeholder 2">
            <a:extLst>
              <a:ext uri="{FF2B5EF4-FFF2-40B4-BE49-F238E27FC236}">
                <a16:creationId xmlns:a16="http://schemas.microsoft.com/office/drawing/2014/main" id="{5BA62B42-9E84-8B4E-A63B-3E9F05150F4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C9FB760-B370-434A-BDC7-3BB975B82E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2000109"/>
            <a:ext cx="12192000" cy="4488559"/>
          </a:xfrm>
          <a:prstGeom prst="rect">
            <a:avLst/>
          </a:prstGeom>
        </p:spPr>
      </p:pic>
      <p:sp>
        <p:nvSpPr>
          <p:cNvPr id="6" name="TextBox 5">
            <a:extLst>
              <a:ext uri="{FF2B5EF4-FFF2-40B4-BE49-F238E27FC236}">
                <a16:creationId xmlns:a16="http://schemas.microsoft.com/office/drawing/2014/main" id="{983989C4-EC14-9944-AA13-435E7CAF2ACB}"/>
              </a:ext>
            </a:extLst>
          </p:cNvPr>
          <p:cNvSpPr txBox="1"/>
          <p:nvPr/>
        </p:nvSpPr>
        <p:spPr>
          <a:xfrm>
            <a:off x="0" y="6488668"/>
            <a:ext cx="6818811" cy="369332"/>
          </a:xfrm>
          <a:prstGeom prst="rect">
            <a:avLst/>
          </a:prstGeom>
          <a:noFill/>
        </p:spPr>
        <p:txBody>
          <a:bodyPr wrap="square" rtlCol="0">
            <a:spAutoFit/>
          </a:bodyPr>
          <a:lstStyle/>
          <a:p>
            <a:r>
              <a:rPr lang="en-US" dirty="0"/>
              <a:t>From </a:t>
            </a:r>
            <a:r>
              <a:rPr lang="en-US" i="1" dirty="0"/>
              <a:t>R for Data Science</a:t>
            </a:r>
            <a:r>
              <a:rPr lang="en-US" dirty="0"/>
              <a:t> (https://r4ds.had.co.nz/</a:t>
            </a:r>
            <a:r>
              <a:rPr lang="en-US" dirty="0" err="1"/>
              <a:t>introduction.html</a:t>
            </a:r>
            <a:r>
              <a:rPr lang="en-US" dirty="0"/>
              <a:t>)</a:t>
            </a:r>
          </a:p>
        </p:txBody>
      </p:sp>
      <p:sp>
        <p:nvSpPr>
          <p:cNvPr id="4" name="Rounded Rectangle 3"/>
          <p:cNvSpPr/>
          <p:nvPr/>
        </p:nvSpPr>
        <p:spPr>
          <a:xfrm>
            <a:off x="6617327" y="3856383"/>
            <a:ext cx="1245704" cy="530087"/>
          </a:xfrm>
          <a:prstGeom prst="roundRect">
            <a:avLst/>
          </a:prstGeom>
          <a:solidFill>
            <a:srgbClr val="FFC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ounded Rectangle 6"/>
          <p:cNvSpPr/>
          <p:nvPr/>
        </p:nvSpPr>
        <p:spPr>
          <a:xfrm>
            <a:off x="4331326" y="4628543"/>
            <a:ext cx="1896753" cy="530087"/>
          </a:xfrm>
          <a:prstGeom prst="roundRect">
            <a:avLst/>
          </a:prstGeom>
          <a:solidFill>
            <a:srgbClr val="FFC0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3530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6600" dirty="0">
                <a:solidFill>
                  <a:schemeClr val="tx1">
                    <a:lumMod val="75000"/>
                    <a:lumOff val="25000"/>
                  </a:schemeClr>
                </a:solidFill>
              </a:rPr>
              <a:t>Piping Data from One Row to the Next</a:t>
            </a:r>
          </a:p>
        </p:txBody>
      </p:sp>
    </p:spTree>
    <p:extLst>
      <p:ext uri="{BB962C8B-B14F-4D97-AF65-F5344CB8AC3E}">
        <p14:creationId xmlns:p14="http://schemas.microsoft.com/office/powerpoint/2010/main" val="2581829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p:txBody>
          <a:bodyPr/>
          <a:lstStyle/>
          <a:p>
            <a:r>
              <a:rPr lang="en-US" dirty="0"/>
              <a:t>Reviewing turnaround times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p:txBody>
          <a:bodyPr>
            <a:normAutofit/>
          </a:bodyPr>
          <a:lstStyle/>
          <a:p>
            <a:r>
              <a:rPr lang="en-US" sz="3200" dirty="0"/>
              <a:t>We are interested in focusing on specific measurements and calculating turnaround times for different populations in our data set. We would like to start with our sodium values and calculate the total turnaround times for only those observations.</a:t>
            </a:r>
          </a:p>
        </p:txBody>
      </p:sp>
    </p:spTree>
    <p:extLst>
      <p:ext uri="{BB962C8B-B14F-4D97-AF65-F5344CB8AC3E}">
        <p14:creationId xmlns:p14="http://schemas.microsoft.com/office/powerpoint/2010/main" val="2640509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290" y="507875"/>
            <a:ext cx="5800460" cy="777536"/>
          </a:xfrm>
        </p:spPr>
        <p:txBody>
          <a:bodyPr/>
          <a:lstStyle/>
          <a:p>
            <a:r>
              <a:rPr lang="en-US" sz="4800" dirty="0">
                <a:solidFill>
                  <a:srgbClr val="000000"/>
                </a:solidFill>
              </a:rPr>
              <a:t>Data Analysis Steps</a:t>
            </a:r>
          </a:p>
        </p:txBody>
      </p:sp>
      <p:sp>
        <p:nvSpPr>
          <p:cNvPr id="3" name="Rectangle 2"/>
          <p:cNvSpPr/>
          <p:nvPr/>
        </p:nvSpPr>
        <p:spPr>
          <a:xfrm>
            <a:off x="522667" y="2267808"/>
            <a:ext cx="11018141" cy="1627843"/>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896134" y="3011139"/>
            <a:ext cx="11675070" cy="1015663"/>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mutate(</a:t>
            </a:r>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a:t>
            </a:r>
          </a:p>
          <a:p>
            <a:r>
              <a:rPr lang="en-US"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total_tat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verify_dt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collect_dt</a:t>
            </a:r>
            <a:r>
              <a:rPr lang="fr-FR" sz="2000" dirty="0">
                <a:solidFill>
                  <a:srgbClr val="164F86"/>
                </a:solidFill>
                <a:latin typeface="Monaco" pitchFamily="2" charset="77"/>
                <a:ea typeface="Courier New"/>
                <a:cs typeface="Consolas" panose="020B0609020204030204" pitchFamily="49" charset="0"/>
                <a:sym typeface="Courier New"/>
              </a:rPr>
              <a:t>)</a:t>
            </a:r>
          </a:p>
          <a:p>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5" name="TextBox 4"/>
          <p:cNvSpPr txBox="1"/>
          <p:nvPr/>
        </p:nvSpPr>
        <p:spPr>
          <a:xfrm>
            <a:off x="896134" y="2411268"/>
            <a:ext cx="12376110"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value == ‘sodium’)</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7" name="Rectangle 6"/>
          <p:cNvSpPr/>
          <p:nvPr/>
        </p:nvSpPr>
        <p:spPr>
          <a:xfrm>
            <a:off x="586929" y="4590192"/>
            <a:ext cx="11018141" cy="1508105"/>
          </a:xfrm>
          <a:prstGeom prst="rect">
            <a:avLst/>
          </a:prstGeom>
        </p:spPr>
        <p:txBody>
          <a:bodyPr wrap="square">
            <a:spAutoFit/>
          </a:bodyPr>
          <a:lstStyle/>
          <a:p>
            <a:r>
              <a:rPr lang="en-US" sz="3200" dirty="0">
                <a:latin typeface="Calibri" panose="020F0502020204030204" pitchFamily="34" charset="0"/>
              </a:rPr>
              <a:t>1. Filter to extract the subset of sodium</a:t>
            </a:r>
          </a:p>
          <a:p>
            <a:r>
              <a:rPr lang="en-US" sz="3200" dirty="0">
                <a:latin typeface="Calibri" panose="020F0502020204030204" pitchFamily="34" charset="0"/>
              </a:rPr>
              <a:t>2. Mutate to add a column for total turnaround time</a:t>
            </a:r>
          </a:p>
          <a:p>
            <a:endParaRPr lang="en-US" sz="2800" dirty="0">
              <a:latin typeface="Calibri" panose="020F0502020204030204" pitchFamily="34" charset="0"/>
            </a:endParaRPr>
          </a:p>
        </p:txBody>
      </p:sp>
    </p:spTree>
    <p:extLst>
      <p:ext uri="{BB962C8B-B14F-4D97-AF65-F5344CB8AC3E}">
        <p14:creationId xmlns:p14="http://schemas.microsoft.com/office/powerpoint/2010/main" val="220768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AAFD-A0F8-FE49-8BE2-892243472688}"/>
              </a:ext>
            </a:extLst>
          </p:cNvPr>
          <p:cNvSpPr>
            <a:spLocks noGrp="1"/>
          </p:cNvSpPr>
          <p:nvPr>
            <p:ph type="title"/>
          </p:nvPr>
        </p:nvSpPr>
        <p:spPr/>
        <p:txBody>
          <a:bodyPr/>
          <a:lstStyle/>
          <a:p>
            <a:r>
              <a:rPr lang="en-US" dirty="0"/>
              <a:t>Reviewing turnaround times</a:t>
            </a:r>
          </a:p>
        </p:txBody>
      </p:sp>
      <p:sp>
        <p:nvSpPr>
          <p:cNvPr id="3" name="Content Placeholder 2">
            <a:extLst>
              <a:ext uri="{FF2B5EF4-FFF2-40B4-BE49-F238E27FC236}">
                <a16:creationId xmlns:a16="http://schemas.microsoft.com/office/drawing/2014/main" id="{66F5E44A-F10F-6648-8613-2432C1A64DD8}"/>
              </a:ext>
            </a:extLst>
          </p:cNvPr>
          <p:cNvSpPr>
            <a:spLocks noGrp="1"/>
          </p:cNvSpPr>
          <p:nvPr>
            <p:ph idx="1"/>
          </p:nvPr>
        </p:nvSpPr>
        <p:spPr/>
        <p:txBody>
          <a:bodyPr>
            <a:normAutofit/>
          </a:bodyPr>
          <a:lstStyle/>
          <a:p>
            <a:r>
              <a:rPr lang="en-US" sz="3200" dirty="0"/>
              <a:t>We are interested in focusing on specific measurements and calculating turnaround times for different populations in our data set. We would like to start with our sodium values and calculate the total turnaround times for only those observations.</a:t>
            </a:r>
          </a:p>
          <a:p>
            <a:endParaRPr lang="en-US" sz="3200" dirty="0"/>
          </a:p>
          <a:p>
            <a:r>
              <a:rPr lang="en-US" sz="3200" dirty="0"/>
              <a:t>Now we want to focus on only the tests with a turnaround time of greater than 5 days.</a:t>
            </a:r>
          </a:p>
        </p:txBody>
      </p:sp>
    </p:spTree>
    <p:extLst>
      <p:ext uri="{BB962C8B-B14F-4D97-AF65-F5344CB8AC3E}">
        <p14:creationId xmlns:p14="http://schemas.microsoft.com/office/powerpoint/2010/main" val="905426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290" y="507875"/>
            <a:ext cx="5800460" cy="777536"/>
          </a:xfrm>
        </p:spPr>
        <p:txBody>
          <a:bodyPr/>
          <a:lstStyle/>
          <a:p>
            <a:r>
              <a:rPr lang="en-US" sz="4800" dirty="0">
                <a:solidFill>
                  <a:srgbClr val="000000"/>
                </a:solidFill>
              </a:rPr>
              <a:t>Data Analysis Steps</a:t>
            </a:r>
          </a:p>
        </p:txBody>
      </p:sp>
      <p:sp>
        <p:nvSpPr>
          <p:cNvPr id="3" name="Rectangle 2"/>
          <p:cNvSpPr/>
          <p:nvPr/>
        </p:nvSpPr>
        <p:spPr>
          <a:xfrm>
            <a:off x="1019523" y="2119218"/>
            <a:ext cx="10152953" cy="2322384"/>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392990" y="2862549"/>
            <a:ext cx="9779486" cy="1015663"/>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mutate(</a:t>
            </a:r>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a:t>
            </a:r>
          </a:p>
          <a:p>
            <a:r>
              <a:rPr lang="en-US" sz="2000" dirty="0">
                <a:solidFill>
                  <a:srgbClr val="164F86"/>
                </a:solidFill>
                <a:latin typeface="Monaco" pitchFamily="2" charset="77"/>
                <a:ea typeface="Courier New"/>
                <a:cs typeface="Consolas" panose="020B0609020204030204" pitchFamily="49" charset="0"/>
                <a:sym typeface="Courier New"/>
              </a:rPr>
              <a:t>			     </a:t>
            </a:r>
            <a:r>
              <a:rPr lang="fr-FR" sz="2000" dirty="0" err="1">
                <a:solidFill>
                  <a:srgbClr val="164F86"/>
                </a:solidFill>
                <a:latin typeface="Monaco" pitchFamily="2" charset="77"/>
                <a:ea typeface="Courier New"/>
                <a:cs typeface="Consolas" panose="020B0609020204030204" pitchFamily="49" charset="0"/>
                <a:sym typeface="Courier New"/>
              </a:rPr>
              <a:t>total_tat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verify_dt</a:t>
            </a:r>
            <a:r>
              <a:rPr lang="fr-FR" sz="2000" dirty="0">
                <a:solidFill>
                  <a:srgbClr val="164F86"/>
                </a:solidFill>
                <a:latin typeface="Monaco" pitchFamily="2" charset="77"/>
                <a:ea typeface="Courier New"/>
                <a:cs typeface="Consolas" panose="020B0609020204030204" pitchFamily="49" charset="0"/>
                <a:sym typeface="Courier New"/>
              </a:rPr>
              <a:t> – </a:t>
            </a:r>
            <a:r>
              <a:rPr lang="fr-FR" sz="2000" dirty="0" err="1">
                <a:solidFill>
                  <a:srgbClr val="164F86"/>
                </a:solidFill>
                <a:latin typeface="Monaco" pitchFamily="2" charset="77"/>
                <a:ea typeface="Courier New"/>
                <a:cs typeface="Consolas" panose="020B0609020204030204" pitchFamily="49" charset="0"/>
                <a:sym typeface="Courier New"/>
              </a:rPr>
              <a:t>collect_dt</a:t>
            </a:r>
            <a:r>
              <a:rPr lang="fr-FR" sz="2000" dirty="0">
                <a:solidFill>
                  <a:srgbClr val="164F86"/>
                </a:solidFill>
                <a:latin typeface="Monaco" pitchFamily="2" charset="77"/>
                <a:ea typeface="Courier New"/>
                <a:cs typeface="Consolas" panose="020B0609020204030204" pitchFamily="49" charset="0"/>
                <a:sym typeface="Courier New"/>
              </a:rPr>
              <a:t>)</a:t>
            </a:r>
          </a:p>
          <a:p>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5" name="TextBox 4"/>
          <p:cNvSpPr txBox="1"/>
          <p:nvPr/>
        </p:nvSpPr>
        <p:spPr>
          <a:xfrm>
            <a:off x="1392990" y="2262678"/>
            <a:ext cx="9859496"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a:solidFill>
                  <a:srgbClr val="164F86"/>
                </a:solidFill>
                <a:latin typeface="Monaco" pitchFamily="2" charset="77"/>
                <a:ea typeface="Courier New"/>
                <a:cs typeface="Consolas" panose="020B0609020204030204" pitchFamily="49" charset="0"/>
                <a:sym typeface="Courier New"/>
              </a:rPr>
              <a:t>chem, </a:t>
            </a:r>
            <a:r>
              <a:rPr lang="fr-FR" sz="2000" dirty="0">
                <a:solidFill>
                  <a:srgbClr val="164F86"/>
                </a:solidFill>
                <a:latin typeface="Monaco" pitchFamily="2" charset="77"/>
                <a:ea typeface="Courier New"/>
                <a:cs typeface="Consolas" panose="020B0609020204030204" pitchFamily="49" charset="0"/>
                <a:sym typeface="Courier New"/>
              </a:rPr>
              <a:t>test == ‘sodium’)</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7" name="Rectangle 6"/>
          <p:cNvSpPr/>
          <p:nvPr/>
        </p:nvSpPr>
        <p:spPr>
          <a:xfrm>
            <a:off x="586929" y="4590192"/>
            <a:ext cx="11018141" cy="2000548"/>
          </a:xfrm>
          <a:prstGeom prst="rect">
            <a:avLst/>
          </a:prstGeom>
        </p:spPr>
        <p:txBody>
          <a:bodyPr wrap="square">
            <a:spAutoFit/>
          </a:bodyPr>
          <a:lstStyle/>
          <a:p>
            <a:r>
              <a:rPr lang="en-US" sz="3200" dirty="0">
                <a:latin typeface="Calibri" panose="020F0502020204030204" pitchFamily="34" charset="0"/>
              </a:rPr>
              <a:t>1. Filter to extract the subset of sodium</a:t>
            </a:r>
          </a:p>
          <a:p>
            <a:r>
              <a:rPr lang="en-US" sz="3200" dirty="0">
                <a:latin typeface="Calibri" panose="020F0502020204030204" pitchFamily="34" charset="0"/>
              </a:rPr>
              <a:t>2. Mutate to add a column for total turnaround time</a:t>
            </a:r>
          </a:p>
          <a:p>
            <a:r>
              <a:rPr lang="en-US" sz="3200" dirty="0">
                <a:latin typeface="Calibri" panose="020F0502020204030204" pitchFamily="34" charset="0"/>
              </a:rPr>
              <a:t>3. Filter to extract only the results with a TAT of more than 5 days</a:t>
            </a:r>
          </a:p>
          <a:p>
            <a:endParaRPr lang="en-US" sz="2800" dirty="0">
              <a:latin typeface="Calibri" panose="020F0502020204030204" pitchFamily="34" charset="0"/>
            </a:endParaRPr>
          </a:p>
        </p:txBody>
      </p:sp>
      <p:sp>
        <p:nvSpPr>
          <p:cNvPr id="6" name="TextBox 5">
            <a:extLst>
              <a:ext uri="{FF2B5EF4-FFF2-40B4-BE49-F238E27FC236}">
                <a16:creationId xmlns:a16="http://schemas.microsoft.com/office/drawing/2014/main" id="{31F06DD4-95A9-982A-62FE-F73A35FB854C}"/>
              </a:ext>
            </a:extLst>
          </p:cNvPr>
          <p:cNvSpPr txBox="1"/>
          <p:nvPr/>
        </p:nvSpPr>
        <p:spPr>
          <a:xfrm>
            <a:off x="1378068" y="3858760"/>
            <a:ext cx="10045868" cy="400110"/>
          </a:xfrm>
          <a:prstGeom prst="rect">
            <a:avLst/>
          </a:prstGeom>
          <a:noFill/>
        </p:spPr>
        <p:txBody>
          <a:bodyPr wrap="square" rtlCol="0">
            <a:spAutoFit/>
          </a:bodyPr>
          <a:lstStyle/>
          <a:p>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&lt;- </a:t>
            </a:r>
            <a:r>
              <a:rPr lang="fr-FR" sz="2000" dirty="0" err="1">
                <a:solidFill>
                  <a:srgbClr val="164F86"/>
                </a:solidFill>
                <a:latin typeface="Monaco" pitchFamily="2" charset="77"/>
                <a:ea typeface="Courier New"/>
                <a:cs typeface="Consolas" panose="020B0609020204030204" pitchFamily="49" charset="0"/>
                <a:sym typeface="Courier New"/>
              </a:rPr>
              <a:t>filter</a:t>
            </a:r>
            <a:r>
              <a:rPr lang="fr-FR" sz="2000" dirty="0">
                <a:solidFill>
                  <a:srgbClr val="164F86"/>
                </a:solidFill>
                <a:latin typeface="Monaco" pitchFamily="2" charset="77"/>
                <a:ea typeface="Courier New"/>
                <a:cs typeface="Consolas" panose="020B0609020204030204" pitchFamily="49" charset="0"/>
                <a:sym typeface="Courier New"/>
              </a:rPr>
              <a:t>(</a:t>
            </a:r>
            <a:r>
              <a:rPr lang="en-US" sz="2000" dirty="0" err="1">
                <a:solidFill>
                  <a:srgbClr val="164F86"/>
                </a:solidFill>
                <a:latin typeface="Monaco" pitchFamily="2" charset="77"/>
                <a:ea typeface="Courier New"/>
                <a:cs typeface="Consolas" panose="020B0609020204030204" pitchFamily="49" charset="0"/>
                <a:sym typeface="Courier New"/>
              </a:rPr>
              <a:t>tat_outliers</a:t>
            </a:r>
            <a:r>
              <a:rPr lang="en-US" sz="2000" dirty="0">
                <a:solidFill>
                  <a:srgbClr val="164F86"/>
                </a:solidFill>
                <a:latin typeface="Monaco" pitchFamily="2" charset="77"/>
                <a:ea typeface="Courier New"/>
                <a:cs typeface="Consolas" panose="020B0609020204030204" pitchFamily="49" charset="0"/>
                <a:sym typeface="Courier New"/>
              </a:rPr>
              <a:t>, </a:t>
            </a:r>
            <a:r>
              <a:rPr lang="en-US" sz="2000" dirty="0" err="1">
                <a:solidFill>
                  <a:srgbClr val="164F86"/>
                </a:solidFill>
                <a:latin typeface="Monaco" pitchFamily="2" charset="77"/>
                <a:ea typeface="Courier New"/>
                <a:cs typeface="Consolas" panose="020B0609020204030204" pitchFamily="49" charset="0"/>
                <a:sym typeface="Courier New"/>
              </a:rPr>
              <a:t>total_tat</a:t>
            </a:r>
            <a:r>
              <a:rPr lang="en-US" sz="2000" dirty="0">
                <a:solidFill>
                  <a:srgbClr val="164F86"/>
                </a:solidFill>
                <a:latin typeface="Monaco" pitchFamily="2" charset="77"/>
                <a:ea typeface="Courier New"/>
                <a:cs typeface="Consolas" panose="020B0609020204030204" pitchFamily="49" charset="0"/>
                <a:sym typeface="Courier New"/>
              </a:rPr>
              <a:t> &gt; days(5)</a:t>
            </a:r>
            <a:r>
              <a:rPr lang="fr-FR" sz="2000" dirty="0">
                <a:solidFill>
                  <a:srgbClr val="164F86"/>
                </a:solidFill>
                <a:latin typeface="Monaco" pitchFamily="2" charset="77"/>
                <a:ea typeface="Courier New"/>
                <a:cs typeface="Consolas" panose="020B0609020204030204" pitchFamily="49" charset="0"/>
                <a:sym typeface="Courier New"/>
              </a:rPr>
              <a:t>)</a:t>
            </a:r>
            <a:endParaRPr lang="en-US" sz="2000" dirty="0">
              <a:solidFill>
                <a:srgbClr val="164F86"/>
              </a:solidFill>
              <a:latin typeface="Monaco" pitchFamily="2" charset="77"/>
              <a:ea typeface="Courier New"/>
              <a:cs typeface="Consolas" panose="020B0609020204030204" pitchFamily="49" charset="0"/>
              <a:sym typeface="Courier New"/>
            </a:endParaRPr>
          </a:p>
        </p:txBody>
      </p:sp>
      <p:sp>
        <p:nvSpPr>
          <p:cNvPr id="9" name="Google Shape;172;p20">
            <a:extLst>
              <a:ext uri="{FF2B5EF4-FFF2-40B4-BE49-F238E27FC236}">
                <a16:creationId xmlns:a16="http://schemas.microsoft.com/office/drawing/2014/main" id="{C0F0785C-54A7-0786-D730-FBDD79DCE7D9}"/>
              </a:ext>
            </a:extLst>
          </p:cNvPr>
          <p:cNvSpPr/>
          <p:nvPr/>
        </p:nvSpPr>
        <p:spPr>
          <a:xfrm>
            <a:off x="9682362" y="4180487"/>
            <a:ext cx="1843850" cy="1379977"/>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dirty="0"/>
          </a:p>
        </p:txBody>
      </p:sp>
      <p:sp>
        <p:nvSpPr>
          <p:cNvPr id="12" name="TextBox 11">
            <a:extLst>
              <a:ext uri="{FF2B5EF4-FFF2-40B4-BE49-F238E27FC236}">
                <a16:creationId xmlns:a16="http://schemas.microsoft.com/office/drawing/2014/main" id="{876ACA9F-8416-C333-0F6E-8B634A06E2A6}"/>
              </a:ext>
            </a:extLst>
          </p:cNvPr>
          <p:cNvSpPr txBox="1"/>
          <p:nvPr/>
        </p:nvSpPr>
        <p:spPr>
          <a:xfrm>
            <a:off x="9761517" y="4623638"/>
            <a:ext cx="1627832" cy="923330"/>
          </a:xfrm>
          <a:prstGeom prst="rect">
            <a:avLst/>
          </a:prstGeom>
          <a:noFill/>
        </p:spPr>
        <p:txBody>
          <a:bodyPr wrap="square" rtlCol="0">
            <a:spAutoFit/>
          </a:bodyPr>
          <a:lstStyle/>
          <a:p>
            <a:pPr algn="ctr"/>
            <a:r>
              <a:rPr lang="en-US" dirty="0">
                <a:solidFill>
                  <a:schemeClr val="bg1"/>
                </a:solidFill>
              </a:rPr>
              <a:t>Creates a duration of 5 days</a:t>
            </a:r>
          </a:p>
        </p:txBody>
      </p:sp>
    </p:spTree>
    <p:extLst>
      <p:ext uri="{BB962C8B-B14F-4D97-AF65-F5344CB8AC3E}">
        <p14:creationId xmlns:p14="http://schemas.microsoft.com/office/powerpoint/2010/main" val="1177411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4750" y="351797"/>
            <a:ext cx="7046091" cy="777536"/>
          </a:xfrm>
        </p:spPr>
        <p:txBody>
          <a:bodyPr/>
          <a:lstStyle/>
          <a:p>
            <a:r>
              <a:rPr lang="en-US" sz="4800" dirty="0">
                <a:solidFill>
                  <a:srgbClr val="000000"/>
                </a:solidFill>
              </a:rPr>
              <a:t>The Pipe Operator </a:t>
            </a:r>
            <a:r>
              <a:rPr lang="en-US" sz="4800" b="1" dirty="0">
                <a:solidFill>
                  <a:srgbClr val="000000"/>
                </a:solidFill>
              </a:rPr>
              <a:t>|&gt;</a:t>
            </a:r>
          </a:p>
        </p:txBody>
      </p:sp>
      <p:sp>
        <p:nvSpPr>
          <p:cNvPr id="3" name="U-Turn Arrow 2"/>
          <p:cNvSpPr/>
          <p:nvPr/>
        </p:nvSpPr>
        <p:spPr>
          <a:xfrm>
            <a:off x="1408008" y="1905036"/>
            <a:ext cx="4729745" cy="1261241"/>
          </a:xfrm>
          <a:prstGeom prst="uturnArrow">
            <a:avLst>
              <a:gd name="adj1" fmla="val 31667"/>
              <a:gd name="adj2" fmla="val 25000"/>
              <a:gd name="adj3" fmla="val 33333"/>
              <a:gd name="adj4" fmla="val 35417"/>
              <a:gd name="adj5" fmla="val 100000"/>
            </a:avLst>
          </a:prstGeom>
          <a:solidFill>
            <a:srgbClr val="8DB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Rectangle 3"/>
          <p:cNvSpPr/>
          <p:nvPr/>
        </p:nvSpPr>
        <p:spPr>
          <a:xfrm>
            <a:off x="3935746" y="3166276"/>
            <a:ext cx="6099747" cy="523220"/>
          </a:xfrm>
          <a:prstGeom prst="rect">
            <a:avLst/>
          </a:prstGeom>
        </p:spPr>
        <p:txBody>
          <a:bodyPr wrap="none">
            <a:spAutoFit/>
          </a:bodyPr>
          <a:lstStyle/>
          <a:p>
            <a:r>
              <a:rPr lang="en-US" sz="2800" dirty="0">
                <a:latin typeface="Consolas" panose="020B0609020204030204" pitchFamily="49" charset="0"/>
                <a:ea typeface="Courier New"/>
                <a:cs typeface="Courier New"/>
                <a:sym typeface="Courier New"/>
              </a:rPr>
              <a:t>filter(</a:t>
            </a:r>
            <a:r>
              <a:rPr lang="en-US" sz="2800" dirty="0">
                <a:solidFill>
                  <a:srgbClr val="0365C0"/>
                </a:solidFill>
                <a:latin typeface="Consolas" panose="020B0609020204030204" pitchFamily="49" charset="0"/>
                <a:ea typeface="Courier New"/>
                <a:cs typeface="Courier New"/>
                <a:sym typeface="Courier New"/>
              </a:rPr>
              <a:t>____</a:t>
            </a:r>
            <a:r>
              <a:rPr lang="en-US" sz="2800" dirty="0">
                <a:latin typeface="Consolas" panose="020B0609020204030204" pitchFamily="49" charset="0"/>
                <a:ea typeface="Courier New"/>
                <a:cs typeface="Courier New"/>
                <a:sym typeface="Courier New"/>
              </a:rPr>
              <a:t>, </a:t>
            </a:r>
            <a:r>
              <a:rPr lang="en-US" sz="2800" dirty="0">
                <a:solidFill>
                  <a:schemeClr val="accent3">
                    <a:lumMod val="75000"/>
                  </a:schemeClr>
                </a:solidFill>
                <a:latin typeface="Consolas" panose="020B0609020204030204" pitchFamily="49" charset="0"/>
                <a:ea typeface="Courier New"/>
                <a:cs typeface="Courier New"/>
                <a:sym typeface="Courier New"/>
              </a:rPr>
              <a:t>test == ‘sodium’</a:t>
            </a:r>
            <a:r>
              <a:rPr lang="en-US" sz="2800" dirty="0">
                <a:latin typeface="Consolas" panose="020B0609020204030204" pitchFamily="49" charset="0"/>
                <a:ea typeface="Courier New"/>
                <a:cs typeface="Courier New"/>
                <a:sym typeface="Courier New"/>
              </a:rPr>
              <a:t>)</a:t>
            </a:r>
            <a:endParaRPr lang="en-US" sz="2800" dirty="0"/>
          </a:p>
        </p:txBody>
      </p:sp>
      <p:sp>
        <p:nvSpPr>
          <p:cNvPr id="5" name="Rectangle 4"/>
          <p:cNvSpPr/>
          <p:nvPr/>
        </p:nvSpPr>
        <p:spPr>
          <a:xfrm>
            <a:off x="1056361" y="3169199"/>
            <a:ext cx="1039466" cy="523220"/>
          </a:xfrm>
          <a:prstGeom prst="rect">
            <a:avLst/>
          </a:prstGeom>
        </p:spPr>
        <p:txBody>
          <a:bodyPr wrap="square">
            <a:spAutoFit/>
          </a:bodyPr>
          <a:lstStyle/>
          <a:p>
            <a:r>
              <a:rPr lang="en-US" sz="2800" dirty="0">
                <a:solidFill>
                  <a:srgbClr val="0365C0"/>
                </a:solidFill>
                <a:latin typeface="Consolas" panose="020B0609020204030204" pitchFamily="49" charset="0"/>
                <a:ea typeface="Courier New"/>
                <a:cs typeface="Courier New"/>
                <a:sym typeface="Courier New"/>
              </a:rPr>
              <a:t>chem</a:t>
            </a:r>
            <a:endParaRPr lang="en-US" sz="2800" dirty="0"/>
          </a:p>
        </p:txBody>
      </p:sp>
      <p:sp>
        <p:nvSpPr>
          <p:cNvPr id="6" name="Rectangle 5"/>
          <p:cNvSpPr/>
          <p:nvPr/>
        </p:nvSpPr>
        <p:spPr>
          <a:xfrm>
            <a:off x="924910" y="1172273"/>
            <a:ext cx="10372419" cy="599289"/>
          </a:xfrm>
          <a:prstGeom prst="rect">
            <a:avLst/>
          </a:prstGeom>
        </p:spPr>
        <p:txBody>
          <a:bodyPr wrap="square">
            <a:spAutoFit/>
          </a:bodyPr>
          <a:lstStyle/>
          <a:p>
            <a:pPr algn="ctr"/>
            <a:r>
              <a:rPr lang="en-US" sz="3200" dirty="0">
                <a:latin typeface="Calibri" panose="020F0502020204030204" pitchFamily="34" charset="0"/>
              </a:rPr>
              <a:t>Passes result on left into first argument of function on right.</a:t>
            </a:r>
            <a:endParaRPr lang="en-US" sz="2800" dirty="0">
              <a:latin typeface="Calibri" panose="020F0502020204030204" pitchFamily="34" charset="0"/>
            </a:endParaRPr>
          </a:p>
        </p:txBody>
      </p:sp>
      <p:sp>
        <p:nvSpPr>
          <p:cNvPr id="7" name="Rectangle 6"/>
          <p:cNvSpPr/>
          <p:nvPr/>
        </p:nvSpPr>
        <p:spPr>
          <a:xfrm>
            <a:off x="2571750" y="4204914"/>
            <a:ext cx="6959375" cy="1480813"/>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660875" y="4410170"/>
            <a:ext cx="6099747" cy="523220"/>
          </a:xfrm>
          <a:prstGeom prst="rect">
            <a:avLst/>
          </a:prstGeom>
        </p:spPr>
        <p:txBody>
          <a:bodyPr wrap="none">
            <a:spAutoFit/>
          </a:bodyPr>
          <a:lstStyle/>
          <a:p>
            <a:r>
              <a:rPr lang="en-US" sz="2800" dirty="0">
                <a:solidFill>
                  <a:schemeClr val="tx1"/>
                </a:solidFill>
                <a:latin typeface="Consolas" panose="020B0609020204030204" pitchFamily="49" charset="0"/>
                <a:ea typeface="Courier New"/>
                <a:cs typeface="Courier New"/>
                <a:sym typeface="Courier New"/>
              </a:rPr>
              <a:t>filter(chem, test == ‘sodium’</a:t>
            </a:r>
            <a:r>
              <a:rPr lang="en-US" sz="2800" dirty="0">
                <a:latin typeface="Consolas" panose="020B0609020204030204" pitchFamily="49" charset="0"/>
                <a:ea typeface="Courier New"/>
                <a:cs typeface="Courier New"/>
                <a:sym typeface="Courier New"/>
              </a:rPr>
              <a:t>)</a:t>
            </a:r>
            <a:endParaRPr lang="en-US" sz="2800" dirty="0">
              <a:latin typeface="Consolas" panose="020B0609020204030204" pitchFamily="49" charset="0"/>
              <a:ea typeface="Courier New"/>
              <a:cs typeface="Courier New"/>
            </a:endParaRPr>
          </a:p>
        </p:txBody>
      </p:sp>
      <p:sp>
        <p:nvSpPr>
          <p:cNvPr id="9" name="Rectangle 8"/>
          <p:cNvSpPr/>
          <p:nvPr/>
        </p:nvSpPr>
        <p:spPr>
          <a:xfrm>
            <a:off x="2660875" y="4994945"/>
            <a:ext cx="6494085" cy="523220"/>
          </a:xfrm>
          <a:prstGeom prst="rect">
            <a:avLst/>
          </a:prstGeom>
        </p:spPr>
        <p:txBody>
          <a:bodyPr wrap="none">
            <a:spAutoFit/>
          </a:bodyPr>
          <a:lstStyle/>
          <a:p>
            <a:r>
              <a:rPr lang="en-US" sz="2800" dirty="0">
                <a:latin typeface="Consolas" panose="020B0609020204030204" pitchFamily="49" charset="0"/>
                <a:ea typeface="Courier New"/>
                <a:cs typeface="Courier New"/>
                <a:sym typeface="Courier New"/>
              </a:rPr>
              <a:t>c</a:t>
            </a:r>
            <a:r>
              <a:rPr lang="en-US" sz="2800" dirty="0">
                <a:solidFill>
                  <a:schemeClr val="tx1"/>
                </a:solidFill>
                <a:latin typeface="Consolas" panose="020B0609020204030204" pitchFamily="49" charset="0"/>
                <a:ea typeface="Courier New"/>
                <a:cs typeface="Courier New"/>
                <a:sym typeface="Courier New"/>
              </a:rPr>
              <a:t>hem </a:t>
            </a:r>
            <a:r>
              <a:rPr lang="en-US" sz="2800" dirty="0">
                <a:latin typeface="Consolas" panose="020B0609020204030204" pitchFamily="49" charset="0"/>
                <a:ea typeface="Courier New"/>
                <a:cs typeface="Courier New"/>
                <a:sym typeface="Courier New"/>
              </a:rPr>
              <a:t>|&gt; filter(</a:t>
            </a:r>
            <a:r>
              <a:rPr lang="en-US" sz="2800" dirty="0">
                <a:solidFill>
                  <a:schemeClr val="tx1"/>
                </a:solidFill>
                <a:latin typeface="Consolas" panose="020B0609020204030204" pitchFamily="49" charset="0"/>
                <a:ea typeface="Courier New"/>
                <a:cs typeface="Courier New"/>
                <a:sym typeface="Courier New"/>
              </a:rPr>
              <a:t>test == ‘sodium’</a:t>
            </a:r>
            <a:r>
              <a:rPr lang="en-US" sz="2800" dirty="0">
                <a:latin typeface="Consolas" panose="020B0609020204030204" pitchFamily="49" charset="0"/>
                <a:ea typeface="Courier New"/>
                <a:cs typeface="Courier New"/>
                <a:sym typeface="Courier New"/>
              </a:rPr>
              <a:t>)</a:t>
            </a:r>
            <a:endParaRPr lang="en-US" sz="2800" dirty="0">
              <a:latin typeface="Consolas" panose="020B0609020204030204" pitchFamily="49" charset="0"/>
              <a:ea typeface="Courier New"/>
              <a:cs typeface="Courier New"/>
            </a:endParaRPr>
          </a:p>
        </p:txBody>
      </p:sp>
      <p:sp>
        <p:nvSpPr>
          <p:cNvPr id="11" name="Rectangle 10"/>
          <p:cNvSpPr/>
          <p:nvPr/>
        </p:nvSpPr>
        <p:spPr>
          <a:xfrm>
            <a:off x="3073009" y="3157603"/>
            <a:ext cx="579005" cy="523220"/>
          </a:xfrm>
          <a:prstGeom prst="rect">
            <a:avLst/>
          </a:prstGeom>
        </p:spPr>
        <p:txBody>
          <a:bodyPr wrap="none">
            <a:spAutoFit/>
          </a:bodyPr>
          <a:lstStyle/>
          <a:p>
            <a:r>
              <a:rPr lang="en-US" sz="2800" b="1" dirty="0">
                <a:latin typeface="Consolas" panose="020B0609020204030204" pitchFamily="49" charset="0"/>
                <a:ea typeface="Courier New"/>
                <a:cs typeface="Courier New"/>
              </a:rPr>
              <a:t>|&gt;</a:t>
            </a:r>
          </a:p>
        </p:txBody>
      </p:sp>
    </p:spTree>
    <p:extLst>
      <p:ext uri="{BB962C8B-B14F-4D97-AF65-F5344CB8AC3E}">
        <p14:creationId xmlns:p14="http://schemas.microsoft.com/office/powerpoint/2010/main" val="784428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9290" y="507875"/>
            <a:ext cx="5813160" cy="777536"/>
          </a:xfrm>
        </p:spPr>
        <p:txBody>
          <a:bodyPr/>
          <a:lstStyle/>
          <a:p>
            <a:r>
              <a:rPr lang="en-US" sz="4800" dirty="0">
                <a:solidFill>
                  <a:srgbClr val="000000"/>
                </a:solidFill>
              </a:rPr>
              <a:t>Data Analysis Steps</a:t>
            </a:r>
          </a:p>
        </p:txBody>
      </p:sp>
      <p:sp>
        <p:nvSpPr>
          <p:cNvPr id="3" name="Rectangle 2"/>
          <p:cNvSpPr/>
          <p:nvPr/>
        </p:nvSpPr>
        <p:spPr>
          <a:xfrm>
            <a:off x="599799" y="2604169"/>
            <a:ext cx="11018141" cy="2198137"/>
          </a:xfrm>
          <a:prstGeom prst="rect">
            <a:avLst/>
          </a:prstGeom>
          <a:solidFill>
            <a:srgbClr val="F0F2F4"/>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04870" y="2655830"/>
            <a:ext cx="10782260" cy="1815882"/>
          </a:xfrm>
          <a:prstGeom prst="rect">
            <a:avLst/>
          </a:prstGeom>
          <a:noFill/>
        </p:spPr>
        <p:txBody>
          <a:bodyPr wrap="square" rtlCol="0">
            <a:spAutoFit/>
          </a:bodyPr>
          <a:lstStyle/>
          <a:p>
            <a:r>
              <a:rPr lang="en-US" sz="2800" dirty="0" err="1">
                <a:solidFill>
                  <a:srgbClr val="164F86"/>
                </a:solidFill>
                <a:latin typeface="Consolas" panose="020B0609020204030204" pitchFamily="49" charset="0"/>
                <a:ea typeface="Courier New"/>
                <a:cs typeface="Consolas" panose="020B0609020204030204" pitchFamily="49" charset="0"/>
                <a:sym typeface="Courier New"/>
              </a:rPr>
              <a:t>tat_outliers</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&lt;- chem |&gt; </a:t>
            </a:r>
          </a:p>
          <a:p>
            <a:r>
              <a:rPr lang="en-US" sz="2800" dirty="0">
                <a:solidFill>
                  <a:srgbClr val="164F86"/>
                </a:solidFill>
                <a:latin typeface="Consolas" panose="020B0609020204030204" pitchFamily="49" charset="0"/>
                <a:ea typeface="Courier New"/>
                <a:cs typeface="Consolas" panose="020B0609020204030204" pitchFamily="49" charset="0"/>
                <a:sym typeface="Courier New"/>
              </a:rPr>
              <a:t>	filter(test == ‘sodium’) |&gt; </a:t>
            </a:r>
          </a:p>
          <a:p>
            <a:r>
              <a:rPr lang="en-US" sz="2800" dirty="0">
                <a:solidFill>
                  <a:srgbClr val="164F86"/>
                </a:solidFill>
                <a:latin typeface="Consolas" panose="020B0609020204030204" pitchFamily="49" charset="0"/>
                <a:ea typeface="Courier New"/>
                <a:cs typeface="Consolas" panose="020B0609020204030204" pitchFamily="49" charset="0"/>
                <a:sym typeface="Courier New"/>
              </a:rPr>
              <a:t>	mutate(</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total_tat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 </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verify_dt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 </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collect_dt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|&gt;   </a:t>
            </a:r>
          </a:p>
          <a:p>
            <a:r>
              <a:rPr lang="en-US" sz="2800" dirty="0">
                <a:solidFill>
                  <a:srgbClr val="164F86"/>
                </a:solidFill>
                <a:latin typeface="Consolas" panose="020B0609020204030204" pitchFamily="49" charset="0"/>
                <a:ea typeface="Courier New"/>
                <a:cs typeface="Consolas" panose="020B0609020204030204" pitchFamily="49" charset="0"/>
                <a:sym typeface="Courier New"/>
              </a:rPr>
              <a:t>	filter(</a:t>
            </a:r>
            <a:r>
              <a:rPr lang="en-US" sz="2800" dirty="0" err="1">
                <a:solidFill>
                  <a:srgbClr val="164F86"/>
                </a:solidFill>
                <a:latin typeface="Consolas" panose="020B0609020204030204" pitchFamily="49" charset="0"/>
                <a:ea typeface="Courier New"/>
                <a:cs typeface="Consolas" panose="020B0609020204030204" pitchFamily="49" charset="0"/>
                <a:sym typeface="Courier New"/>
              </a:rPr>
              <a:t>total_tat</a:t>
            </a:r>
            <a:r>
              <a:rPr lang="en-US" sz="2800" dirty="0">
                <a:solidFill>
                  <a:srgbClr val="164F86"/>
                </a:solidFill>
                <a:latin typeface="Consolas" panose="020B0609020204030204" pitchFamily="49" charset="0"/>
                <a:ea typeface="Courier New"/>
                <a:cs typeface="Consolas" panose="020B0609020204030204" pitchFamily="49" charset="0"/>
                <a:sym typeface="Courier New"/>
              </a:rPr>
              <a:t> &gt; days(5))</a:t>
            </a:r>
          </a:p>
        </p:txBody>
      </p:sp>
      <p:sp>
        <p:nvSpPr>
          <p:cNvPr id="7" name="Rectangle 6">
            <a:extLst>
              <a:ext uri="{FF2B5EF4-FFF2-40B4-BE49-F238E27FC236}">
                <a16:creationId xmlns:a16="http://schemas.microsoft.com/office/drawing/2014/main" id="{BB9BE619-5752-434B-923C-3017372223D7}"/>
              </a:ext>
            </a:extLst>
          </p:cNvPr>
          <p:cNvSpPr/>
          <p:nvPr/>
        </p:nvSpPr>
        <p:spPr>
          <a:xfrm>
            <a:off x="535537" y="4990336"/>
            <a:ext cx="11018141" cy="1569660"/>
          </a:xfrm>
          <a:prstGeom prst="rect">
            <a:avLst/>
          </a:prstGeom>
        </p:spPr>
        <p:txBody>
          <a:bodyPr wrap="square">
            <a:spAutoFit/>
          </a:bodyPr>
          <a:lstStyle/>
          <a:p>
            <a:r>
              <a:rPr lang="en-US" sz="3200" dirty="0">
                <a:latin typeface="Calibri" panose="020F0502020204030204" pitchFamily="34" charset="0"/>
              </a:rPr>
              <a:t>1. Filter to extract the subset of sodium</a:t>
            </a:r>
          </a:p>
          <a:p>
            <a:r>
              <a:rPr lang="en-US" sz="3200" dirty="0">
                <a:latin typeface="Calibri" panose="020F0502020204030204" pitchFamily="34" charset="0"/>
              </a:rPr>
              <a:t>2. Mutate to add a column for total turnaround time</a:t>
            </a:r>
          </a:p>
          <a:p>
            <a:r>
              <a:rPr lang="en-US" sz="3200" dirty="0">
                <a:latin typeface="Calibri" panose="020F0502020204030204" pitchFamily="34" charset="0"/>
              </a:rPr>
              <a:t>3. Filter to extract only the outpatient results</a:t>
            </a:r>
          </a:p>
        </p:txBody>
      </p:sp>
      <p:sp>
        <p:nvSpPr>
          <p:cNvPr id="5" name="Rounded Rectangular Callout 2">
            <a:extLst>
              <a:ext uri="{FF2B5EF4-FFF2-40B4-BE49-F238E27FC236}">
                <a16:creationId xmlns:a16="http://schemas.microsoft.com/office/drawing/2014/main" id="{5CEE95BD-71AF-B033-B3B1-E12BC2A88912}"/>
              </a:ext>
            </a:extLst>
          </p:cNvPr>
          <p:cNvSpPr/>
          <p:nvPr/>
        </p:nvSpPr>
        <p:spPr>
          <a:xfrm rot="10800000" flipH="1">
            <a:off x="3984979" y="1373425"/>
            <a:ext cx="2324381" cy="139324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Google Shape;324;p34">
            <a:extLst>
              <a:ext uri="{FF2B5EF4-FFF2-40B4-BE49-F238E27FC236}">
                <a16:creationId xmlns:a16="http://schemas.microsoft.com/office/drawing/2014/main" id="{6E6A7A01-F355-631E-5886-FA5D54075981}"/>
              </a:ext>
            </a:extLst>
          </p:cNvPr>
          <p:cNvSpPr txBox="1"/>
          <p:nvPr/>
        </p:nvSpPr>
        <p:spPr>
          <a:xfrm>
            <a:off x="3822005" y="1531001"/>
            <a:ext cx="2650327" cy="457796"/>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original data frame</a:t>
            </a:r>
            <a:endParaRPr sz="2062" dirty="0">
              <a:solidFill>
                <a:schemeClr val="bg1"/>
              </a:solidFill>
              <a:latin typeface="Calibri"/>
              <a:ea typeface="Calibri"/>
              <a:cs typeface="Calibri"/>
              <a:sym typeface="Calibri"/>
            </a:endParaRPr>
          </a:p>
        </p:txBody>
      </p:sp>
      <p:sp>
        <p:nvSpPr>
          <p:cNvPr id="9" name="Rounded Rectangular Callout 2">
            <a:extLst>
              <a:ext uri="{FF2B5EF4-FFF2-40B4-BE49-F238E27FC236}">
                <a16:creationId xmlns:a16="http://schemas.microsoft.com/office/drawing/2014/main" id="{6EFB7EAE-B886-F6A5-057F-8FAFDD4A4D1E}"/>
              </a:ext>
            </a:extLst>
          </p:cNvPr>
          <p:cNvSpPr/>
          <p:nvPr/>
        </p:nvSpPr>
        <p:spPr>
          <a:xfrm rot="10800000" flipH="1">
            <a:off x="6802240" y="1746757"/>
            <a:ext cx="2324381" cy="154841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accent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Google Shape;324;p34">
            <a:extLst>
              <a:ext uri="{FF2B5EF4-FFF2-40B4-BE49-F238E27FC236}">
                <a16:creationId xmlns:a16="http://schemas.microsoft.com/office/drawing/2014/main" id="{33F22A8D-9674-46C0-C55E-84C43ECB7BDC}"/>
              </a:ext>
            </a:extLst>
          </p:cNvPr>
          <p:cNvSpPr txBox="1"/>
          <p:nvPr/>
        </p:nvSpPr>
        <p:spPr>
          <a:xfrm>
            <a:off x="7037314" y="1760310"/>
            <a:ext cx="1854232" cy="457796"/>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one analysis step per line</a:t>
            </a:r>
            <a:endParaRPr sz="2062" dirty="0">
              <a:solidFill>
                <a:schemeClr val="bg1"/>
              </a:solidFill>
              <a:latin typeface="Calibri"/>
              <a:ea typeface="Calibri"/>
              <a:cs typeface="Calibri"/>
              <a:sym typeface="Calibri"/>
            </a:endParaRPr>
          </a:p>
        </p:txBody>
      </p:sp>
      <p:sp>
        <p:nvSpPr>
          <p:cNvPr id="11" name="Rounded Rectangular Callout 2">
            <a:extLst>
              <a:ext uri="{FF2B5EF4-FFF2-40B4-BE49-F238E27FC236}">
                <a16:creationId xmlns:a16="http://schemas.microsoft.com/office/drawing/2014/main" id="{8AF0A44D-7F2C-9314-6BA7-F43D718C8516}"/>
              </a:ext>
            </a:extLst>
          </p:cNvPr>
          <p:cNvSpPr/>
          <p:nvPr/>
        </p:nvSpPr>
        <p:spPr>
          <a:xfrm rot="10800000">
            <a:off x="599798" y="1373425"/>
            <a:ext cx="2056051" cy="1393244"/>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rgbClr val="92B573"/>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Google Shape;324;p34">
            <a:extLst>
              <a:ext uri="{FF2B5EF4-FFF2-40B4-BE49-F238E27FC236}">
                <a16:creationId xmlns:a16="http://schemas.microsoft.com/office/drawing/2014/main" id="{2367A9E4-C2D2-C1FB-D3C2-83B6E7EBEC9C}"/>
              </a:ext>
            </a:extLst>
          </p:cNvPr>
          <p:cNvSpPr txBox="1"/>
          <p:nvPr/>
        </p:nvSpPr>
        <p:spPr>
          <a:xfrm>
            <a:off x="299306" y="1531001"/>
            <a:ext cx="2650327" cy="457796"/>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new data frame</a:t>
            </a:r>
            <a:endParaRPr sz="2062"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260780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animBg="1"/>
      <p:bldP spid="10" grpId="0"/>
      <p:bldP spid="11"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37970" y="990825"/>
            <a:ext cx="6249002" cy="777536"/>
          </a:xfrm>
        </p:spPr>
        <p:txBody>
          <a:bodyPr>
            <a:normAutofit fontScale="90000"/>
          </a:bodyPr>
          <a:lstStyle/>
          <a:p>
            <a:r>
              <a:rPr lang="en-US" dirty="0"/>
              <a:t>Shortcut to type |&gt;</a:t>
            </a:r>
            <a:br>
              <a:rPr lang="en-US" dirty="0"/>
            </a:br>
            <a:endParaRPr lang="en-US" dirty="0"/>
          </a:p>
        </p:txBody>
      </p:sp>
      <p:sp>
        <p:nvSpPr>
          <p:cNvPr id="3"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4" name="Picture 3"/>
          <p:cNvPicPr>
            <a:picLocks noChangeAspect="1"/>
          </p:cNvPicPr>
          <p:nvPr/>
        </p:nvPicPr>
        <p:blipFill>
          <a:blip r:embed="rId4"/>
          <a:stretch>
            <a:fillRect/>
          </a:stretch>
        </p:blipFill>
        <p:spPr>
          <a:xfrm>
            <a:off x="1166648" y="2359572"/>
            <a:ext cx="10457793" cy="2614448"/>
          </a:xfrm>
          <a:prstGeom prst="rect">
            <a:avLst/>
          </a:prstGeom>
        </p:spPr>
      </p:pic>
      <p:sp>
        <p:nvSpPr>
          <p:cNvPr id="5" name="TextBox 4">
            <a:extLst>
              <a:ext uri="{FF2B5EF4-FFF2-40B4-BE49-F238E27FC236}">
                <a16:creationId xmlns:a16="http://schemas.microsoft.com/office/drawing/2014/main" id="{A2F38ED8-5108-84E1-C092-2145A53B53C5}"/>
              </a:ext>
            </a:extLst>
          </p:cNvPr>
          <p:cNvSpPr txBox="1"/>
          <p:nvPr/>
        </p:nvSpPr>
        <p:spPr>
          <a:xfrm>
            <a:off x="274320" y="5715000"/>
            <a:ext cx="9544050" cy="1077218"/>
          </a:xfrm>
          <a:prstGeom prst="rect">
            <a:avLst/>
          </a:prstGeom>
          <a:noFill/>
        </p:spPr>
        <p:txBody>
          <a:bodyPr wrap="square" rtlCol="0">
            <a:spAutoFit/>
          </a:bodyPr>
          <a:lstStyle/>
          <a:p>
            <a:r>
              <a:rPr lang="en-US" sz="3200" dirty="0"/>
              <a:t>Note: The previous version of the pipe was </a:t>
            </a:r>
            <a:r>
              <a:rPr lang="en-US" sz="3200" b="1" dirty="0"/>
              <a:t>%&gt;%</a:t>
            </a:r>
            <a:r>
              <a:rPr lang="en-US" sz="3200" dirty="0"/>
              <a:t> which can be used interchangeably with </a:t>
            </a:r>
            <a:r>
              <a:rPr lang="en-US" sz="3200" b="1" dirty="0"/>
              <a:t>|&gt;</a:t>
            </a:r>
          </a:p>
        </p:txBody>
      </p:sp>
    </p:spTree>
    <p:extLst>
      <p:ext uri="{BB962C8B-B14F-4D97-AF65-F5344CB8AC3E}">
        <p14:creationId xmlns:p14="http://schemas.microsoft.com/office/powerpoint/2010/main" val="2408890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2D2291-3F5C-65BC-7B7B-84871BABE2E8}"/>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13</a:t>
            </a:fld>
            <a:endParaRPr lang="en-US">
              <a:solidFill>
                <a:prstClr val="black">
                  <a:lumMod val="95000"/>
                  <a:lumOff val="5000"/>
                </a:prstClr>
              </a:solidFill>
            </a:endParaRPr>
          </a:p>
        </p:txBody>
      </p:sp>
      <p:sp>
        <p:nvSpPr>
          <p:cNvPr id="3" name="Title 2">
            <a:extLst>
              <a:ext uri="{FF2B5EF4-FFF2-40B4-BE49-F238E27FC236}">
                <a16:creationId xmlns:a16="http://schemas.microsoft.com/office/drawing/2014/main" id="{F9284F02-4FC4-1E7A-66B3-7A3C768F1131}"/>
              </a:ext>
            </a:extLst>
          </p:cNvPr>
          <p:cNvSpPr>
            <a:spLocks noGrp="1"/>
          </p:cNvSpPr>
          <p:nvPr>
            <p:ph type="title"/>
          </p:nvPr>
        </p:nvSpPr>
        <p:spPr/>
        <p:txBody>
          <a:bodyPr/>
          <a:lstStyle/>
          <a:p>
            <a:r>
              <a:rPr lang="en-US" dirty="0"/>
              <a:t>Your Turn #1</a:t>
            </a:r>
          </a:p>
        </p:txBody>
      </p:sp>
      <p:sp>
        <p:nvSpPr>
          <p:cNvPr id="4" name="Text Placeholder 3">
            <a:extLst>
              <a:ext uri="{FF2B5EF4-FFF2-40B4-BE49-F238E27FC236}">
                <a16:creationId xmlns:a16="http://schemas.microsoft.com/office/drawing/2014/main" id="{A1F35CEA-AED0-024F-1381-6026DAEF0D96}"/>
              </a:ext>
            </a:extLst>
          </p:cNvPr>
          <p:cNvSpPr>
            <a:spLocks noGrp="1"/>
          </p:cNvSpPr>
          <p:nvPr>
            <p:ph type="body" sz="quarter" idx="13"/>
          </p:nvPr>
        </p:nvSpPr>
        <p:spPr>
          <a:xfrm>
            <a:off x="1024128" y="2238375"/>
            <a:ext cx="10360152" cy="3682365"/>
          </a:xfrm>
        </p:spPr>
        <p:txBody>
          <a:bodyPr>
            <a:normAutofit fontScale="92500"/>
          </a:bodyPr>
          <a:lstStyle/>
          <a:p>
            <a:pPr marL="914400" indent="-914400">
              <a:buFont typeface="+mj-lt"/>
              <a:buAutoNum type="arabicPeriod"/>
            </a:pPr>
            <a:r>
              <a:rPr lang="en-US" dirty="0"/>
              <a:t>Open </a:t>
            </a:r>
            <a:r>
              <a:rPr lang="en-US"/>
              <a:t>“05 – </a:t>
            </a:r>
            <a:r>
              <a:rPr lang="en-US" dirty="0"/>
              <a:t>Group and </a:t>
            </a:r>
            <a:r>
              <a:rPr lang="en-US" dirty="0" err="1"/>
              <a:t>Summarize.qmd</a:t>
            </a:r>
            <a:r>
              <a:rPr lang="en-US" dirty="0"/>
              <a:t>”</a:t>
            </a:r>
          </a:p>
          <a:p>
            <a:pPr marL="914400" indent="-914400">
              <a:buFont typeface="+mj-lt"/>
              <a:buAutoNum type="arabicPeriod"/>
            </a:pPr>
            <a:r>
              <a:rPr lang="en-US" dirty="0"/>
              <a:t>Start with the Setup Code Chunk section and work through the Sequencing Analysis Steps section</a:t>
            </a:r>
          </a:p>
          <a:p>
            <a:pPr marL="914400" indent="-914400">
              <a:buFont typeface="+mj-lt"/>
              <a:buAutoNum type="arabicPeriod"/>
            </a:pPr>
            <a:r>
              <a:rPr lang="en-US" dirty="0"/>
              <a:t>Sticky up when done</a:t>
            </a:r>
          </a:p>
        </p:txBody>
      </p:sp>
    </p:spTree>
    <p:extLst>
      <p:ext uri="{BB962C8B-B14F-4D97-AF65-F5344CB8AC3E}">
        <p14:creationId xmlns:p14="http://schemas.microsoft.com/office/powerpoint/2010/main" val="1642417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dirty="0"/>
              <a:t>Summarize the data set</a:t>
            </a:r>
          </a:p>
        </p:txBody>
      </p:sp>
    </p:spTree>
    <p:extLst>
      <p:ext uri="{BB962C8B-B14F-4D97-AF65-F5344CB8AC3E}">
        <p14:creationId xmlns:p14="http://schemas.microsoft.com/office/powerpoint/2010/main" val="859458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EE7AA-CC51-CE40-9585-24244F73C743}"/>
              </a:ext>
            </a:extLst>
          </p:cNvPr>
          <p:cNvSpPr>
            <a:spLocks noGrp="1"/>
          </p:cNvSpPr>
          <p:nvPr>
            <p:ph type="title"/>
          </p:nvPr>
        </p:nvSpPr>
        <p:spPr/>
        <p:txBody>
          <a:bodyPr/>
          <a:lstStyle/>
          <a:p>
            <a:r>
              <a:rPr lang="en-US" dirty="0"/>
              <a:t>Q: What is the average sodium value?</a:t>
            </a:r>
          </a:p>
        </p:txBody>
      </p:sp>
      <p:pic>
        <p:nvPicPr>
          <p:cNvPr id="4" name="Picture 3" descr="A picture containing diagram, screenshot, pixel&#10;&#10;Description automatically generated">
            <a:extLst>
              <a:ext uri="{FF2B5EF4-FFF2-40B4-BE49-F238E27FC236}">
                <a16:creationId xmlns:a16="http://schemas.microsoft.com/office/drawing/2014/main" id="{BE04AF1C-60D9-5770-028B-13AD05802590}"/>
              </a:ext>
            </a:extLst>
          </p:cNvPr>
          <p:cNvPicPr>
            <a:picLocks noChangeAspect="1"/>
          </p:cNvPicPr>
          <p:nvPr/>
        </p:nvPicPr>
        <p:blipFill>
          <a:blip r:embed="rId3"/>
          <a:stretch>
            <a:fillRect/>
          </a:stretch>
        </p:blipFill>
        <p:spPr>
          <a:xfrm>
            <a:off x="2971800" y="1837944"/>
            <a:ext cx="6248400" cy="4998720"/>
          </a:xfrm>
          <a:prstGeom prst="rect">
            <a:avLst/>
          </a:prstGeom>
        </p:spPr>
      </p:pic>
    </p:spTree>
    <p:extLst>
      <p:ext uri="{BB962C8B-B14F-4D97-AF65-F5344CB8AC3E}">
        <p14:creationId xmlns:p14="http://schemas.microsoft.com/office/powerpoint/2010/main" val="2729817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6" name="Google Shape;296;p32"/>
          <p:cNvSpPr txBox="1"/>
          <p:nvPr/>
        </p:nvSpPr>
        <p:spPr>
          <a:xfrm>
            <a:off x="1758718" y="1950720"/>
            <a:ext cx="6159054" cy="890808"/>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dirty="0">
                <a:latin typeface="Calibri"/>
                <a:ea typeface="Calibri"/>
                <a:cs typeface="Calibri"/>
                <a:sym typeface="Calibri"/>
              </a:rPr>
              <a:t>Make summaries of your data</a:t>
            </a:r>
            <a:endParaRPr sz="3200" dirty="0">
              <a:latin typeface="Calibri"/>
              <a:ea typeface="Calibri"/>
              <a:cs typeface="Calibri"/>
              <a:sym typeface="Calibri"/>
            </a:endParaRP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pic>
        <p:nvPicPr>
          <p:cNvPr id="6" name="Picture 5"/>
          <p:cNvPicPr>
            <a:picLocks noChangeAspect="1"/>
          </p:cNvPicPr>
          <p:nvPr/>
        </p:nvPicPr>
        <p:blipFill>
          <a:blip r:embed="rId4"/>
          <a:stretch>
            <a:fillRect/>
          </a:stretch>
        </p:blipFill>
        <p:spPr>
          <a:xfrm>
            <a:off x="2724340" y="2673888"/>
            <a:ext cx="5439827" cy="2066804"/>
          </a:xfrm>
          <a:prstGeom prst="rect">
            <a:avLst/>
          </a:prstGeom>
        </p:spPr>
      </p:pic>
      <p:sp>
        <p:nvSpPr>
          <p:cNvPr id="2" name="Rounded Rectangle 1"/>
          <p:cNvSpPr/>
          <p:nvPr/>
        </p:nvSpPr>
        <p:spPr>
          <a:xfrm>
            <a:off x="4765040" y="2987040"/>
            <a:ext cx="1010920" cy="1753652"/>
          </a:xfrm>
          <a:prstGeom prst="roundRect">
            <a:avLst/>
          </a:pr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986757" y="750622"/>
            <a:ext cx="2830647" cy="923330"/>
          </a:xfrm>
          <a:prstGeom prst="rect">
            <a:avLst/>
          </a:prstGeom>
          <a:noFill/>
        </p:spPr>
        <p:txBody>
          <a:bodyPr wrap="none" rtlCol="0">
            <a:spAutoFit/>
          </a:bodyPr>
          <a:lstStyle/>
          <a:p>
            <a:r>
              <a:rPr lang="en-US" sz="5400" dirty="0">
                <a:latin typeface="+mj-lt"/>
                <a:sym typeface="Calibri"/>
              </a:rPr>
              <a:t>summarize</a:t>
            </a:r>
            <a:r>
              <a:rPr lang="en-US" sz="5400" dirty="0">
                <a:sym typeface="Calibri"/>
              </a:rPr>
              <a:t>()</a:t>
            </a:r>
            <a:endParaRPr lang="en-US" dirty="0"/>
          </a:p>
        </p:txBody>
      </p:sp>
      <p:sp>
        <p:nvSpPr>
          <p:cNvPr id="4" name="Rectangle 3">
            <a:extLst>
              <a:ext uri="{FF2B5EF4-FFF2-40B4-BE49-F238E27FC236}">
                <a16:creationId xmlns:a16="http://schemas.microsoft.com/office/drawing/2014/main" id="{EA493C65-B51F-E941-8996-74CCA516164B}"/>
              </a:ext>
            </a:extLst>
          </p:cNvPr>
          <p:cNvSpPr/>
          <p:nvPr/>
        </p:nvSpPr>
        <p:spPr>
          <a:xfrm>
            <a:off x="7212330" y="2673888"/>
            <a:ext cx="705442" cy="7093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76851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847205" y="2375374"/>
            <a:ext cx="10762593" cy="149797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296" name="Google Shape;296;p32"/>
          <p:cNvSpPr txBox="1"/>
          <p:nvPr/>
        </p:nvSpPr>
        <p:spPr>
          <a:xfrm>
            <a:off x="847205" y="1882660"/>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4" name="Rectangle 13"/>
          <p:cNvSpPr/>
          <p:nvPr/>
        </p:nvSpPr>
        <p:spPr>
          <a:xfrm>
            <a:off x="1535224" y="2433717"/>
            <a:ext cx="10074573" cy="1200329"/>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dataframe</a:t>
            </a:r>
            <a:r>
              <a:rPr lang="en-US" sz="3200" dirty="0">
                <a:latin typeface="Consolas" panose="020B0609020204030204" pitchFamily="49" charset="0"/>
                <a:ea typeface="Courier New"/>
                <a:cs typeface="Consolas" panose="020B0609020204030204" pitchFamily="49" charset="0"/>
                <a:sym typeface="Courier New"/>
              </a:rPr>
              <a:t> |&gt;</a:t>
            </a:r>
          </a:p>
          <a:p>
            <a:r>
              <a:rPr lang="en-US" sz="3200" dirty="0">
                <a:latin typeface="Consolas" panose="020B0609020204030204" pitchFamily="49" charset="0"/>
                <a:ea typeface="Courier New"/>
                <a:cs typeface="Consolas" panose="020B0609020204030204" pitchFamily="49" charset="0"/>
                <a:sym typeface="Courier New"/>
              </a:rPr>
              <a:t>	summarize(</a:t>
            </a:r>
            <a:r>
              <a:rPr lang="en-US" sz="3200" dirty="0" err="1">
                <a:solidFill>
                  <a:schemeClr val="accent2">
                    <a:lumMod val="60000"/>
                    <a:lumOff val="40000"/>
                  </a:schemeClr>
                </a:solidFill>
                <a:latin typeface="Consolas" panose="020B0609020204030204" pitchFamily="49" charset="0"/>
                <a:ea typeface="Courier New"/>
                <a:cs typeface="Consolas" panose="020B0609020204030204" pitchFamily="49" charset="0"/>
                <a:sym typeface="Courier New"/>
              </a:rPr>
              <a:t>new_variable</a:t>
            </a:r>
            <a:r>
              <a:rPr lang="en-US" sz="3200" dirty="0">
                <a:solidFill>
                  <a:schemeClr val="accent2">
                    <a:lumMod val="60000"/>
                    <a:lumOff val="40000"/>
                  </a:schemeClr>
                </a:solidFill>
                <a:latin typeface="Consolas" panose="020B0609020204030204" pitchFamily="49" charset="0"/>
                <a:ea typeface="Courier New"/>
                <a:cs typeface="Consolas" panose="020B0609020204030204" pitchFamily="49" charset="0"/>
                <a:sym typeface="Courier New"/>
              </a:rPr>
              <a:t> </a:t>
            </a:r>
            <a:r>
              <a:rPr lang="en-US" sz="4000" b="1" dirty="0">
                <a:latin typeface="Consolas" panose="020B0609020204030204" pitchFamily="49" charset="0"/>
                <a:ea typeface="Courier New"/>
                <a:cs typeface="Consolas" panose="020B0609020204030204" pitchFamily="49" charset="0"/>
                <a:sym typeface="Courier New"/>
              </a:rPr>
              <a:t>=</a:t>
            </a:r>
            <a:r>
              <a:rPr lang="en-US" sz="3200" dirty="0">
                <a:latin typeface="Consolas" panose="020B0609020204030204" pitchFamily="49" charset="0"/>
                <a:ea typeface="Courier New"/>
                <a:cs typeface="Consolas" panose="020B0609020204030204" pitchFamily="49" charset="0"/>
                <a:sym typeface="Courier New"/>
              </a:rPr>
              <a:t> </a:t>
            </a:r>
            <a:r>
              <a:rPr lang="en-US" sz="3200" dirty="0">
                <a:solidFill>
                  <a:srgbClr val="D3908F"/>
                </a:solidFill>
                <a:latin typeface="Consolas" panose="020B0609020204030204" pitchFamily="49" charset="0"/>
                <a:ea typeface="Courier New"/>
                <a:cs typeface="Consolas" panose="020B0609020204030204" pitchFamily="49" charset="0"/>
                <a:sym typeface="Courier New"/>
              </a:rPr>
              <a:t>calculation</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9" name="Google Shape;137;p17"/>
          <p:cNvSpPr/>
          <p:nvPr/>
        </p:nvSpPr>
        <p:spPr>
          <a:xfrm>
            <a:off x="2698230" y="4168817"/>
            <a:ext cx="2530995" cy="1557835"/>
          </a:xfrm>
          <a:prstGeom prst="wedgeRoundRectCallout">
            <a:avLst>
              <a:gd name="adj1" fmla="val 62427"/>
              <a:gd name="adj2" fmla="val -92068"/>
              <a:gd name="adj3" fmla="val 16667"/>
            </a:avLst>
          </a:prstGeom>
          <a:solidFill>
            <a:schemeClr val="accent2">
              <a:lumMod val="60000"/>
              <a:lumOff val="40000"/>
            </a:schemeClr>
          </a:solidFill>
          <a:ln>
            <a:noFill/>
          </a:ln>
        </p:spPr>
        <p:txBody>
          <a:bodyPr spcFirstLastPara="1" wrap="square" lIns="0" tIns="0" rIns="0" bIns="0" anchor="t" anchorCtr="0">
            <a:noAutofit/>
          </a:bodyPr>
          <a:lstStyle/>
          <a:p>
            <a:endParaRPr sz="964"/>
          </a:p>
        </p:txBody>
      </p:sp>
      <p:sp>
        <p:nvSpPr>
          <p:cNvPr id="20" name="Google Shape;138;p17"/>
          <p:cNvSpPr txBox="1"/>
          <p:nvPr/>
        </p:nvSpPr>
        <p:spPr>
          <a:xfrm>
            <a:off x="2796007" y="4432660"/>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name for new variable</a:t>
            </a:r>
            <a:endParaRPr sz="2800" dirty="0">
              <a:latin typeface="Trebuchet MS"/>
              <a:ea typeface="Trebuchet MS"/>
              <a:cs typeface="Trebuchet MS"/>
              <a:sym typeface="Trebuchet MS"/>
            </a:endParaRPr>
          </a:p>
        </p:txBody>
      </p:sp>
      <p:sp>
        <p:nvSpPr>
          <p:cNvPr id="21" name="Google Shape;172;p20"/>
          <p:cNvSpPr/>
          <p:nvPr/>
        </p:nvSpPr>
        <p:spPr>
          <a:xfrm>
            <a:off x="9100228" y="3560242"/>
            <a:ext cx="1977347"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22" name="Google Shape;173;p20"/>
          <p:cNvSpPr txBox="1"/>
          <p:nvPr/>
        </p:nvSpPr>
        <p:spPr>
          <a:xfrm>
            <a:off x="9333318" y="4426675"/>
            <a:ext cx="1658532" cy="1146391"/>
          </a:xfrm>
          <a:prstGeom prst="rect">
            <a:avLst/>
          </a:prstGeom>
          <a:noFill/>
          <a:ln>
            <a:noFill/>
          </a:ln>
        </p:spPr>
        <p:txBody>
          <a:bodyPr spcFirstLastPara="1" wrap="square" lIns="0" tIns="8504" rIns="0" bIns="0" anchor="ctr"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Value or function</a:t>
            </a:r>
            <a:endParaRPr sz="2800" dirty="0">
              <a:latin typeface="Trebuchet MS"/>
              <a:ea typeface="Trebuchet MS"/>
              <a:cs typeface="Trebuchet MS"/>
              <a:sym typeface="Trebuchet MS"/>
            </a:endParaRPr>
          </a:p>
        </p:txBody>
      </p:sp>
      <p:sp>
        <p:nvSpPr>
          <p:cNvPr id="3" name="TextBox 2"/>
          <p:cNvSpPr txBox="1"/>
          <p:nvPr/>
        </p:nvSpPr>
        <p:spPr>
          <a:xfrm>
            <a:off x="866079" y="781067"/>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sp>
        <p:nvSpPr>
          <p:cNvPr id="2" name="TextBox 1">
            <a:extLst>
              <a:ext uri="{FF2B5EF4-FFF2-40B4-BE49-F238E27FC236}">
                <a16:creationId xmlns:a16="http://schemas.microsoft.com/office/drawing/2014/main" id="{4E5DA503-43D8-234F-A574-470E275BF911}"/>
              </a:ext>
            </a:extLst>
          </p:cNvPr>
          <p:cNvSpPr txBox="1"/>
          <p:nvPr/>
        </p:nvSpPr>
        <p:spPr>
          <a:xfrm>
            <a:off x="751840" y="5974080"/>
            <a:ext cx="10240010" cy="584775"/>
          </a:xfrm>
          <a:prstGeom prst="rect">
            <a:avLst/>
          </a:prstGeom>
          <a:noFill/>
        </p:spPr>
        <p:txBody>
          <a:bodyPr wrap="square" rtlCol="0">
            <a:spAutoFit/>
          </a:bodyPr>
          <a:lstStyle/>
          <a:p>
            <a:pPr algn="ctr"/>
            <a:r>
              <a:rPr lang="en-US" sz="3200" dirty="0"/>
              <a:t>Performs calculation across all rows of data frame</a:t>
            </a:r>
          </a:p>
        </p:txBody>
      </p:sp>
    </p:spTree>
    <p:extLst>
      <p:ext uri="{BB962C8B-B14F-4D97-AF65-F5344CB8AC3E}">
        <p14:creationId xmlns:p14="http://schemas.microsoft.com/office/powerpoint/2010/main" val="2968164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851660" y="2365236"/>
            <a:ext cx="7383780" cy="1577582"/>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1701703430"/>
              </p:ext>
            </p:extLst>
          </p:nvPr>
        </p:nvGraphicFramePr>
        <p:xfrm>
          <a:off x="1954530" y="4372602"/>
          <a:ext cx="4345463" cy="2287415"/>
        </p:xfrm>
        <a:graphic>
          <a:graphicData uri="http://schemas.openxmlformats.org/drawingml/2006/table">
            <a:tbl>
              <a:tblPr firstRow="1" bandRow="1"/>
              <a:tblGrid>
                <a:gridCol w="1096271">
                  <a:extLst>
                    <a:ext uri="{9D8B030D-6E8A-4147-A177-3AD203B41FA5}">
                      <a16:colId xmlns:a16="http://schemas.microsoft.com/office/drawing/2014/main" val="20000"/>
                    </a:ext>
                  </a:extLst>
                </a:gridCol>
                <a:gridCol w="1624596">
                  <a:extLst>
                    <a:ext uri="{9D8B030D-6E8A-4147-A177-3AD203B41FA5}">
                      <a16:colId xmlns:a16="http://schemas.microsoft.com/office/drawing/2014/main" val="2120428220"/>
                    </a:ext>
                  </a:extLst>
                </a:gridCol>
                <a:gridCol w="1624596">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value</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138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142</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6592252" y="4702813"/>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4" name="Rounded Rectangular Callout 2"/>
          <p:cNvSpPr/>
          <p:nvPr/>
        </p:nvSpPr>
        <p:spPr>
          <a:xfrm rot="10800000" flipH="1">
            <a:off x="7462072" y="1097278"/>
            <a:ext cx="2878268" cy="223934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Google Shape;324;p34"/>
          <p:cNvSpPr txBox="1"/>
          <p:nvPr/>
        </p:nvSpPr>
        <p:spPr>
          <a:xfrm>
            <a:off x="7573622" y="1335781"/>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that returns number of observations</a:t>
            </a:r>
            <a:endParaRPr sz="2062" dirty="0">
              <a:solidFill>
                <a:schemeClr val="bg1"/>
              </a:solidFill>
              <a:latin typeface="Calibri"/>
              <a:ea typeface="Calibri"/>
              <a:cs typeface="Calibri"/>
              <a:sym typeface="Calibri"/>
            </a:endParaRPr>
          </a:p>
        </p:txBody>
      </p:sp>
      <p:sp>
        <p:nvSpPr>
          <p:cNvPr id="26" name="TextBox 25"/>
          <p:cNvSpPr txBox="1"/>
          <p:nvPr/>
        </p:nvSpPr>
        <p:spPr>
          <a:xfrm>
            <a:off x="815160" y="763285"/>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3045520595"/>
              </p:ext>
            </p:extLst>
          </p:nvPr>
        </p:nvGraphicFramePr>
        <p:xfrm>
          <a:off x="7318383" y="4372602"/>
          <a:ext cx="2051392" cy="89234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sodium_count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2217275" y="2494355"/>
            <a:ext cx="9392596" cy="1323439"/>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filter(test == “sodium”) |&gt; </a:t>
            </a:r>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sodium_count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Tree>
    <p:extLst>
      <p:ext uri="{BB962C8B-B14F-4D97-AF65-F5344CB8AC3E}">
        <p14:creationId xmlns:p14="http://schemas.microsoft.com/office/powerpoint/2010/main" val="2427163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4" grpId="0" animBg="1"/>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1851659" y="2365236"/>
            <a:ext cx="8274259" cy="1966734"/>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Additional summaries = new columns</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3967323949"/>
              </p:ext>
            </p:extLst>
          </p:nvPr>
        </p:nvGraphicFramePr>
        <p:xfrm>
          <a:off x="1184073" y="4464042"/>
          <a:ext cx="4345463" cy="2287415"/>
        </p:xfrm>
        <a:graphic>
          <a:graphicData uri="http://schemas.openxmlformats.org/drawingml/2006/table">
            <a:tbl>
              <a:tblPr firstRow="1" bandRow="1"/>
              <a:tblGrid>
                <a:gridCol w="1096271">
                  <a:extLst>
                    <a:ext uri="{9D8B030D-6E8A-4147-A177-3AD203B41FA5}">
                      <a16:colId xmlns:a16="http://schemas.microsoft.com/office/drawing/2014/main" val="20000"/>
                    </a:ext>
                  </a:extLst>
                </a:gridCol>
                <a:gridCol w="1624596">
                  <a:extLst>
                    <a:ext uri="{9D8B030D-6E8A-4147-A177-3AD203B41FA5}">
                      <a16:colId xmlns:a16="http://schemas.microsoft.com/office/drawing/2014/main" val="2120428220"/>
                    </a:ext>
                  </a:extLst>
                </a:gridCol>
                <a:gridCol w="1624596">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value</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138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142</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0" u="none" strike="noStrike" cap="none" dirty="0">
                          <a:solidFill>
                            <a:srgbClr val="000000"/>
                          </a:solidFill>
                          <a:latin typeface="Arial"/>
                          <a:ea typeface="Arial"/>
                          <a:cs typeface="Arial"/>
                          <a:sym typeface="Arial"/>
                        </a:rPr>
                        <a:t>sodium</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140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821795" y="4794253"/>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5" name="Google Shape;324;p34"/>
          <p:cNvSpPr txBox="1"/>
          <p:nvPr/>
        </p:nvSpPr>
        <p:spPr>
          <a:xfrm>
            <a:off x="7573622" y="1335781"/>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that returns number of observations</a:t>
            </a:r>
            <a:endParaRPr sz="2062" dirty="0">
              <a:solidFill>
                <a:schemeClr val="bg1"/>
              </a:solidFill>
              <a:latin typeface="Calibri"/>
              <a:ea typeface="Calibri"/>
              <a:cs typeface="Calibri"/>
              <a:sym typeface="Calibri"/>
            </a:endParaRPr>
          </a:p>
        </p:txBody>
      </p:sp>
      <p:sp>
        <p:nvSpPr>
          <p:cNvPr id="26" name="TextBox 25"/>
          <p:cNvSpPr txBox="1"/>
          <p:nvPr/>
        </p:nvSpPr>
        <p:spPr>
          <a:xfrm>
            <a:off x="815160" y="763285"/>
            <a:ext cx="2875531" cy="923330"/>
          </a:xfrm>
          <a:prstGeom prst="rect">
            <a:avLst/>
          </a:prstGeom>
          <a:noFill/>
        </p:spPr>
        <p:txBody>
          <a:bodyPr wrap="none" rtlCol="0">
            <a:spAutoFit/>
          </a:bodyPr>
          <a:lstStyle/>
          <a:p>
            <a:r>
              <a:rPr lang="en-US" sz="5400" dirty="0">
                <a:latin typeface="+mj-lt"/>
                <a:sym typeface="Calibri"/>
              </a:rPr>
              <a:t>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3527859698"/>
              </p:ext>
            </p:extLst>
          </p:nvPr>
        </p:nvGraphicFramePr>
        <p:xfrm>
          <a:off x="6547926" y="4464042"/>
          <a:ext cx="2051392" cy="89234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sodium_count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1954531" y="2494355"/>
            <a:ext cx="8274258" cy="1815882"/>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filter(test == “sodium”) |&gt; </a:t>
            </a:r>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sodium_count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p>
          <a:p>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median_sodium</a:t>
            </a:r>
            <a:r>
              <a:rPr lang="en-US" sz="2400" dirty="0">
                <a:solidFill>
                  <a:srgbClr val="8DB4E2"/>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solidFill>
                  <a:srgbClr val="8DB4E2"/>
                </a:solidFill>
                <a:latin typeface="Consolas" panose="020B0609020204030204" pitchFamily="49" charset="0"/>
                <a:ea typeface="Courier New"/>
                <a:cs typeface="Consolas" panose="020B0609020204030204" pitchFamily="49" charset="0"/>
                <a:sym typeface="Courier New"/>
              </a:rPr>
              <a:t> median(value)</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graphicFrame>
        <p:nvGraphicFramePr>
          <p:cNvPr id="2" name="Table 1">
            <a:extLst>
              <a:ext uri="{FF2B5EF4-FFF2-40B4-BE49-F238E27FC236}">
                <a16:creationId xmlns:a16="http://schemas.microsoft.com/office/drawing/2014/main" id="{A155207D-651B-A7CC-17F0-C30C3373A4DD}"/>
              </a:ext>
            </a:extLst>
          </p:cNvPr>
          <p:cNvGraphicFramePr>
            <a:graphicFrameLocks noGrp="1"/>
          </p:cNvGraphicFramePr>
          <p:nvPr>
            <p:extLst>
              <p:ext uri="{D42A27DB-BD31-4B8C-83A1-F6EECF244321}">
                <p14:modId xmlns:p14="http://schemas.microsoft.com/office/powerpoint/2010/main" val="3287981935"/>
              </p:ext>
            </p:extLst>
          </p:nvPr>
        </p:nvGraphicFramePr>
        <p:xfrm>
          <a:off x="8624997" y="4478390"/>
          <a:ext cx="2382930" cy="863647"/>
        </p:xfrm>
        <a:graphic>
          <a:graphicData uri="http://schemas.openxmlformats.org/drawingml/2006/table">
            <a:tbl>
              <a:tblPr firstRow="1" bandRow="1"/>
              <a:tblGrid>
                <a:gridCol w="2382930">
                  <a:extLst>
                    <a:ext uri="{9D8B030D-6E8A-4147-A177-3AD203B41FA5}">
                      <a16:colId xmlns:a16="http://schemas.microsoft.com/office/drawing/2014/main" val="20000"/>
                    </a:ext>
                  </a:extLst>
                </a:gridCol>
              </a:tblGrid>
              <a:tr h="461323">
                <a:tc>
                  <a:txBody>
                    <a:bodyPr/>
                    <a:lstStyle/>
                    <a:p>
                      <a:pPr marL="0" lvl="0" indent="0" algn="ctr" rtl="0">
                        <a:spcBef>
                          <a:spcPts val="0"/>
                        </a:spcBef>
                        <a:spcAft>
                          <a:spcPts val="0"/>
                        </a:spcAft>
                        <a:buNone/>
                      </a:pPr>
                      <a:r>
                        <a:rPr lang="en-US" sz="2300" b="1" dirty="0" err="1">
                          <a:solidFill>
                            <a:schemeClr val="lt1"/>
                          </a:solidFill>
                        </a:rPr>
                        <a:t>median_sodium</a:t>
                      </a:r>
                      <a:endParaRPr sz="2300" b="1" dirty="0">
                        <a:solidFill>
                          <a:schemeClr val="lt1"/>
                        </a:solidFil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402324">
                <a:tc>
                  <a:txBody>
                    <a:bodyPr/>
                    <a:lstStyle/>
                    <a:p>
                      <a:pPr marL="0" lvl="0" indent="0" algn="ctr" rtl="0">
                        <a:spcBef>
                          <a:spcPts val="0"/>
                        </a:spcBef>
                        <a:spcAft>
                          <a:spcPts val="0"/>
                        </a:spcAft>
                        <a:buNone/>
                      </a:pPr>
                      <a:r>
                        <a:rPr lang="en-US" sz="1900" b="0" i="0" u="none" strike="noStrike" cap="none" dirty="0">
                          <a:solidFill>
                            <a:srgbClr val="000000"/>
                          </a:solidFill>
                          <a:latin typeface="Arial"/>
                          <a:ea typeface="Arial"/>
                          <a:cs typeface="Arial"/>
                          <a:sym typeface="Arial"/>
                        </a:rPr>
                        <a:t>140</a:t>
                      </a:r>
                      <a:endParaRPr sz="1900" b="0" i="0" u="none" strike="noStrike" cap="none" dirty="0">
                        <a:solidFill>
                          <a:srgbClr val="000000"/>
                        </a:solidFill>
                        <a:latin typeface="Arial"/>
                        <a:ea typeface="Arial"/>
                        <a:cs typeface="Arial"/>
                        <a:sym typeface="Arial"/>
                      </a:endParaRPr>
                    </a:p>
                  </a:txBody>
                  <a:tcPr marL="47403" marR="47403" marT="53663" marB="53663"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3" name="Rounded Rectangular Callout 2">
            <a:extLst>
              <a:ext uri="{FF2B5EF4-FFF2-40B4-BE49-F238E27FC236}">
                <a16:creationId xmlns:a16="http://schemas.microsoft.com/office/drawing/2014/main" id="{1F5AEF81-9A35-1A5C-3567-2C055061DE83}"/>
              </a:ext>
            </a:extLst>
          </p:cNvPr>
          <p:cNvSpPr/>
          <p:nvPr/>
        </p:nvSpPr>
        <p:spPr>
          <a:xfrm rot="10800000" flipH="1">
            <a:off x="7896412" y="1569559"/>
            <a:ext cx="2878268" cy="2239347"/>
          </a:xfrm>
          <a:custGeom>
            <a:avLst/>
            <a:gdLst>
              <a:gd name="connsiteX0" fmla="*/ 0 w 2928396"/>
              <a:gd name="connsiteY0" fmla="*/ 285509 h 1713022"/>
              <a:gd name="connsiteX1" fmla="*/ 285509 w 2928396"/>
              <a:gd name="connsiteY1" fmla="*/ 0 h 1713022"/>
              <a:gd name="connsiteX2" fmla="*/ 488066 w 2928396"/>
              <a:gd name="connsiteY2" fmla="*/ 0 h 1713022"/>
              <a:gd name="connsiteX3" fmla="*/ 1050884 w 2928396"/>
              <a:gd name="connsiteY3" fmla="*/ -839192 h 1713022"/>
              <a:gd name="connsiteX4" fmla="*/ 1220165 w 2928396"/>
              <a:gd name="connsiteY4" fmla="*/ 0 h 1713022"/>
              <a:gd name="connsiteX5" fmla="*/ 2642887 w 2928396"/>
              <a:gd name="connsiteY5" fmla="*/ 0 h 1713022"/>
              <a:gd name="connsiteX6" fmla="*/ 2928396 w 2928396"/>
              <a:gd name="connsiteY6" fmla="*/ 285509 h 1713022"/>
              <a:gd name="connsiteX7" fmla="*/ 2928396 w 2928396"/>
              <a:gd name="connsiteY7" fmla="*/ 285504 h 1713022"/>
              <a:gd name="connsiteX8" fmla="*/ 2928396 w 2928396"/>
              <a:gd name="connsiteY8" fmla="*/ 285504 h 1713022"/>
              <a:gd name="connsiteX9" fmla="*/ 2928396 w 2928396"/>
              <a:gd name="connsiteY9" fmla="*/ 713759 h 1713022"/>
              <a:gd name="connsiteX10" fmla="*/ 2928396 w 2928396"/>
              <a:gd name="connsiteY10" fmla="*/ 1427513 h 1713022"/>
              <a:gd name="connsiteX11" fmla="*/ 2642887 w 2928396"/>
              <a:gd name="connsiteY11" fmla="*/ 1713022 h 1713022"/>
              <a:gd name="connsiteX12" fmla="*/ 1220165 w 2928396"/>
              <a:gd name="connsiteY12" fmla="*/ 1713022 h 1713022"/>
              <a:gd name="connsiteX13" fmla="*/ 488066 w 2928396"/>
              <a:gd name="connsiteY13" fmla="*/ 1713022 h 1713022"/>
              <a:gd name="connsiteX14" fmla="*/ 488066 w 2928396"/>
              <a:gd name="connsiteY14" fmla="*/ 1713022 h 1713022"/>
              <a:gd name="connsiteX15" fmla="*/ 285509 w 2928396"/>
              <a:gd name="connsiteY15" fmla="*/ 1713022 h 1713022"/>
              <a:gd name="connsiteX16" fmla="*/ 0 w 2928396"/>
              <a:gd name="connsiteY16" fmla="*/ 1427513 h 1713022"/>
              <a:gd name="connsiteX17" fmla="*/ 0 w 2928396"/>
              <a:gd name="connsiteY17" fmla="*/ 713759 h 1713022"/>
              <a:gd name="connsiteX18" fmla="*/ 0 w 2928396"/>
              <a:gd name="connsiteY18" fmla="*/ 285504 h 1713022"/>
              <a:gd name="connsiteX19" fmla="*/ 0 w 2928396"/>
              <a:gd name="connsiteY19" fmla="*/ 285504 h 1713022"/>
              <a:gd name="connsiteX20" fmla="*/ 0 w 2928396"/>
              <a:gd name="connsiteY20" fmla="*/ 285509 h 1713022"/>
              <a:gd name="connsiteX0" fmla="*/ 0 w 2928396"/>
              <a:gd name="connsiteY0" fmla="*/ 1124701 h 2552214"/>
              <a:gd name="connsiteX1" fmla="*/ 285509 w 2928396"/>
              <a:gd name="connsiteY1" fmla="*/ 839192 h 2552214"/>
              <a:gd name="connsiteX2" fmla="*/ 904754 w 2928396"/>
              <a:gd name="connsiteY2" fmla="*/ 862342 h 2552214"/>
              <a:gd name="connsiteX3" fmla="*/ 1050884 w 2928396"/>
              <a:gd name="connsiteY3" fmla="*/ 0 h 2552214"/>
              <a:gd name="connsiteX4" fmla="*/ 1220165 w 2928396"/>
              <a:gd name="connsiteY4" fmla="*/ 839192 h 2552214"/>
              <a:gd name="connsiteX5" fmla="*/ 2642887 w 2928396"/>
              <a:gd name="connsiteY5" fmla="*/ 839192 h 2552214"/>
              <a:gd name="connsiteX6" fmla="*/ 2928396 w 2928396"/>
              <a:gd name="connsiteY6" fmla="*/ 1124701 h 2552214"/>
              <a:gd name="connsiteX7" fmla="*/ 2928396 w 2928396"/>
              <a:gd name="connsiteY7" fmla="*/ 1124696 h 2552214"/>
              <a:gd name="connsiteX8" fmla="*/ 2928396 w 2928396"/>
              <a:gd name="connsiteY8" fmla="*/ 1124696 h 2552214"/>
              <a:gd name="connsiteX9" fmla="*/ 2928396 w 2928396"/>
              <a:gd name="connsiteY9" fmla="*/ 1552951 h 2552214"/>
              <a:gd name="connsiteX10" fmla="*/ 2928396 w 2928396"/>
              <a:gd name="connsiteY10" fmla="*/ 2266705 h 2552214"/>
              <a:gd name="connsiteX11" fmla="*/ 2642887 w 2928396"/>
              <a:gd name="connsiteY11" fmla="*/ 2552214 h 2552214"/>
              <a:gd name="connsiteX12" fmla="*/ 1220165 w 2928396"/>
              <a:gd name="connsiteY12" fmla="*/ 2552214 h 2552214"/>
              <a:gd name="connsiteX13" fmla="*/ 488066 w 2928396"/>
              <a:gd name="connsiteY13" fmla="*/ 2552214 h 2552214"/>
              <a:gd name="connsiteX14" fmla="*/ 488066 w 2928396"/>
              <a:gd name="connsiteY14" fmla="*/ 2552214 h 2552214"/>
              <a:gd name="connsiteX15" fmla="*/ 285509 w 2928396"/>
              <a:gd name="connsiteY15" fmla="*/ 2552214 h 2552214"/>
              <a:gd name="connsiteX16" fmla="*/ 0 w 2928396"/>
              <a:gd name="connsiteY16" fmla="*/ 2266705 h 2552214"/>
              <a:gd name="connsiteX17" fmla="*/ 0 w 2928396"/>
              <a:gd name="connsiteY17" fmla="*/ 1552951 h 2552214"/>
              <a:gd name="connsiteX18" fmla="*/ 0 w 2928396"/>
              <a:gd name="connsiteY18" fmla="*/ 1124696 h 2552214"/>
              <a:gd name="connsiteX19" fmla="*/ 0 w 2928396"/>
              <a:gd name="connsiteY19" fmla="*/ 1124696 h 2552214"/>
              <a:gd name="connsiteX20" fmla="*/ 0 w 2928396"/>
              <a:gd name="connsiteY20" fmla="*/ 1124701 h 2552214"/>
              <a:gd name="connsiteX0" fmla="*/ 0 w 2928396"/>
              <a:gd name="connsiteY0" fmla="*/ 1439077 h 2866590"/>
              <a:gd name="connsiteX1" fmla="*/ 285509 w 2928396"/>
              <a:gd name="connsiteY1" fmla="*/ 1153568 h 2866590"/>
              <a:gd name="connsiteX2" fmla="*/ 904754 w 2928396"/>
              <a:gd name="connsiteY2" fmla="*/ 1176718 h 2866590"/>
              <a:gd name="connsiteX3" fmla="*/ 493059 w 2928396"/>
              <a:gd name="connsiteY3" fmla="*/ 0 h 2866590"/>
              <a:gd name="connsiteX4" fmla="*/ 1220165 w 2928396"/>
              <a:gd name="connsiteY4" fmla="*/ 1153568 h 2866590"/>
              <a:gd name="connsiteX5" fmla="*/ 2642887 w 2928396"/>
              <a:gd name="connsiteY5" fmla="*/ 1153568 h 2866590"/>
              <a:gd name="connsiteX6" fmla="*/ 2928396 w 2928396"/>
              <a:gd name="connsiteY6" fmla="*/ 1439077 h 2866590"/>
              <a:gd name="connsiteX7" fmla="*/ 2928396 w 2928396"/>
              <a:gd name="connsiteY7" fmla="*/ 1439072 h 2866590"/>
              <a:gd name="connsiteX8" fmla="*/ 2928396 w 2928396"/>
              <a:gd name="connsiteY8" fmla="*/ 1439072 h 2866590"/>
              <a:gd name="connsiteX9" fmla="*/ 2928396 w 2928396"/>
              <a:gd name="connsiteY9" fmla="*/ 1867327 h 2866590"/>
              <a:gd name="connsiteX10" fmla="*/ 2928396 w 2928396"/>
              <a:gd name="connsiteY10" fmla="*/ 2581081 h 2866590"/>
              <a:gd name="connsiteX11" fmla="*/ 2642887 w 2928396"/>
              <a:gd name="connsiteY11" fmla="*/ 2866590 h 2866590"/>
              <a:gd name="connsiteX12" fmla="*/ 1220165 w 2928396"/>
              <a:gd name="connsiteY12" fmla="*/ 2866590 h 2866590"/>
              <a:gd name="connsiteX13" fmla="*/ 488066 w 2928396"/>
              <a:gd name="connsiteY13" fmla="*/ 2866590 h 2866590"/>
              <a:gd name="connsiteX14" fmla="*/ 488066 w 2928396"/>
              <a:gd name="connsiteY14" fmla="*/ 2866590 h 2866590"/>
              <a:gd name="connsiteX15" fmla="*/ 285509 w 2928396"/>
              <a:gd name="connsiteY15" fmla="*/ 2866590 h 2866590"/>
              <a:gd name="connsiteX16" fmla="*/ 0 w 2928396"/>
              <a:gd name="connsiteY16" fmla="*/ 2581081 h 2866590"/>
              <a:gd name="connsiteX17" fmla="*/ 0 w 2928396"/>
              <a:gd name="connsiteY17" fmla="*/ 1867327 h 2866590"/>
              <a:gd name="connsiteX18" fmla="*/ 0 w 2928396"/>
              <a:gd name="connsiteY18" fmla="*/ 1439072 h 2866590"/>
              <a:gd name="connsiteX19" fmla="*/ 0 w 2928396"/>
              <a:gd name="connsiteY19" fmla="*/ 1439072 h 2866590"/>
              <a:gd name="connsiteX20" fmla="*/ 0 w 2928396"/>
              <a:gd name="connsiteY20" fmla="*/ 1439077 h 2866590"/>
              <a:gd name="connsiteX0" fmla="*/ 0 w 2928396"/>
              <a:gd name="connsiteY0" fmla="*/ 1770737 h 3198250"/>
              <a:gd name="connsiteX1" fmla="*/ 285509 w 2928396"/>
              <a:gd name="connsiteY1" fmla="*/ 1485228 h 3198250"/>
              <a:gd name="connsiteX2" fmla="*/ 904754 w 2928396"/>
              <a:gd name="connsiteY2" fmla="*/ 1508378 h 3198250"/>
              <a:gd name="connsiteX3" fmla="*/ 521125 w 2928396"/>
              <a:gd name="connsiteY3" fmla="*/ 0 h 3198250"/>
              <a:gd name="connsiteX4" fmla="*/ 1220165 w 2928396"/>
              <a:gd name="connsiteY4" fmla="*/ 1485228 h 3198250"/>
              <a:gd name="connsiteX5" fmla="*/ 2642887 w 2928396"/>
              <a:gd name="connsiteY5" fmla="*/ 1485228 h 3198250"/>
              <a:gd name="connsiteX6" fmla="*/ 2928396 w 2928396"/>
              <a:gd name="connsiteY6" fmla="*/ 1770737 h 3198250"/>
              <a:gd name="connsiteX7" fmla="*/ 2928396 w 2928396"/>
              <a:gd name="connsiteY7" fmla="*/ 1770732 h 3198250"/>
              <a:gd name="connsiteX8" fmla="*/ 2928396 w 2928396"/>
              <a:gd name="connsiteY8" fmla="*/ 1770732 h 3198250"/>
              <a:gd name="connsiteX9" fmla="*/ 2928396 w 2928396"/>
              <a:gd name="connsiteY9" fmla="*/ 2198987 h 3198250"/>
              <a:gd name="connsiteX10" fmla="*/ 2928396 w 2928396"/>
              <a:gd name="connsiteY10" fmla="*/ 2912741 h 3198250"/>
              <a:gd name="connsiteX11" fmla="*/ 2642887 w 2928396"/>
              <a:gd name="connsiteY11" fmla="*/ 3198250 h 3198250"/>
              <a:gd name="connsiteX12" fmla="*/ 1220165 w 2928396"/>
              <a:gd name="connsiteY12" fmla="*/ 3198250 h 3198250"/>
              <a:gd name="connsiteX13" fmla="*/ 488066 w 2928396"/>
              <a:gd name="connsiteY13" fmla="*/ 3198250 h 3198250"/>
              <a:gd name="connsiteX14" fmla="*/ 488066 w 2928396"/>
              <a:gd name="connsiteY14" fmla="*/ 3198250 h 3198250"/>
              <a:gd name="connsiteX15" fmla="*/ 285509 w 2928396"/>
              <a:gd name="connsiteY15" fmla="*/ 3198250 h 3198250"/>
              <a:gd name="connsiteX16" fmla="*/ 0 w 2928396"/>
              <a:gd name="connsiteY16" fmla="*/ 2912741 h 3198250"/>
              <a:gd name="connsiteX17" fmla="*/ 0 w 2928396"/>
              <a:gd name="connsiteY17" fmla="*/ 2198987 h 3198250"/>
              <a:gd name="connsiteX18" fmla="*/ 0 w 2928396"/>
              <a:gd name="connsiteY18" fmla="*/ 1770732 h 3198250"/>
              <a:gd name="connsiteX19" fmla="*/ 0 w 2928396"/>
              <a:gd name="connsiteY19" fmla="*/ 1770732 h 3198250"/>
              <a:gd name="connsiteX20" fmla="*/ 0 w 2928396"/>
              <a:gd name="connsiteY20" fmla="*/ 1770737 h 319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928396" h="3198250">
                <a:moveTo>
                  <a:pt x="0" y="1770737"/>
                </a:moveTo>
                <a:cubicBezTo>
                  <a:pt x="0" y="1613055"/>
                  <a:pt x="127827" y="1485228"/>
                  <a:pt x="285509" y="1485228"/>
                </a:cubicBezTo>
                <a:lnTo>
                  <a:pt x="904754" y="1508378"/>
                </a:lnTo>
                <a:lnTo>
                  <a:pt x="521125" y="0"/>
                </a:lnTo>
                <a:lnTo>
                  <a:pt x="1220165" y="1485228"/>
                </a:lnTo>
                <a:lnTo>
                  <a:pt x="2642887" y="1485228"/>
                </a:lnTo>
                <a:cubicBezTo>
                  <a:pt x="2800569" y="1485228"/>
                  <a:pt x="2928396" y="1613055"/>
                  <a:pt x="2928396" y="1770737"/>
                </a:cubicBezTo>
                <a:lnTo>
                  <a:pt x="2928396" y="1770732"/>
                </a:lnTo>
                <a:lnTo>
                  <a:pt x="2928396" y="1770732"/>
                </a:lnTo>
                <a:lnTo>
                  <a:pt x="2928396" y="2198987"/>
                </a:lnTo>
                <a:lnTo>
                  <a:pt x="2928396" y="2912741"/>
                </a:lnTo>
                <a:cubicBezTo>
                  <a:pt x="2928396" y="3070423"/>
                  <a:pt x="2800569" y="3198250"/>
                  <a:pt x="2642887" y="3198250"/>
                </a:cubicBezTo>
                <a:lnTo>
                  <a:pt x="1220165" y="3198250"/>
                </a:lnTo>
                <a:lnTo>
                  <a:pt x="488066" y="3198250"/>
                </a:lnTo>
                <a:lnTo>
                  <a:pt x="488066" y="3198250"/>
                </a:lnTo>
                <a:lnTo>
                  <a:pt x="285509" y="3198250"/>
                </a:lnTo>
                <a:cubicBezTo>
                  <a:pt x="127827" y="3198250"/>
                  <a:pt x="0" y="3070423"/>
                  <a:pt x="0" y="2912741"/>
                </a:cubicBezTo>
                <a:lnTo>
                  <a:pt x="0" y="2198987"/>
                </a:lnTo>
                <a:lnTo>
                  <a:pt x="0" y="1770732"/>
                </a:lnTo>
                <a:lnTo>
                  <a:pt x="0" y="1770732"/>
                </a:lnTo>
                <a:lnTo>
                  <a:pt x="0" y="1770737"/>
                </a:lnTo>
                <a:close/>
              </a:path>
            </a:pathLst>
          </a:custGeom>
          <a:solidFill>
            <a:schemeClr val="tx1">
              <a:lumMod val="65000"/>
              <a:lumOff val="35000"/>
            </a:schemeClr>
          </a:solidFill>
          <a:ln>
            <a:solidFill>
              <a:schemeClr val="tx1">
                <a:lumMod val="75000"/>
                <a:lumOff val="2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Google Shape;324;p34">
            <a:extLst>
              <a:ext uri="{FF2B5EF4-FFF2-40B4-BE49-F238E27FC236}">
                <a16:creationId xmlns:a16="http://schemas.microsoft.com/office/drawing/2014/main" id="{3E7B69FB-DAE3-BBD3-BDEE-444227BAE2C0}"/>
              </a:ext>
            </a:extLst>
          </p:cNvPr>
          <p:cNvSpPr txBox="1"/>
          <p:nvPr/>
        </p:nvSpPr>
        <p:spPr>
          <a:xfrm>
            <a:off x="8010713" y="1776362"/>
            <a:ext cx="2655167" cy="735811"/>
          </a:xfrm>
          <a:prstGeom prst="rect">
            <a:avLst/>
          </a:prstGeom>
          <a:noFill/>
          <a:ln>
            <a:noFill/>
          </a:ln>
        </p:spPr>
        <p:txBody>
          <a:bodyPr spcFirstLastPara="1" wrap="square" lIns="0" tIns="8504" rIns="0" bIns="0" anchor="t" anchorCtr="0">
            <a:noAutofit/>
          </a:bodyPr>
          <a:lstStyle/>
          <a:p>
            <a:pPr marL="8164" algn="ctr">
              <a:lnSpc>
                <a:spcPct val="116753"/>
              </a:lnSpc>
            </a:pPr>
            <a:r>
              <a:rPr lang="en-US" sz="2062" dirty="0">
                <a:solidFill>
                  <a:schemeClr val="bg1"/>
                </a:solidFill>
                <a:latin typeface="Calibri"/>
                <a:ea typeface="Calibri"/>
                <a:cs typeface="Calibri"/>
                <a:sym typeface="Calibri"/>
              </a:rPr>
              <a:t>function applied to a specified variable</a:t>
            </a:r>
            <a:endParaRPr sz="2062" dirty="0">
              <a:solidFill>
                <a:schemeClr val="bg1"/>
              </a:solidFill>
              <a:latin typeface="Calibri"/>
              <a:ea typeface="Calibri"/>
              <a:cs typeface="Calibri"/>
              <a:sym typeface="Calibri"/>
            </a:endParaRPr>
          </a:p>
        </p:txBody>
      </p:sp>
    </p:spTree>
    <p:extLst>
      <p:ext uri="{BB962C8B-B14F-4D97-AF65-F5344CB8AC3E}">
        <p14:creationId xmlns:p14="http://schemas.microsoft.com/office/powerpoint/2010/main" val="3145132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31769" y="199102"/>
            <a:ext cx="8466829" cy="6459794"/>
          </a:xfrm>
          <a:prstGeom prst="rect">
            <a:avLst/>
          </a:prstGeom>
        </p:spPr>
      </p:pic>
      <p:pic>
        <p:nvPicPr>
          <p:cNvPr id="3" name="Picture 2"/>
          <p:cNvPicPr>
            <a:picLocks noChangeAspect="1"/>
          </p:cNvPicPr>
          <p:nvPr/>
        </p:nvPicPr>
        <p:blipFill>
          <a:blip r:embed="rId4"/>
          <a:stretch>
            <a:fillRect/>
          </a:stretch>
        </p:blipFill>
        <p:spPr>
          <a:xfrm>
            <a:off x="655682" y="1020403"/>
            <a:ext cx="3152173" cy="5373022"/>
          </a:xfrm>
          <a:prstGeom prst="rect">
            <a:avLst/>
          </a:prstGeom>
          <a:ln w="28575">
            <a:solidFill>
              <a:schemeClr val="tx1"/>
            </a:solidFill>
          </a:ln>
          <a:effectLst>
            <a:outerShdw blurRad="50800" dist="38100" dir="2700000" algn="tl" rotWithShape="0">
              <a:prstClr val="black">
                <a:alpha val="40000"/>
              </a:prstClr>
            </a:outerShdw>
          </a:effectLst>
        </p:spPr>
      </p:pic>
      <p:sp>
        <p:nvSpPr>
          <p:cNvPr id="5" name="Rectangle 4"/>
          <p:cNvSpPr/>
          <p:nvPr/>
        </p:nvSpPr>
        <p:spPr>
          <a:xfrm>
            <a:off x="4336026" y="1622323"/>
            <a:ext cx="1858297" cy="2920180"/>
          </a:xfrm>
          <a:prstGeom prst="rect">
            <a:avLst/>
          </a:prstGeom>
          <a:solidFill>
            <a:schemeClr val="dk1">
              <a:alpha val="52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rapezoid 5"/>
          <p:cNvSpPr/>
          <p:nvPr/>
        </p:nvSpPr>
        <p:spPr>
          <a:xfrm rot="5400000">
            <a:off x="2323261" y="2522364"/>
            <a:ext cx="5368414" cy="2373712"/>
          </a:xfrm>
          <a:custGeom>
            <a:avLst/>
            <a:gdLst>
              <a:gd name="connsiteX0" fmla="*/ 0 w 5368414"/>
              <a:gd name="connsiteY0" fmla="*/ 2373711 h 2373711"/>
              <a:gd name="connsiteX1" fmla="*/ 593428 w 5368414"/>
              <a:gd name="connsiteY1" fmla="*/ 0 h 2373711"/>
              <a:gd name="connsiteX2" fmla="*/ 4774986 w 5368414"/>
              <a:gd name="connsiteY2" fmla="*/ 0 h 2373711"/>
              <a:gd name="connsiteX3" fmla="*/ 5368414 w 5368414"/>
              <a:gd name="connsiteY3" fmla="*/ 2373711 h 2373711"/>
              <a:gd name="connsiteX4" fmla="*/ 0 w 5368414"/>
              <a:gd name="connsiteY4" fmla="*/ 2373711 h 2373711"/>
              <a:gd name="connsiteX0" fmla="*/ 0 w 5368414"/>
              <a:gd name="connsiteY0" fmla="*/ 2373712 h 2373712"/>
              <a:gd name="connsiteX1" fmla="*/ 593428 w 5368414"/>
              <a:gd name="connsiteY1" fmla="*/ 1 h 2373712"/>
              <a:gd name="connsiteX2" fmla="*/ 3498638 w 5368414"/>
              <a:gd name="connsiteY2" fmla="*/ 0 h 2373712"/>
              <a:gd name="connsiteX3" fmla="*/ 5368414 w 5368414"/>
              <a:gd name="connsiteY3" fmla="*/ 2373712 h 2373712"/>
              <a:gd name="connsiteX4" fmla="*/ 0 w 5368414"/>
              <a:gd name="connsiteY4" fmla="*/ 2373712 h 2373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4" h="2373712">
                <a:moveTo>
                  <a:pt x="0" y="2373712"/>
                </a:moveTo>
                <a:lnTo>
                  <a:pt x="593428" y="1"/>
                </a:lnTo>
                <a:lnTo>
                  <a:pt x="3498638" y="0"/>
                </a:lnTo>
                <a:lnTo>
                  <a:pt x="5368414" y="2373712"/>
                </a:lnTo>
                <a:lnTo>
                  <a:pt x="0" y="2373712"/>
                </a:lnTo>
                <a:close/>
              </a:path>
            </a:pathLst>
          </a:custGeom>
          <a:solidFill>
            <a:schemeClr val="tx1">
              <a:lumMod val="85000"/>
              <a:lumOff val="1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0722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A2D24-E81A-8241-8BE4-10C628CAAAB4}"/>
              </a:ext>
            </a:extLst>
          </p:cNvPr>
          <p:cNvSpPr>
            <a:spLocks noGrp="1"/>
          </p:cNvSpPr>
          <p:nvPr>
            <p:ph type="title"/>
          </p:nvPr>
        </p:nvSpPr>
        <p:spPr/>
        <p:txBody>
          <a:bodyPr/>
          <a:lstStyle/>
          <a:p>
            <a:r>
              <a:rPr lang="en-US" dirty="0"/>
              <a:t>Your Turn #2</a:t>
            </a:r>
          </a:p>
        </p:txBody>
      </p:sp>
      <p:sp>
        <p:nvSpPr>
          <p:cNvPr id="3" name="Text Placeholder 2">
            <a:extLst>
              <a:ext uri="{FF2B5EF4-FFF2-40B4-BE49-F238E27FC236}">
                <a16:creationId xmlns:a16="http://schemas.microsoft.com/office/drawing/2014/main" id="{0F8623C7-1227-A04A-B096-498B1A18A501}"/>
              </a:ext>
            </a:extLst>
          </p:cNvPr>
          <p:cNvSpPr>
            <a:spLocks noGrp="1"/>
          </p:cNvSpPr>
          <p:nvPr>
            <p:ph type="body" sz="quarter" idx="13"/>
          </p:nvPr>
        </p:nvSpPr>
        <p:spPr>
          <a:xfrm>
            <a:off x="3886199" y="2238375"/>
            <a:ext cx="7691907" cy="3998652"/>
          </a:xfrm>
        </p:spPr>
        <p:txBody>
          <a:bodyPr>
            <a:normAutofit/>
          </a:bodyPr>
          <a:lstStyle/>
          <a:p>
            <a:pPr marL="914400" indent="-914400">
              <a:buFont typeface="+mj-lt"/>
              <a:buAutoNum type="arabicPeriod"/>
            </a:pPr>
            <a:r>
              <a:rPr lang="en-US" dirty="0"/>
              <a:t>Work through the Summarizing Variables section of the exercises</a:t>
            </a:r>
          </a:p>
          <a:p>
            <a:pPr marL="914400" indent="-914400">
              <a:buFont typeface="+mj-lt"/>
              <a:buAutoNum type="arabicPeriod"/>
            </a:pPr>
            <a:r>
              <a:rPr lang="en-US" dirty="0"/>
              <a:t>Sticky up when done</a:t>
            </a:r>
          </a:p>
        </p:txBody>
      </p:sp>
      <p:pic>
        <p:nvPicPr>
          <p:cNvPr id="4" name="Picture 3">
            <a:extLst>
              <a:ext uri="{FF2B5EF4-FFF2-40B4-BE49-F238E27FC236}">
                <a16:creationId xmlns:a16="http://schemas.microsoft.com/office/drawing/2014/main" id="{DC153905-403A-189C-2906-DD55EA3E7EA0}"/>
              </a:ext>
            </a:extLst>
          </p:cNvPr>
          <p:cNvPicPr>
            <a:picLocks noChangeAspect="1"/>
          </p:cNvPicPr>
          <p:nvPr/>
        </p:nvPicPr>
        <p:blipFill>
          <a:blip r:embed="rId3"/>
          <a:stretch>
            <a:fillRect/>
          </a:stretch>
        </p:blipFill>
        <p:spPr>
          <a:xfrm>
            <a:off x="358502" y="1249003"/>
            <a:ext cx="3152173" cy="5373022"/>
          </a:xfrm>
          <a:prstGeom prst="rect">
            <a:avLst/>
          </a:prstGeom>
          <a:ln w="28575">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78315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31769" y="199102"/>
            <a:ext cx="8466829" cy="6459794"/>
          </a:xfrm>
          <a:prstGeom prst="rect">
            <a:avLst/>
          </a:prstGeom>
        </p:spPr>
      </p:pic>
      <p:pic>
        <p:nvPicPr>
          <p:cNvPr id="3" name="Picture 2"/>
          <p:cNvPicPr>
            <a:picLocks noChangeAspect="1"/>
          </p:cNvPicPr>
          <p:nvPr/>
        </p:nvPicPr>
        <p:blipFill>
          <a:blip r:embed="rId4"/>
          <a:stretch>
            <a:fillRect/>
          </a:stretch>
        </p:blipFill>
        <p:spPr>
          <a:xfrm>
            <a:off x="655682" y="1020403"/>
            <a:ext cx="3152173" cy="5373022"/>
          </a:xfrm>
          <a:prstGeom prst="rect">
            <a:avLst/>
          </a:prstGeom>
          <a:ln w="28575">
            <a:solidFill>
              <a:schemeClr val="tx1"/>
            </a:solidFill>
          </a:ln>
          <a:effectLst>
            <a:outerShdw blurRad="50800" dist="38100" dir="2700000" algn="tl" rotWithShape="0">
              <a:prstClr val="black">
                <a:alpha val="40000"/>
              </a:prstClr>
            </a:outerShdw>
          </a:effectLst>
        </p:spPr>
      </p:pic>
      <p:sp>
        <p:nvSpPr>
          <p:cNvPr id="5" name="Rectangle 4"/>
          <p:cNvSpPr/>
          <p:nvPr/>
        </p:nvSpPr>
        <p:spPr>
          <a:xfrm>
            <a:off x="4336026" y="1622323"/>
            <a:ext cx="1858297" cy="2920180"/>
          </a:xfrm>
          <a:prstGeom prst="rect">
            <a:avLst/>
          </a:prstGeom>
          <a:solidFill>
            <a:schemeClr val="dk1">
              <a:alpha val="52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rapezoid 5"/>
          <p:cNvSpPr/>
          <p:nvPr/>
        </p:nvSpPr>
        <p:spPr>
          <a:xfrm rot="5400000">
            <a:off x="2323261" y="2522364"/>
            <a:ext cx="5368414" cy="2373712"/>
          </a:xfrm>
          <a:custGeom>
            <a:avLst/>
            <a:gdLst>
              <a:gd name="connsiteX0" fmla="*/ 0 w 5368414"/>
              <a:gd name="connsiteY0" fmla="*/ 2373711 h 2373711"/>
              <a:gd name="connsiteX1" fmla="*/ 593428 w 5368414"/>
              <a:gd name="connsiteY1" fmla="*/ 0 h 2373711"/>
              <a:gd name="connsiteX2" fmla="*/ 4774986 w 5368414"/>
              <a:gd name="connsiteY2" fmla="*/ 0 h 2373711"/>
              <a:gd name="connsiteX3" fmla="*/ 5368414 w 5368414"/>
              <a:gd name="connsiteY3" fmla="*/ 2373711 h 2373711"/>
              <a:gd name="connsiteX4" fmla="*/ 0 w 5368414"/>
              <a:gd name="connsiteY4" fmla="*/ 2373711 h 2373711"/>
              <a:gd name="connsiteX0" fmla="*/ 0 w 5368414"/>
              <a:gd name="connsiteY0" fmla="*/ 2373712 h 2373712"/>
              <a:gd name="connsiteX1" fmla="*/ 593428 w 5368414"/>
              <a:gd name="connsiteY1" fmla="*/ 1 h 2373712"/>
              <a:gd name="connsiteX2" fmla="*/ 3498638 w 5368414"/>
              <a:gd name="connsiteY2" fmla="*/ 0 h 2373712"/>
              <a:gd name="connsiteX3" fmla="*/ 5368414 w 5368414"/>
              <a:gd name="connsiteY3" fmla="*/ 2373712 h 2373712"/>
              <a:gd name="connsiteX4" fmla="*/ 0 w 5368414"/>
              <a:gd name="connsiteY4" fmla="*/ 2373712 h 23737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4" h="2373712">
                <a:moveTo>
                  <a:pt x="0" y="2373712"/>
                </a:moveTo>
                <a:lnTo>
                  <a:pt x="593428" y="1"/>
                </a:lnTo>
                <a:lnTo>
                  <a:pt x="3498638" y="0"/>
                </a:lnTo>
                <a:lnTo>
                  <a:pt x="5368414" y="2373712"/>
                </a:lnTo>
                <a:lnTo>
                  <a:pt x="0" y="2373712"/>
                </a:lnTo>
                <a:close/>
              </a:path>
            </a:pathLst>
          </a:custGeom>
          <a:solidFill>
            <a:schemeClr val="tx1">
              <a:lumMod val="85000"/>
              <a:lumOff val="1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6128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2E27-01A8-5E4B-B5C1-7DDE6C5F2AD2}"/>
              </a:ext>
            </a:extLst>
          </p:cNvPr>
          <p:cNvSpPr>
            <a:spLocks noGrp="1"/>
          </p:cNvSpPr>
          <p:nvPr>
            <p:ph type="title"/>
          </p:nvPr>
        </p:nvSpPr>
        <p:spPr/>
        <p:txBody>
          <a:bodyPr/>
          <a:lstStyle/>
          <a:p>
            <a:r>
              <a:rPr lang="en-US" dirty="0"/>
              <a:t>Calculate the mean turnaround time</a:t>
            </a:r>
          </a:p>
        </p:txBody>
      </p:sp>
      <p:sp>
        <p:nvSpPr>
          <p:cNvPr id="3" name="Slide Number Placeholder 2">
            <a:extLst>
              <a:ext uri="{FF2B5EF4-FFF2-40B4-BE49-F238E27FC236}">
                <a16:creationId xmlns:a16="http://schemas.microsoft.com/office/drawing/2014/main" id="{81FC8083-CF10-4348-B6E9-E66066B8CB5C}"/>
              </a:ext>
            </a:extLst>
          </p:cNvPr>
          <p:cNvSpPr>
            <a:spLocks noGrp="1"/>
          </p:cNvSpPr>
          <p:nvPr>
            <p:ph type="sldNum" sz="quarter" idx="12"/>
          </p:nvPr>
        </p:nvSpPr>
        <p:spPr/>
        <p:txBody>
          <a:bodyPr/>
          <a:lstStyle/>
          <a:p>
            <a:fld id="{E7EBC154-6848-214C-B925-399887F0DE31}" type="slidenum">
              <a:rPr lang="en-US" smtClean="0">
                <a:solidFill>
                  <a:prstClr val="black">
                    <a:lumMod val="95000"/>
                    <a:lumOff val="5000"/>
                  </a:prstClr>
                </a:solidFill>
              </a:rPr>
              <a:pPr/>
              <a:t>23</a:t>
            </a:fld>
            <a:endParaRPr lang="en-US">
              <a:solidFill>
                <a:prstClr val="black">
                  <a:lumMod val="95000"/>
                  <a:lumOff val="5000"/>
                </a:prstClr>
              </a:solidFill>
            </a:endParaRPr>
          </a:p>
        </p:txBody>
      </p:sp>
      <p:sp>
        <p:nvSpPr>
          <p:cNvPr id="4" name="Google Shape;131;p17">
            <a:extLst>
              <a:ext uri="{FF2B5EF4-FFF2-40B4-BE49-F238E27FC236}">
                <a16:creationId xmlns:a16="http://schemas.microsoft.com/office/drawing/2014/main" id="{9DECED63-7231-3E47-ACAD-32CE0AAD432F}"/>
              </a:ext>
            </a:extLst>
          </p:cNvPr>
          <p:cNvSpPr/>
          <p:nvPr/>
        </p:nvSpPr>
        <p:spPr>
          <a:xfrm>
            <a:off x="988147" y="2084832"/>
            <a:ext cx="10215705" cy="2030583"/>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r>
              <a:rPr lang="en-US" sz="3600" dirty="0"/>
              <a:t>chem |&gt;</a:t>
            </a:r>
          </a:p>
          <a:p>
            <a:r>
              <a:rPr lang="en-US" sz="3600" dirty="0"/>
              <a:t>  mutate(</a:t>
            </a:r>
            <a:r>
              <a:rPr lang="en-US" sz="3600" dirty="0" err="1"/>
              <a:t>total_tat</a:t>
            </a:r>
            <a:r>
              <a:rPr lang="en-US" sz="3600" dirty="0"/>
              <a:t> = </a:t>
            </a:r>
            <a:r>
              <a:rPr lang="en-US" sz="3600" dirty="0" err="1"/>
              <a:t>verify_dt</a:t>
            </a:r>
            <a:r>
              <a:rPr lang="en-US" sz="3600" dirty="0"/>
              <a:t> – </a:t>
            </a:r>
            <a:r>
              <a:rPr lang="en-US" sz="3600" dirty="0" err="1"/>
              <a:t>collect_dt</a:t>
            </a:r>
            <a:r>
              <a:rPr lang="en-US" sz="3600" dirty="0"/>
              <a:t>) |&gt;</a:t>
            </a:r>
          </a:p>
          <a:p>
            <a:r>
              <a:rPr lang="en-US" sz="3600" dirty="0"/>
              <a:t>  summarize(</a:t>
            </a:r>
            <a:r>
              <a:rPr lang="en-US" sz="3600" dirty="0" err="1"/>
              <a:t>total_tat_mean</a:t>
            </a:r>
            <a:r>
              <a:rPr lang="en-US" sz="3600" dirty="0"/>
              <a:t> = mean(</a:t>
            </a:r>
            <a:r>
              <a:rPr lang="en-US" sz="3600" dirty="0" err="1"/>
              <a:t>total_tat</a:t>
            </a:r>
            <a:r>
              <a:rPr lang="en-US" sz="3600" dirty="0"/>
              <a:t>))</a:t>
            </a:r>
          </a:p>
        </p:txBody>
      </p:sp>
      <p:graphicFrame>
        <p:nvGraphicFramePr>
          <p:cNvPr id="5" name="Table 4">
            <a:extLst>
              <a:ext uri="{FF2B5EF4-FFF2-40B4-BE49-F238E27FC236}">
                <a16:creationId xmlns:a16="http://schemas.microsoft.com/office/drawing/2014/main" id="{E3D318C6-A341-DD40-8870-6501B4AD80C3}"/>
              </a:ext>
            </a:extLst>
          </p:cNvPr>
          <p:cNvGraphicFramePr>
            <a:graphicFrameLocks noGrp="1"/>
          </p:cNvGraphicFramePr>
          <p:nvPr>
            <p:extLst>
              <p:ext uri="{D42A27DB-BD31-4B8C-83A1-F6EECF244321}">
                <p14:modId xmlns:p14="http://schemas.microsoft.com/office/powerpoint/2010/main" val="3619340319"/>
              </p:ext>
            </p:extLst>
          </p:nvPr>
        </p:nvGraphicFramePr>
        <p:xfrm>
          <a:off x="2711450" y="4320449"/>
          <a:ext cx="2880715" cy="2287415"/>
        </p:xfrm>
        <a:graphic>
          <a:graphicData uri="http://schemas.openxmlformats.org/drawingml/2006/table">
            <a:tbl>
              <a:tblPr firstRow="1" bandRow="1"/>
              <a:tblGrid>
                <a:gridCol w="1330960">
                  <a:extLst>
                    <a:ext uri="{9D8B030D-6E8A-4147-A177-3AD203B41FA5}">
                      <a16:colId xmlns:a16="http://schemas.microsoft.com/office/drawing/2014/main" val="20000"/>
                    </a:ext>
                  </a:extLst>
                </a:gridCol>
                <a:gridCol w="1549755">
                  <a:extLst>
                    <a:ext uri="{9D8B030D-6E8A-4147-A177-3AD203B41FA5}">
                      <a16:colId xmlns:a16="http://schemas.microsoft.com/office/drawing/2014/main" val="2979810540"/>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total_tat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3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5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6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6" name="Google Shape;387;p40">
            <a:extLst>
              <a:ext uri="{FF2B5EF4-FFF2-40B4-BE49-F238E27FC236}">
                <a16:creationId xmlns:a16="http://schemas.microsoft.com/office/drawing/2014/main" id="{EE8C6E49-5BB9-D249-B913-500B1CA4DC5B}"/>
              </a:ext>
            </a:extLst>
          </p:cNvPr>
          <p:cNvSpPr/>
          <p:nvPr/>
        </p:nvSpPr>
        <p:spPr>
          <a:xfrm>
            <a:off x="6331585" y="5348195"/>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graphicFrame>
        <p:nvGraphicFramePr>
          <p:cNvPr id="7" name="Table 6">
            <a:extLst>
              <a:ext uri="{FF2B5EF4-FFF2-40B4-BE49-F238E27FC236}">
                <a16:creationId xmlns:a16="http://schemas.microsoft.com/office/drawing/2014/main" id="{59E242A1-1442-7445-A224-4D73A48755AD}"/>
              </a:ext>
            </a:extLst>
          </p:cNvPr>
          <p:cNvGraphicFramePr>
            <a:graphicFrameLocks noGrp="1"/>
          </p:cNvGraphicFramePr>
          <p:nvPr>
            <p:extLst>
              <p:ext uri="{D42A27DB-BD31-4B8C-83A1-F6EECF244321}">
                <p14:modId xmlns:p14="http://schemas.microsoft.com/office/powerpoint/2010/main" val="1442025981"/>
              </p:ext>
            </p:extLst>
          </p:nvPr>
        </p:nvGraphicFramePr>
        <p:xfrm>
          <a:off x="7000242" y="5017984"/>
          <a:ext cx="2646679" cy="892344"/>
        </p:xfrm>
        <a:graphic>
          <a:graphicData uri="http://schemas.openxmlformats.org/drawingml/2006/table">
            <a:tbl>
              <a:tblPr firstRow="1" bandRow="1"/>
              <a:tblGrid>
                <a:gridCol w="2646679">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total_tat_mean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4.5 days</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04451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2E27-01A8-5E4B-B5C1-7DDE6C5F2AD2}"/>
              </a:ext>
            </a:extLst>
          </p:cNvPr>
          <p:cNvSpPr>
            <a:spLocks noGrp="1"/>
          </p:cNvSpPr>
          <p:nvPr>
            <p:ph type="title"/>
          </p:nvPr>
        </p:nvSpPr>
        <p:spPr/>
        <p:txBody>
          <a:bodyPr/>
          <a:lstStyle/>
          <a:p>
            <a:r>
              <a:rPr lang="en-US" dirty="0"/>
              <a:t>Calculate the 75</a:t>
            </a:r>
            <a:r>
              <a:rPr lang="en-US" baseline="30000" dirty="0"/>
              <a:t>th</a:t>
            </a:r>
            <a:r>
              <a:rPr lang="en-US" dirty="0"/>
              <a:t> percentile turnaround time</a:t>
            </a:r>
          </a:p>
        </p:txBody>
      </p:sp>
      <p:sp>
        <p:nvSpPr>
          <p:cNvPr id="4" name="Google Shape;131;p17">
            <a:extLst>
              <a:ext uri="{FF2B5EF4-FFF2-40B4-BE49-F238E27FC236}">
                <a16:creationId xmlns:a16="http://schemas.microsoft.com/office/drawing/2014/main" id="{9DECED63-7231-3E47-ACAD-32CE0AAD432F}"/>
              </a:ext>
            </a:extLst>
          </p:cNvPr>
          <p:cNvSpPr/>
          <p:nvPr/>
        </p:nvSpPr>
        <p:spPr>
          <a:xfrm>
            <a:off x="213360" y="2084832"/>
            <a:ext cx="11846561" cy="2372777"/>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r>
              <a:rPr lang="en-US" sz="3600" dirty="0"/>
              <a:t> chem |&gt;</a:t>
            </a:r>
          </a:p>
          <a:p>
            <a:r>
              <a:rPr lang="en-US" sz="3600" dirty="0"/>
              <a:t>  mutate(</a:t>
            </a:r>
            <a:r>
              <a:rPr lang="en-US" sz="3600" dirty="0" err="1"/>
              <a:t>total_tat</a:t>
            </a:r>
            <a:r>
              <a:rPr lang="en-US" sz="3600" dirty="0"/>
              <a:t> = </a:t>
            </a:r>
            <a:r>
              <a:rPr lang="en-US" sz="3600" dirty="0" err="1"/>
              <a:t>verify_dt</a:t>
            </a:r>
            <a:r>
              <a:rPr lang="en-US" sz="3600" dirty="0"/>
              <a:t> – </a:t>
            </a:r>
            <a:r>
              <a:rPr lang="en-US" sz="3600" dirty="0" err="1"/>
              <a:t>collect_dt</a:t>
            </a:r>
            <a:r>
              <a:rPr lang="en-US" sz="3600" dirty="0"/>
              <a:t>) |&gt;</a:t>
            </a:r>
          </a:p>
          <a:p>
            <a:r>
              <a:rPr lang="en-US" sz="3600" dirty="0"/>
              <a:t>  summarize(</a:t>
            </a:r>
            <a:r>
              <a:rPr lang="en-US" sz="3600" dirty="0" err="1"/>
              <a:t>total_tat_mean</a:t>
            </a:r>
            <a:r>
              <a:rPr lang="en-US" sz="3600" dirty="0"/>
              <a:t> = mean(</a:t>
            </a:r>
            <a:r>
              <a:rPr lang="en-US" sz="3600" dirty="0" err="1"/>
              <a:t>total_tat</a:t>
            </a:r>
            <a:r>
              <a:rPr lang="en-US" sz="3600" dirty="0"/>
              <a:t>),</a:t>
            </a:r>
          </a:p>
          <a:p>
            <a:r>
              <a:rPr lang="en-US" sz="3600" dirty="0"/>
              <a:t>		    total_tat_75_pctile = quantile(</a:t>
            </a:r>
            <a:r>
              <a:rPr lang="en-US" sz="3600" dirty="0" err="1"/>
              <a:t>total_tat</a:t>
            </a:r>
            <a:r>
              <a:rPr lang="en-US" sz="3600" dirty="0"/>
              <a:t>, 0.75))</a:t>
            </a:r>
          </a:p>
        </p:txBody>
      </p:sp>
      <p:graphicFrame>
        <p:nvGraphicFramePr>
          <p:cNvPr id="5" name="Table 4">
            <a:extLst>
              <a:ext uri="{FF2B5EF4-FFF2-40B4-BE49-F238E27FC236}">
                <a16:creationId xmlns:a16="http://schemas.microsoft.com/office/drawing/2014/main" id="{E3D318C6-A341-DD40-8870-6501B4AD80C3}"/>
              </a:ext>
            </a:extLst>
          </p:cNvPr>
          <p:cNvGraphicFramePr>
            <a:graphicFrameLocks noGrp="1"/>
          </p:cNvGraphicFramePr>
          <p:nvPr>
            <p:extLst>
              <p:ext uri="{D42A27DB-BD31-4B8C-83A1-F6EECF244321}">
                <p14:modId xmlns:p14="http://schemas.microsoft.com/office/powerpoint/2010/main" val="3302886785"/>
              </p:ext>
            </p:extLst>
          </p:nvPr>
        </p:nvGraphicFramePr>
        <p:xfrm>
          <a:off x="1977668" y="4570584"/>
          <a:ext cx="2880715" cy="2287415"/>
        </p:xfrm>
        <a:graphic>
          <a:graphicData uri="http://schemas.openxmlformats.org/drawingml/2006/table">
            <a:tbl>
              <a:tblPr firstRow="1" bandRow="1"/>
              <a:tblGrid>
                <a:gridCol w="1330960">
                  <a:extLst>
                    <a:ext uri="{9D8B030D-6E8A-4147-A177-3AD203B41FA5}">
                      <a16:colId xmlns:a16="http://schemas.microsoft.com/office/drawing/2014/main" val="20000"/>
                    </a:ext>
                  </a:extLst>
                </a:gridCol>
                <a:gridCol w="1549755">
                  <a:extLst>
                    <a:ext uri="{9D8B030D-6E8A-4147-A177-3AD203B41FA5}">
                      <a16:colId xmlns:a16="http://schemas.microsoft.com/office/drawing/2014/main" val="2979810540"/>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err="1">
                          <a:solidFill>
                            <a:schemeClr val="lt1"/>
                          </a:solidFill>
                        </a:rPr>
                        <a:t>total_tat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6</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8</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10</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11</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6" name="Google Shape;387;p40">
            <a:extLst>
              <a:ext uri="{FF2B5EF4-FFF2-40B4-BE49-F238E27FC236}">
                <a16:creationId xmlns:a16="http://schemas.microsoft.com/office/drawing/2014/main" id="{EE8C6E49-5BB9-D249-B913-500B1CA4DC5B}"/>
              </a:ext>
            </a:extLst>
          </p:cNvPr>
          <p:cNvSpPr/>
          <p:nvPr/>
        </p:nvSpPr>
        <p:spPr>
          <a:xfrm>
            <a:off x="5193665" y="5598331"/>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graphicFrame>
        <p:nvGraphicFramePr>
          <p:cNvPr id="7" name="Table 6">
            <a:extLst>
              <a:ext uri="{FF2B5EF4-FFF2-40B4-BE49-F238E27FC236}">
                <a16:creationId xmlns:a16="http://schemas.microsoft.com/office/drawing/2014/main" id="{59E242A1-1442-7445-A224-4D73A48755AD}"/>
              </a:ext>
            </a:extLst>
          </p:cNvPr>
          <p:cNvGraphicFramePr>
            <a:graphicFrameLocks noGrp="1"/>
          </p:cNvGraphicFramePr>
          <p:nvPr>
            <p:extLst>
              <p:ext uri="{D42A27DB-BD31-4B8C-83A1-F6EECF244321}">
                <p14:modId xmlns:p14="http://schemas.microsoft.com/office/powerpoint/2010/main" val="1867021179"/>
              </p:ext>
            </p:extLst>
          </p:nvPr>
        </p:nvGraphicFramePr>
        <p:xfrm>
          <a:off x="5862322" y="5268120"/>
          <a:ext cx="2646679" cy="892344"/>
        </p:xfrm>
        <a:graphic>
          <a:graphicData uri="http://schemas.openxmlformats.org/drawingml/2006/table">
            <a:tbl>
              <a:tblPr firstRow="1" bandRow="1"/>
              <a:tblGrid>
                <a:gridCol w="2646679">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total_tat_mean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4.5</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graphicFrame>
        <p:nvGraphicFramePr>
          <p:cNvPr id="8" name="Table 7">
            <a:extLst>
              <a:ext uri="{FF2B5EF4-FFF2-40B4-BE49-F238E27FC236}">
                <a16:creationId xmlns:a16="http://schemas.microsoft.com/office/drawing/2014/main" id="{3DB776D7-3AA5-4D4D-951C-713D3F97B3BF}"/>
              </a:ext>
            </a:extLst>
          </p:cNvPr>
          <p:cNvGraphicFramePr>
            <a:graphicFrameLocks noGrp="1"/>
          </p:cNvGraphicFramePr>
          <p:nvPr>
            <p:extLst>
              <p:ext uri="{D42A27DB-BD31-4B8C-83A1-F6EECF244321}">
                <p14:modId xmlns:p14="http://schemas.microsoft.com/office/powerpoint/2010/main" val="2343748824"/>
              </p:ext>
            </p:extLst>
          </p:nvPr>
        </p:nvGraphicFramePr>
        <p:xfrm>
          <a:off x="8595362" y="5268120"/>
          <a:ext cx="2646679" cy="892344"/>
        </p:xfrm>
        <a:graphic>
          <a:graphicData uri="http://schemas.openxmlformats.org/drawingml/2006/table">
            <a:tbl>
              <a:tblPr firstRow="1" bandRow="1"/>
              <a:tblGrid>
                <a:gridCol w="2646679">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a:solidFill>
                            <a:schemeClr val="lt1"/>
                          </a:solidFill>
                        </a:rPr>
                        <a:t>total_tat_75_pctile</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5.25</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5133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sz="5400" dirty="0">
                <a:solidFill>
                  <a:schemeClr val="tx1"/>
                </a:solidFill>
              </a:rPr>
              <a:t>Grouping your data</a:t>
            </a:r>
            <a:endParaRPr lang="en-US" dirty="0">
              <a:solidFill>
                <a:schemeClr val="tx1"/>
              </a:solidFill>
            </a:endParaRPr>
          </a:p>
        </p:txBody>
      </p:sp>
    </p:spTree>
    <p:extLst>
      <p:ext uri="{BB962C8B-B14F-4D97-AF65-F5344CB8AC3E}">
        <p14:creationId xmlns:p14="http://schemas.microsoft.com/office/powerpoint/2010/main" val="478047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oogle Shape;154;p18"/>
          <p:cNvGraphicFramePr/>
          <p:nvPr/>
        </p:nvGraphicFramePr>
        <p:xfrm>
          <a:off x="1629651" y="2861916"/>
          <a:ext cx="3622445" cy="2690254"/>
        </p:xfrm>
        <a:graphic>
          <a:graphicData uri="http://schemas.openxmlformats.org/drawingml/2006/table">
            <a:tbl>
              <a:tblPr firstRow="1" bandRow="1">
                <a:noFill/>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4" name="Right Arrow 3"/>
          <p:cNvSpPr/>
          <p:nvPr/>
        </p:nvSpPr>
        <p:spPr>
          <a:xfrm>
            <a:off x="5811233" y="2941197"/>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oogle Shape;154;p18"/>
          <p:cNvGraphicFramePr/>
          <p:nvPr/>
        </p:nvGraphicFramePr>
        <p:xfrm>
          <a:off x="7218468" y="2552806"/>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951213" y="686765"/>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8"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9" name="Google Shape;154;p18"/>
          <p:cNvGraphicFramePr/>
          <p:nvPr/>
        </p:nvGraphicFramePr>
        <p:xfrm>
          <a:off x="7510605" y="3129289"/>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bl>
          </a:graphicData>
        </a:graphic>
      </p:graphicFrame>
      <p:graphicFrame>
        <p:nvGraphicFramePr>
          <p:cNvPr id="10" name="Google Shape;154;p18"/>
          <p:cNvGraphicFramePr/>
          <p:nvPr/>
        </p:nvGraphicFramePr>
        <p:xfrm>
          <a:off x="7802743" y="3705772"/>
          <a:ext cx="3622445" cy="1152966"/>
        </p:xfrm>
        <a:graphic>
          <a:graphicData uri="http://schemas.openxmlformats.org/drawingml/2006/table">
            <a:tbl>
              <a:tblPr firstRow="1" bandRow="1">
                <a:noFill/>
                <a:effectLst>
                  <a:outerShdw blurRad="50800" dist="533400" dir="2700000" algn="tl" rotWithShape="0">
                    <a:prstClr val="black">
                      <a:alpha val="40000"/>
                    </a:prstClr>
                  </a:outerShdw>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gridCol w="1220498">
                  <a:extLst>
                    <a:ext uri="{9D8B030D-6E8A-4147-A177-3AD203B41FA5}">
                      <a16:colId xmlns:a16="http://schemas.microsoft.com/office/drawing/2014/main" val="20003"/>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6099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72054" y="712657"/>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3241040" y="2796189"/>
            <a:ext cx="5516880" cy="1265621"/>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3334875" y="2854532"/>
            <a:ext cx="8424455" cy="1077218"/>
          </a:xfrm>
          <a:prstGeom prst="rect">
            <a:avLst/>
          </a:prstGeom>
        </p:spPr>
        <p:txBody>
          <a:bodyPr wrap="square">
            <a:spAutoFit/>
          </a:bodyPr>
          <a:lstStyle/>
          <a:p>
            <a:r>
              <a:rPr lang="en-US" sz="3200" dirty="0" err="1">
                <a:latin typeface="Consolas" panose="020B0609020204030204" pitchFamily="49" charset="0"/>
                <a:ea typeface="Courier New"/>
                <a:cs typeface="Consolas" panose="020B0609020204030204" pitchFamily="49" charset="0"/>
                <a:sym typeface="Courier New"/>
              </a:rPr>
              <a:t>dataframe</a:t>
            </a:r>
            <a:r>
              <a:rPr lang="en-US" sz="3200" dirty="0">
                <a:latin typeface="Consolas" panose="020B0609020204030204" pitchFamily="49" charset="0"/>
                <a:ea typeface="Courier New"/>
                <a:cs typeface="Consolas" panose="020B0609020204030204" pitchFamily="49" charset="0"/>
                <a:sym typeface="Courier New"/>
              </a:rPr>
              <a:t>|&gt;</a:t>
            </a: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a:solidFill>
                  <a:srgbClr val="538DD5"/>
                </a:solidFill>
                <a:latin typeface="Consolas" panose="020B0609020204030204" pitchFamily="49" charset="0"/>
                <a:ea typeface="Courier New"/>
                <a:cs typeface="Consolas" panose="020B0609020204030204" pitchFamily="49" charset="0"/>
                <a:sym typeface="Courier New"/>
              </a:rPr>
              <a:t>variable</a:t>
            </a:r>
            <a:r>
              <a:rPr lang="en-US" sz="3200" dirty="0">
                <a:latin typeface="Consolas" panose="020B0609020204030204" pitchFamily="49" charset="0"/>
                <a:ea typeface="Courier New"/>
                <a:cs typeface="Consolas" panose="020B0609020204030204" pitchFamily="49" charset="0"/>
                <a:sym typeface="Courier New"/>
              </a:rPr>
              <a:t>)</a:t>
            </a:r>
            <a:endParaRPr lang="en-US" dirty="0"/>
          </a:p>
        </p:txBody>
      </p:sp>
      <p:sp>
        <p:nvSpPr>
          <p:cNvPr id="8" name="Google Shape;137;p17"/>
          <p:cNvSpPr/>
          <p:nvPr/>
        </p:nvSpPr>
        <p:spPr>
          <a:xfrm>
            <a:off x="4630466" y="3924704"/>
            <a:ext cx="3135583" cy="2033420"/>
          </a:xfrm>
          <a:custGeom>
            <a:avLst/>
            <a:gdLst>
              <a:gd name="connsiteX0" fmla="*/ 0 w 2183801"/>
              <a:gd name="connsiteY0" fmla="*/ 263730 h 1582350"/>
              <a:gd name="connsiteX1" fmla="*/ 263730 w 2183801"/>
              <a:gd name="connsiteY1" fmla="*/ 0 h 1582350"/>
              <a:gd name="connsiteX2" fmla="*/ 363967 w 2183801"/>
              <a:gd name="connsiteY2" fmla="*/ 0 h 1582350"/>
              <a:gd name="connsiteX3" fmla="*/ 27341 w 2183801"/>
              <a:gd name="connsiteY3" fmla="*/ -668416 h 1582350"/>
              <a:gd name="connsiteX4" fmla="*/ 909917 w 2183801"/>
              <a:gd name="connsiteY4" fmla="*/ 0 h 1582350"/>
              <a:gd name="connsiteX5" fmla="*/ 1920071 w 2183801"/>
              <a:gd name="connsiteY5" fmla="*/ 0 h 1582350"/>
              <a:gd name="connsiteX6" fmla="*/ 2183801 w 2183801"/>
              <a:gd name="connsiteY6" fmla="*/ 263730 h 1582350"/>
              <a:gd name="connsiteX7" fmla="*/ 2183801 w 2183801"/>
              <a:gd name="connsiteY7" fmla="*/ 263725 h 1582350"/>
              <a:gd name="connsiteX8" fmla="*/ 2183801 w 2183801"/>
              <a:gd name="connsiteY8" fmla="*/ 263725 h 1582350"/>
              <a:gd name="connsiteX9" fmla="*/ 2183801 w 2183801"/>
              <a:gd name="connsiteY9" fmla="*/ 659313 h 1582350"/>
              <a:gd name="connsiteX10" fmla="*/ 2183801 w 2183801"/>
              <a:gd name="connsiteY10" fmla="*/ 1318620 h 1582350"/>
              <a:gd name="connsiteX11" fmla="*/ 1920071 w 2183801"/>
              <a:gd name="connsiteY11" fmla="*/ 1582350 h 1582350"/>
              <a:gd name="connsiteX12" fmla="*/ 909917 w 2183801"/>
              <a:gd name="connsiteY12" fmla="*/ 1582350 h 1582350"/>
              <a:gd name="connsiteX13" fmla="*/ 363967 w 2183801"/>
              <a:gd name="connsiteY13" fmla="*/ 1582350 h 1582350"/>
              <a:gd name="connsiteX14" fmla="*/ 363967 w 2183801"/>
              <a:gd name="connsiteY14" fmla="*/ 1582350 h 1582350"/>
              <a:gd name="connsiteX15" fmla="*/ 263730 w 2183801"/>
              <a:gd name="connsiteY15" fmla="*/ 1582350 h 1582350"/>
              <a:gd name="connsiteX16" fmla="*/ 0 w 2183801"/>
              <a:gd name="connsiteY16" fmla="*/ 1318620 h 1582350"/>
              <a:gd name="connsiteX17" fmla="*/ 0 w 2183801"/>
              <a:gd name="connsiteY17" fmla="*/ 659313 h 1582350"/>
              <a:gd name="connsiteX18" fmla="*/ 0 w 2183801"/>
              <a:gd name="connsiteY18" fmla="*/ 263725 h 1582350"/>
              <a:gd name="connsiteX19" fmla="*/ 0 w 2183801"/>
              <a:gd name="connsiteY19" fmla="*/ 263725 h 1582350"/>
              <a:gd name="connsiteX20" fmla="*/ 0 w 2183801"/>
              <a:gd name="connsiteY20" fmla="*/ 263730 h 1582350"/>
              <a:gd name="connsiteX0" fmla="*/ 0 w 2183801"/>
              <a:gd name="connsiteY0" fmla="*/ 932146 h 2250766"/>
              <a:gd name="connsiteX1" fmla="*/ 263730 w 2183801"/>
              <a:gd name="connsiteY1" fmla="*/ 668416 h 2250766"/>
              <a:gd name="connsiteX2" fmla="*/ 536687 w 2183801"/>
              <a:gd name="connsiteY2" fmla="*/ 668416 h 2250766"/>
              <a:gd name="connsiteX3" fmla="*/ 27341 w 2183801"/>
              <a:gd name="connsiteY3" fmla="*/ 0 h 2250766"/>
              <a:gd name="connsiteX4" fmla="*/ 909917 w 2183801"/>
              <a:gd name="connsiteY4" fmla="*/ 668416 h 2250766"/>
              <a:gd name="connsiteX5" fmla="*/ 1920071 w 2183801"/>
              <a:gd name="connsiteY5" fmla="*/ 668416 h 2250766"/>
              <a:gd name="connsiteX6" fmla="*/ 2183801 w 2183801"/>
              <a:gd name="connsiteY6" fmla="*/ 932146 h 2250766"/>
              <a:gd name="connsiteX7" fmla="*/ 2183801 w 2183801"/>
              <a:gd name="connsiteY7" fmla="*/ 932141 h 2250766"/>
              <a:gd name="connsiteX8" fmla="*/ 2183801 w 2183801"/>
              <a:gd name="connsiteY8" fmla="*/ 932141 h 2250766"/>
              <a:gd name="connsiteX9" fmla="*/ 2183801 w 2183801"/>
              <a:gd name="connsiteY9" fmla="*/ 1327729 h 2250766"/>
              <a:gd name="connsiteX10" fmla="*/ 2183801 w 2183801"/>
              <a:gd name="connsiteY10" fmla="*/ 1987036 h 2250766"/>
              <a:gd name="connsiteX11" fmla="*/ 1920071 w 2183801"/>
              <a:gd name="connsiteY11" fmla="*/ 2250766 h 2250766"/>
              <a:gd name="connsiteX12" fmla="*/ 909917 w 2183801"/>
              <a:gd name="connsiteY12" fmla="*/ 2250766 h 2250766"/>
              <a:gd name="connsiteX13" fmla="*/ 363967 w 2183801"/>
              <a:gd name="connsiteY13" fmla="*/ 2250766 h 2250766"/>
              <a:gd name="connsiteX14" fmla="*/ 363967 w 2183801"/>
              <a:gd name="connsiteY14" fmla="*/ 2250766 h 2250766"/>
              <a:gd name="connsiteX15" fmla="*/ 263730 w 2183801"/>
              <a:gd name="connsiteY15" fmla="*/ 2250766 h 2250766"/>
              <a:gd name="connsiteX16" fmla="*/ 0 w 2183801"/>
              <a:gd name="connsiteY16" fmla="*/ 1987036 h 2250766"/>
              <a:gd name="connsiteX17" fmla="*/ 0 w 2183801"/>
              <a:gd name="connsiteY17" fmla="*/ 1327729 h 2250766"/>
              <a:gd name="connsiteX18" fmla="*/ 0 w 2183801"/>
              <a:gd name="connsiteY18" fmla="*/ 932141 h 2250766"/>
              <a:gd name="connsiteX19" fmla="*/ 0 w 2183801"/>
              <a:gd name="connsiteY19" fmla="*/ 932141 h 2250766"/>
              <a:gd name="connsiteX20" fmla="*/ 0 w 2183801"/>
              <a:gd name="connsiteY20" fmla="*/ 932146 h 2250766"/>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909917 w 2423251"/>
              <a:gd name="connsiteY4" fmla="*/ 690730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536687 w 2423251"/>
              <a:gd name="connsiteY2" fmla="*/ 690730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423251"/>
              <a:gd name="connsiteY0" fmla="*/ 954460 h 2273080"/>
              <a:gd name="connsiteX1" fmla="*/ 263730 w 2423251"/>
              <a:gd name="connsiteY1" fmla="*/ 690730 h 2273080"/>
              <a:gd name="connsiteX2" fmla="*/ 1209057 w 2423251"/>
              <a:gd name="connsiteY2" fmla="*/ 668416 h 2273080"/>
              <a:gd name="connsiteX3" fmla="*/ 2423251 w 2423251"/>
              <a:gd name="connsiteY3" fmla="*/ 0 h 2273080"/>
              <a:gd name="connsiteX4" fmla="*/ 1478117 w 2423251"/>
              <a:gd name="connsiteY4" fmla="*/ 701888 h 2273080"/>
              <a:gd name="connsiteX5" fmla="*/ 1920071 w 2423251"/>
              <a:gd name="connsiteY5" fmla="*/ 690730 h 2273080"/>
              <a:gd name="connsiteX6" fmla="*/ 2183801 w 2423251"/>
              <a:gd name="connsiteY6" fmla="*/ 954460 h 2273080"/>
              <a:gd name="connsiteX7" fmla="*/ 2183801 w 2423251"/>
              <a:gd name="connsiteY7" fmla="*/ 954455 h 2273080"/>
              <a:gd name="connsiteX8" fmla="*/ 2183801 w 2423251"/>
              <a:gd name="connsiteY8" fmla="*/ 954455 h 2273080"/>
              <a:gd name="connsiteX9" fmla="*/ 2183801 w 2423251"/>
              <a:gd name="connsiteY9" fmla="*/ 1350043 h 2273080"/>
              <a:gd name="connsiteX10" fmla="*/ 2183801 w 2423251"/>
              <a:gd name="connsiteY10" fmla="*/ 2009350 h 2273080"/>
              <a:gd name="connsiteX11" fmla="*/ 1920071 w 2423251"/>
              <a:gd name="connsiteY11" fmla="*/ 2273080 h 2273080"/>
              <a:gd name="connsiteX12" fmla="*/ 909917 w 2423251"/>
              <a:gd name="connsiteY12" fmla="*/ 2273080 h 2273080"/>
              <a:gd name="connsiteX13" fmla="*/ 363967 w 2423251"/>
              <a:gd name="connsiteY13" fmla="*/ 2273080 h 2273080"/>
              <a:gd name="connsiteX14" fmla="*/ 363967 w 2423251"/>
              <a:gd name="connsiteY14" fmla="*/ 2273080 h 2273080"/>
              <a:gd name="connsiteX15" fmla="*/ 263730 w 2423251"/>
              <a:gd name="connsiteY15" fmla="*/ 2273080 h 2273080"/>
              <a:gd name="connsiteX16" fmla="*/ 0 w 2423251"/>
              <a:gd name="connsiteY16" fmla="*/ 2009350 h 2273080"/>
              <a:gd name="connsiteX17" fmla="*/ 0 w 2423251"/>
              <a:gd name="connsiteY17" fmla="*/ 1350043 h 2273080"/>
              <a:gd name="connsiteX18" fmla="*/ 0 w 2423251"/>
              <a:gd name="connsiteY18" fmla="*/ 954455 h 2273080"/>
              <a:gd name="connsiteX19" fmla="*/ 0 w 2423251"/>
              <a:gd name="connsiteY19" fmla="*/ 954455 h 2273080"/>
              <a:gd name="connsiteX20" fmla="*/ 0 w 2423251"/>
              <a:gd name="connsiteY20" fmla="*/ 954460 h 2273080"/>
              <a:gd name="connsiteX0" fmla="*/ 0 w 2183801"/>
              <a:gd name="connsiteY0" fmla="*/ 1046506 h 2365126"/>
              <a:gd name="connsiteX1" fmla="*/ 263730 w 2183801"/>
              <a:gd name="connsiteY1" fmla="*/ 782776 h 2365126"/>
              <a:gd name="connsiteX2" fmla="*/ 1209057 w 2183801"/>
              <a:gd name="connsiteY2" fmla="*/ 760462 h 2365126"/>
              <a:gd name="connsiteX3" fmla="*/ 1961588 w 2183801"/>
              <a:gd name="connsiteY3" fmla="*/ 0 h 2365126"/>
              <a:gd name="connsiteX4" fmla="*/ 1478117 w 2183801"/>
              <a:gd name="connsiteY4" fmla="*/ 793934 h 2365126"/>
              <a:gd name="connsiteX5" fmla="*/ 1920071 w 2183801"/>
              <a:gd name="connsiteY5" fmla="*/ 782776 h 2365126"/>
              <a:gd name="connsiteX6" fmla="*/ 2183801 w 2183801"/>
              <a:gd name="connsiteY6" fmla="*/ 1046506 h 2365126"/>
              <a:gd name="connsiteX7" fmla="*/ 2183801 w 2183801"/>
              <a:gd name="connsiteY7" fmla="*/ 1046501 h 2365126"/>
              <a:gd name="connsiteX8" fmla="*/ 2183801 w 2183801"/>
              <a:gd name="connsiteY8" fmla="*/ 1046501 h 2365126"/>
              <a:gd name="connsiteX9" fmla="*/ 2183801 w 2183801"/>
              <a:gd name="connsiteY9" fmla="*/ 1442089 h 2365126"/>
              <a:gd name="connsiteX10" fmla="*/ 2183801 w 2183801"/>
              <a:gd name="connsiteY10" fmla="*/ 2101396 h 2365126"/>
              <a:gd name="connsiteX11" fmla="*/ 1920071 w 2183801"/>
              <a:gd name="connsiteY11" fmla="*/ 2365126 h 2365126"/>
              <a:gd name="connsiteX12" fmla="*/ 909917 w 2183801"/>
              <a:gd name="connsiteY12" fmla="*/ 2365126 h 2365126"/>
              <a:gd name="connsiteX13" fmla="*/ 363967 w 2183801"/>
              <a:gd name="connsiteY13" fmla="*/ 2365126 h 2365126"/>
              <a:gd name="connsiteX14" fmla="*/ 363967 w 2183801"/>
              <a:gd name="connsiteY14" fmla="*/ 2365126 h 2365126"/>
              <a:gd name="connsiteX15" fmla="*/ 263730 w 2183801"/>
              <a:gd name="connsiteY15" fmla="*/ 2365126 h 2365126"/>
              <a:gd name="connsiteX16" fmla="*/ 0 w 2183801"/>
              <a:gd name="connsiteY16" fmla="*/ 2101396 h 2365126"/>
              <a:gd name="connsiteX17" fmla="*/ 0 w 2183801"/>
              <a:gd name="connsiteY17" fmla="*/ 1442089 h 2365126"/>
              <a:gd name="connsiteX18" fmla="*/ 0 w 2183801"/>
              <a:gd name="connsiteY18" fmla="*/ 1046501 h 2365126"/>
              <a:gd name="connsiteX19" fmla="*/ 0 w 2183801"/>
              <a:gd name="connsiteY19" fmla="*/ 1046501 h 2365126"/>
              <a:gd name="connsiteX20" fmla="*/ 0 w 2183801"/>
              <a:gd name="connsiteY20" fmla="*/ 1046506 h 2365126"/>
              <a:gd name="connsiteX0" fmla="*/ 0 w 2183801"/>
              <a:gd name="connsiteY0" fmla="*/ 1129596 h 2448216"/>
              <a:gd name="connsiteX1" fmla="*/ 263730 w 2183801"/>
              <a:gd name="connsiteY1" fmla="*/ 865866 h 2448216"/>
              <a:gd name="connsiteX2" fmla="*/ 1209057 w 2183801"/>
              <a:gd name="connsiteY2" fmla="*/ 843552 h 2448216"/>
              <a:gd name="connsiteX3" fmla="*/ 1806423 w 2183801"/>
              <a:gd name="connsiteY3" fmla="*/ 0 h 2448216"/>
              <a:gd name="connsiteX4" fmla="*/ 1478117 w 2183801"/>
              <a:gd name="connsiteY4" fmla="*/ 877024 h 2448216"/>
              <a:gd name="connsiteX5" fmla="*/ 1920071 w 2183801"/>
              <a:gd name="connsiteY5" fmla="*/ 865866 h 2448216"/>
              <a:gd name="connsiteX6" fmla="*/ 2183801 w 2183801"/>
              <a:gd name="connsiteY6" fmla="*/ 1129596 h 2448216"/>
              <a:gd name="connsiteX7" fmla="*/ 2183801 w 2183801"/>
              <a:gd name="connsiteY7" fmla="*/ 1129591 h 2448216"/>
              <a:gd name="connsiteX8" fmla="*/ 2183801 w 2183801"/>
              <a:gd name="connsiteY8" fmla="*/ 1129591 h 2448216"/>
              <a:gd name="connsiteX9" fmla="*/ 2183801 w 2183801"/>
              <a:gd name="connsiteY9" fmla="*/ 1525179 h 2448216"/>
              <a:gd name="connsiteX10" fmla="*/ 2183801 w 2183801"/>
              <a:gd name="connsiteY10" fmla="*/ 2184486 h 2448216"/>
              <a:gd name="connsiteX11" fmla="*/ 1920071 w 2183801"/>
              <a:gd name="connsiteY11" fmla="*/ 2448216 h 2448216"/>
              <a:gd name="connsiteX12" fmla="*/ 909917 w 2183801"/>
              <a:gd name="connsiteY12" fmla="*/ 2448216 h 2448216"/>
              <a:gd name="connsiteX13" fmla="*/ 363967 w 2183801"/>
              <a:gd name="connsiteY13" fmla="*/ 2448216 h 2448216"/>
              <a:gd name="connsiteX14" fmla="*/ 363967 w 2183801"/>
              <a:gd name="connsiteY14" fmla="*/ 2448216 h 2448216"/>
              <a:gd name="connsiteX15" fmla="*/ 263730 w 2183801"/>
              <a:gd name="connsiteY15" fmla="*/ 2448216 h 2448216"/>
              <a:gd name="connsiteX16" fmla="*/ 0 w 2183801"/>
              <a:gd name="connsiteY16" fmla="*/ 2184486 h 2448216"/>
              <a:gd name="connsiteX17" fmla="*/ 0 w 2183801"/>
              <a:gd name="connsiteY17" fmla="*/ 1525179 h 2448216"/>
              <a:gd name="connsiteX18" fmla="*/ 0 w 2183801"/>
              <a:gd name="connsiteY18" fmla="*/ 1129591 h 2448216"/>
              <a:gd name="connsiteX19" fmla="*/ 0 w 2183801"/>
              <a:gd name="connsiteY19" fmla="*/ 1129591 h 2448216"/>
              <a:gd name="connsiteX20" fmla="*/ 0 w 2183801"/>
              <a:gd name="connsiteY20" fmla="*/ 1129596 h 24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83801" h="2448216">
                <a:moveTo>
                  <a:pt x="0" y="1129596"/>
                </a:moveTo>
                <a:cubicBezTo>
                  <a:pt x="0" y="983942"/>
                  <a:pt x="118076" y="865866"/>
                  <a:pt x="263730" y="865866"/>
                </a:cubicBezTo>
                <a:lnTo>
                  <a:pt x="1209057" y="843552"/>
                </a:lnTo>
                <a:lnTo>
                  <a:pt x="1806423" y="0"/>
                </a:lnTo>
                <a:lnTo>
                  <a:pt x="1478117" y="877024"/>
                </a:lnTo>
                <a:lnTo>
                  <a:pt x="1920071" y="865866"/>
                </a:lnTo>
                <a:cubicBezTo>
                  <a:pt x="2065725" y="865866"/>
                  <a:pt x="2183801" y="983942"/>
                  <a:pt x="2183801" y="1129596"/>
                </a:cubicBezTo>
                <a:lnTo>
                  <a:pt x="2183801" y="1129591"/>
                </a:lnTo>
                <a:lnTo>
                  <a:pt x="2183801" y="1129591"/>
                </a:lnTo>
                <a:lnTo>
                  <a:pt x="2183801" y="1525179"/>
                </a:lnTo>
                <a:lnTo>
                  <a:pt x="2183801" y="2184486"/>
                </a:lnTo>
                <a:cubicBezTo>
                  <a:pt x="2183801" y="2330140"/>
                  <a:pt x="2065725" y="2448216"/>
                  <a:pt x="1920071" y="2448216"/>
                </a:cubicBezTo>
                <a:lnTo>
                  <a:pt x="909917" y="2448216"/>
                </a:lnTo>
                <a:lnTo>
                  <a:pt x="363967" y="2448216"/>
                </a:lnTo>
                <a:lnTo>
                  <a:pt x="363967" y="2448216"/>
                </a:lnTo>
                <a:lnTo>
                  <a:pt x="263730" y="2448216"/>
                </a:lnTo>
                <a:cubicBezTo>
                  <a:pt x="118076" y="2448216"/>
                  <a:pt x="0" y="2330140"/>
                  <a:pt x="0" y="2184486"/>
                </a:cubicBezTo>
                <a:lnTo>
                  <a:pt x="0" y="1525179"/>
                </a:lnTo>
                <a:lnTo>
                  <a:pt x="0" y="1129591"/>
                </a:lnTo>
                <a:lnTo>
                  <a:pt x="0" y="1129591"/>
                </a:lnTo>
                <a:lnTo>
                  <a:pt x="0" y="1129596"/>
                </a:lnTo>
                <a:close/>
              </a:path>
            </a:pathLst>
          </a:custGeom>
          <a:solidFill>
            <a:srgbClr val="78AAD6"/>
          </a:solidFill>
          <a:ln>
            <a:noFill/>
          </a:ln>
        </p:spPr>
        <p:txBody>
          <a:bodyPr spcFirstLastPara="1" wrap="square" lIns="0" tIns="0" rIns="0" bIns="0" anchor="t" anchorCtr="0">
            <a:noAutofit/>
          </a:bodyPr>
          <a:lstStyle/>
          <a:p>
            <a:endParaRPr sz="964"/>
          </a:p>
        </p:txBody>
      </p:sp>
      <p:sp>
        <p:nvSpPr>
          <p:cNvPr id="9" name="Google Shape;138;p17"/>
          <p:cNvSpPr txBox="1"/>
          <p:nvPr/>
        </p:nvSpPr>
        <p:spPr>
          <a:xfrm>
            <a:off x="4785563" y="4814314"/>
            <a:ext cx="2913812"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name of variable to group by</a:t>
            </a:r>
            <a:endParaRPr sz="2800" dirty="0">
              <a:latin typeface="Trebuchet MS"/>
              <a:ea typeface="Trebuchet MS"/>
              <a:cs typeface="Trebuchet MS"/>
              <a:sym typeface="Trebuchet MS"/>
            </a:endParaRPr>
          </a:p>
        </p:txBody>
      </p:sp>
      <p:sp>
        <p:nvSpPr>
          <p:cNvPr id="13" name="Google Shape;296;p32"/>
          <p:cNvSpPr txBox="1"/>
          <p:nvPr/>
        </p:nvSpPr>
        <p:spPr>
          <a:xfrm>
            <a:off x="1072054" y="2075342"/>
            <a:ext cx="1076259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Grouping observations based on a specific </a:t>
            </a:r>
            <a:r>
              <a:rPr lang="en-US" sz="3200" i="1" dirty="0">
                <a:solidFill>
                  <a:srgbClr val="0070C0"/>
                </a:solidFill>
                <a:latin typeface="Calibri"/>
                <a:ea typeface="Calibri"/>
                <a:cs typeface="Calibri"/>
                <a:sym typeface="Calibri"/>
              </a:rPr>
              <a:t>variable</a:t>
            </a:r>
            <a:r>
              <a:rPr lang="en-US" sz="3200" i="1" dirty="0">
                <a:latin typeface="Calibri"/>
                <a:ea typeface="Calibri"/>
                <a:cs typeface="Calibri"/>
                <a:sym typeface="Calibri"/>
              </a:rPr>
              <a:t>’s values</a:t>
            </a:r>
            <a:endParaRPr sz="3200" i="1" dirty="0">
              <a:latin typeface="Calibri"/>
              <a:ea typeface="Calibri"/>
              <a:cs typeface="Calibri"/>
              <a:sym typeface="Calibri"/>
            </a:endParaRPr>
          </a:p>
        </p:txBody>
      </p:sp>
      <p:sp>
        <p:nvSpPr>
          <p:cNvPr id="10"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Tree>
    <p:extLst>
      <p:ext uri="{BB962C8B-B14F-4D97-AF65-F5344CB8AC3E}">
        <p14:creationId xmlns:p14="http://schemas.microsoft.com/office/powerpoint/2010/main" val="192450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FE89AA37-2E4D-D993-A62A-E2574C806D11}"/>
              </a:ext>
            </a:extLst>
          </p:cNvPr>
          <p:cNvPicPr>
            <a:picLocks noChangeAspect="1"/>
          </p:cNvPicPr>
          <p:nvPr/>
        </p:nvPicPr>
        <p:blipFill>
          <a:blip r:embed="rId3"/>
          <a:stretch>
            <a:fillRect/>
          </a:stretch>
        </p:blipFill>
        <p:spPr>
          <a:xfrm>
            <a:off x="2531279" y="3770024"/>
            <a:ext cx="6887041" cy="2891044"/>
          </a:xfrm>
          <a:prstGeom prst="rect">
            <a:avLst/>
          </a:prstGeom>
        </p:spPr>
      </p:pic>
      <p:sp>
        <p:nvSpPr>
          <p:cNvPr id="4" name="TextBox 3"/>
          <p:cNvSpPr txBox="1"/>
          <p:nvPr/>
        </p:nvSpPr>
        <p:spPr>
          <a:xfrm>
            <a:off x="880759" y="742329"/>
            <a:ext cx="2628989" cy="923330"/>
          </a:xfrm>
          <a:prstGeom prst="rect">
            <a:avLst/>
          </a:prstGeom>
          <a:noFill/>
        </p:spPr>
        <p:txBody>
          <a:bodyPr wrap="none" rtlCol="0">
            <a:spAutoFit/>
          </a:bodyPr>
          <a:lstStyle/>
          <a:p>
            <a:r>
              <a:rPr lang="en-US" sz="5400" dirty="0" err="1">
                <a:latin typeface="+mj-lt"/>
                <a:sym typeface="Calibri"/>
              </a:rPr>
              <a:t>group_by</a:t>
            </a:r>
            <a:r>
              <a:rPr lang="en-US" sz="5400" dirty="0">
                <a:latin typeface="Calibri"/>
                <a:sym typeface="Calibri"/>
              </a:rPr>
              <a:t>()</a:t>
            </a:r>
            <a:endParaRPr lang="en-US" dirty="0"/>
          </a:p>
        </p:txBody>
      </p:sp>
      <p:sp>
        <p:nvSpPr>
          <p:cNvPr id="5" name="Google Shape;131;p17"/>
          <p:cNvSpPr/>
          <p:nvPr/>
        </p:nvSpPr>
        <p:spPr>
          <a:xfrm>
            <a:off x="3291840" y="2427522"/>
            <a:ext cx="5638800" cy="1284159"/>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a:p>
        </p:txBody>
      </p:sp>
      <p:sp>
        <p:nvSpPr>
          <p:cNvPr id="6" name="Rectangle 5"/>
          <p:cNvSpPr/>
          <p:nvPr/>
        </p:nvSpPr>
        <p:spPr>
          <a:xfrm>
            <a:off x="3588875" y="2485865"/>
            <a:ext cx="5189365" cy="1077218"/>
          </a:xfrm>
          <a:prstGeom prst="rect">
            <a:avLst/>
          </a:prstGeom>
        </p:spPr>
        <p:txBody>
          <a:bodyPr wrap="square">
            <a:spAutoFit/>
          </a:bodyPr>
          <a:lstStyle/>
          <a:p>
            <a:r>
              <a:rPr lang="en-US" sz="3200" dirty="0">
                <a:latin typeface="Consolas" panose="020B0609020204030204" pitchFamily="49" charset="0"/>
                <a:ea typeface="Courier New"/>
                <a:cs typeface="Consolas" panose="020B0609020204030204" pitchFamily="49" charset="0"/>
                <a:sym typeface="Courier New"/>
              </a:rPr>
              <a:t>chem |&gt;</a:t>
            </a:r>
            <a:endParaRPr lang="en-US" sz="3200" dirty="0">
              <a:solidFill>
                <a:schemeClr val="bg2">
                  <a:lumMod val="90000"/>
                </a:schemeClr>
              </a:solidFill>
              <a:latin typeface="Consolas" panose="020B0609020204030204" pitchFamily="49" charset="0"/>
              <a:ea typeface="Courier New"/>
              <a:cs typeface="Consolas" panose="020B0609020204030204" pitchFamily="49" charset="0"/>
              <a:sym typeface="Courier New"/>
            </a:endParaRPr>
          </a:p>
          <a:p>
            <a:r>
              <a:rPr lang="en-US" sz="3200" dirty="0">
                <a:latin typeface="Consolas" panose="020B0609020204030204" pitchFamily="49" charset="0"/>
                <a:ea typeface="Courier New"/>
                <a:cs typeface="Consolas" panose="020B0609020204030204" pitchFamily="49" charset="0"/>
                <a:sym typeface="Courier New"/>
              </a:rPr>
              <a:t>	</a:t>
            </a:r>
            <a:r>
              <a:rPr lang="en-US" sz="3200" dirty="0" err="1">
                <a:latin typeface="Consolas" panose="020B0609020204030204" pitchFamily="49" charset="0"/>
                <a:ea typeface="Courier New"/>
                <a:cs typeface="Consolas" panose="020B0609020204030204" pitchFamily="49" charset="0"/>
                <a:sym typeface="Courier New"/>
              </a:rPr>
              <a:t>group_by</a:t>
            </a:r>
            <a:r>
              <a:rPr lang="en-US" sz="3200" dirty="0">
                <a:latin typeface="Consolas" panose="020B0609020204030204" pitchFamily="49" charset="0"/>
                <a:ea typeface="Courier New"/>
                <a:cs typeface="Consolas" panose="020B0609020204030204" pitchFamily="49" charset="0"/>
                <a:sym typeface="Courier New"/>
              </a:rPr>
              <a:t>(</a:t>
            </a:r>
            <a:r>
              <a:rPr lang="en-US" sz="3200" dirty="0" err="1">
                <a:solidFill>
                  <a:srgbClr val="538DD5"/>
                </a:solidFill>
                <a:latin typeface="Consolas" panose="020B0609020204030204" pitchFamily="49" charset="0"/>
                <a:ea typeface="Courier New"/>
                <a:cs typeface="Consolas" panose="020B0609020204030204" pitchFamily="49" charset="0"/>
                <a:sym typeface="Courier New"/>
              </a:rPr>
              <a:t>mrn</a:t>
            </a:r>
            <a:r>
              <a:rPr lang="en-US" sz="3200" dirty="0">
                <a:latin typeface="Consolas" panose="020B0609020204030204" pitchFamily="49" charset="0"/>
                <a:ea typeface="Courier New"/>
                <a:cs typeface="Consolas" panose="020B0609020204030204" pitchFamily="49" charset="0"/>
                <a:sym typeface="Courier New"/>
              </a:rPr>
              <a:t>)</a:t>
            </a:r>
            <a:endParaRPr lang="en-US" sz="800" dirty="0"/>
          </a:p>
        </p:txBody>
      </p:sp>
      <p:sp>
        <p:nvSpPr>
          <p:cNvPr id="13" name="Google Shape;296;p32"/>
          <p:cNvSpPr txBox="1"/>
          <p:nvPr/>
        </p:nvSpPr>
        <p:spPr>
          <a:xfrm>
            <a:off x="1100629" y="1684817"/>
            <a:ext cx="7335447" cy="502623"/>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3200" i="1" dirty="0">
                <a:latin typeface="Calibri"/>
                <a:ea typeface="Calibri"/>
                <a:cs typeface="Calibri"/>
                <a:sym typeface="Calibri"/>
              </a:rPr>
              <a:t>Group observations by </a:t>
            </a:r>
            <a:r>
              <a:rPr lang="en-US" sz="3200" i="1" dirty="0" err="1">
                <a:solidFill>
                  <a:srgbClr val="0070C0"/>
                </a:solidFill>
                <a:latin typeface="Calibri"/>
                <a:ea typeface="Calibri"/>
                <a:cs typeface="Calibri"/>
                <a:sym typeface="Calibri"/>
              </a:rPr>
              <a:t>pan_day</a:t>
            </a:r>
            <a:endParaRPr sz="3200" i="1" dirty="0">
              <a:solidFill>
                <a:srgbClr val="0070C0"/>
              </a:solidFill>
              <a:latin typeface="Calibri"/>
              <a:ea typeface="Calibri"/>
              <a:cs typeface="Calibri"/>
              <a:sym typeface="Calibri"/>
            </a:endParaRPr>
          </a:p>
        </p:txBody>
      </p:sp>
      <p:sp>
        <p:nvSpPr>
          <p:cNvPr id="11" name="Google Shape;46;p7"/>
          <p:cNvSpPr>
            <a:spLocks noChangeAspect="1"/>
          </p:cNvSpPr>
          <p:nvPr/>
        </p:nvSpPr>
        <p:spPr>
          <a:xfrm>
            <a:off x="11152671" y="5805616"/>
            <a:ext cx="776274" cy="83567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endParaRPr sz="964"/>
          </a:p>
        </p:txBody>
      </p:sp>
      <p:sp>
        <p:nvSpPr>
          <p:cNvPr id="14" name="Rounded Rectangle 13">
            <a:extLst>
              <a:ext uri="{FF2B5EF4-FFF2-40B4-BE49-F238E27FC236}">
                <a16:creationId xmlns:a16="http://schemas.microsoft.com/office/drawing/2014/main" id="{8D4421FF-4B94-2142-9F28-7551BEAB67CA}"/>
              </a:ext>
            </a:extLst>
          </p:cNvPr>
          <p:cNvSpPr/>
          <p:nvPr/>
        </p:nvSpPr>
        <p:spPr>
          <a:xfrm>
            <a:off x="4743450" y="4038056"/>
            <a:ext cx="1543050" cy="301213"/>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7" name="Google Shape;137;p17">
            <a:extLst>
              <a:ext uri="{FF2B5EF4-FFF2-40B4-BE49-F238E27FC236}">
                <a16:creationId xmlns:a16="http://schemas.microsoft.com/office/drawing/2014/main" id="{878C169E-9F1E-4F2C-86C2-8A95693B802E}"/>
              </a:ext>
            </a:extLst>
          </p:cNvPr>
          <p:cNvSpPr/>
          <p:nvPr/>
        </p:nvSpPr>
        <p:spPr>
          <a:xfrm>
            <a:off x="595110" y="4946057"/>
            <a:ext cx="2530995" cy="1557835"/>
          </a:xfrm>
          <a:prstGeom prst="wedgeRoundRectCallout">
            <a:avLst>
              <a:gd name="adj1" fmla="val 62427"/>
              <a:gd name="adj2" fmla="val -92068"/>
              <a:gd name="adj3" fmla="val 16667"/>
            </a:avLst>
          </a:prstGeom>
          <a:solidFill>
            <a:schemeClr val="accent2">
              <a:lumMod val="60000"/>
              <a:lumOff val="40000"/>
            </a:schemeClr>
          </a:solidFill>
          <a:ln>
            <a:noFill/>
          </a:ln>
        </p:spPr>
        <p:txBody>
          <a:bodyPr spcFirstLastPara="1" wrap="square" lIns="0" tIns="0" rIns="0" bIns="0" anchor="t" anchorCtr="0">
            <a:noAutofit/>
          </a:bodyPr>
          <a:lstStyle/>
          <a:p>
            <a:endParaRPr sz="964"/>
          </a:p>
        </p:txBody>
      </p:sp>
      <p:sp>
        <p:nvSpPr>
          <p:cNvPr id="8" name="Google Shape;138;p17">
            <a:extLst>
              <a:ext uri="{FF2B5EF4-FFF2-40B4-BE49-F238E27FC236}">
                <a16:creationId xmlns:a16="http://schemas.microsoft.com/office/drawing/2014/main" id="{1F77816A-F19A-E27B-0515-C640A941E716}"/>
              </a:ext>
            </a:extLst>
          </p:cNvPr>
          <p:cNvSpPr txBox="1"/>
          <p:nvPr/>
        </p:nvSpPr>
        <p:spPr>
          <a:xfrm>
            <a:off x="692887" y="5209900"/>
            <a:ext cx="2327721" cy="1143810"/>
          </a:xfrm>
          <a:prstGeom prst="rect">
            <a:avLst/>
          </a:prstGeom>
          <a:noFill/>
          <a:ln>
            <a:noFill/>
          </a:ln>
        </p:spPr>
        <p:txBody>
          <a:bodyPr spcFirstLastPara="1" wrap="square" lIns="0" tIns="32652" rIns="0" bIns="0" anchor="t" anchorCtr="0">
            <a:noAutofit/>
          </a:bodyPr>
          <a:lstStyle/>
          <a:p>
            <a:pPr marL="208524" marR="2721" indent="-202061" algn="ctr">
              <a:lnSpc>
                <a:spcPct val="113506"/>
              </a:lnSpc>
            </a:pPr>
            <a:r>
              <a:rPr lang="en-US" sz="2800" b="1" dirty="0">
                <a:solidFill>
                  <a:srgbClr val="FFFFFF"/>
                </a:solidFill>
                <a:latin typeface="Trebuchet MS"/>
                <a:ea typeface="Trebuchet MS"/>
                <a:cs typeface="Trebuchet MS"/>
                <a:sym typeface="Trebuchet MS"/>
              </a:rPr>
              <a:t>entire </a:t>
            </a:r>
            <a:r>
              <a:rPr lang="en-US" sz="2800" b="1" dirty="0" err="1">
                <a:solidFill>
                  <a:srgbClr val="FFFFFF"/>
                </a:solidFill>
                <a:latin typeface="Trebuchet MS"/>
                <a:ea typeface="Trebuchet MS"/>
                <a:cs typeface="Trebuchet MS"/>
                <a:sym typeface="Trebuchet MS"/>
              </a:rPr>
              <a:t>dataframe</a:t>
            </a:r>
            <a:endParaRPr sz="2800" dirty="0">
              <a:latin typeface="Trebuchet MS"/>
              <a:ea typeface="Trebuchet MS"/>
              <a:cs typeface="Trebuchet MS"/>
              <a:sym typeface="Trebuchet MS"/>
            </a:endParaRPr>
          </a:p>
        </p:txBody>
      </p:sp>
      <p:sp>
        <p:nvSpPr>
          <p:cNvPr id="9" name="Google Shape;172;p20">
            <a:extLst>
              <a:ext uri="{FF2B5EF4-FFF2-40B4-BE49-F238E27FC236}">
                <a16:creationId xmlns:a16="http://schemas.microsoft.com/office/drawing/2014/main" id="{0FB818E8-53E4-4DC1-06DA-7E08779FBB6D}"/>
              </a:ext>
            </a:extLst>
          </p:cNvPr>
          <p:cNvSpPr/>
          <p:nvPr/>
        </p:nvSpPr>
        <p:spPr>
          <a:xfrm>
            <a:off x="5694088" y="4487535"/>
            <a:ext cx="1977347" cy="2153752"/>
          </a:xfrm>
          <a:custGeom>
            <a:avLst/>
            <a:gdLst>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603384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66067 h 3683787"/>
              <a:gd name="connsiteX1" fmla="*/ 356337 w 7169284"/>
              <a:gd name="connsiteY1" fmla="*/ 1066067 h 3683787"/>
              <a:gd name="connsiteX2" fmla="*/ 307986 w 7169284"/>
              <a:gd name="connsiteY2" fmla="*/ 1069320 h 3683787"/>
              <a:gd name="connsiteX3" fmla="*/ 261611 w 7169284"/>
              <a:gd name="connsiteY3" fmla="*/ 1078796 h 3683787"/>
              <a:gd name="connsiteX4" fmla="*/ 217637 w 7169284"/>
              <a:gd name="connsiteY4" fmla="*/ 1094070 h 3683787"/>
              <a:gd name="connsiteX5" fmla="*/ 176489 w 7169284"/>
              <a:gd name="connsiteY5" fmla="*/ 1114718 h 3683787"/>
              <a:gd name="connsiteX6" fmla="*/ 138592 w 7169284"/>
              <a:gd name="connsiteY6" fmla="*/ 1140316 h 3683787"/>
              <a:gd name="connsiteX7" fmla="*/ 104371 w 7169284"/>
              <a:gd name="connsiteY7" fmla="*/ 1170438 h 3683787"/>
              <a:gd name="connsiteX8" fmla="*/ 74249 w 7169284"/>
              <a:gd name="connsiteY8" fmla="*/ 1204659 h 3683787"/>
              <a:gd name="connsiteX9" fmla="*/ 48651 w 7169284"/>
              <a:gd name="connsiteY9" fmla="*/ 1242556 h 3683787"/>
              <a:gd name="connsiteX10" fmla="*/ 28003 w 7169284"/>
              <a:gd name="connsiteY10" fmla="*/ 1283704 h 3683787"/>
              <a:gd name="connsiteX11" fmla="*/ 12729 w 7169284"/>
              <a:gd name="connsiteY11" fmla="*/ 1327678 h 3683787"/>
              <a:gd name="connsiteX12" fmla="*/ 3253 w 7169284"/>
              <a:gd name="connsiteY12" fmla="*/ 1374053 h 3683787"/>
              <a:gd name="connsiteX13" fmla="*/ 0 w 7169284"/>
              <a:gd name="connsiteY13" fmla="*/ 1422404 h 3683787"/>
              <a:gd name="connsiteX14" fmla="*/ 0 w 7169284"/>
              <a:gd name="connsiteY14" fmla="*/ 3327451 h 3683787"/>
              <a:gd name="connsiteX15" fmla="*/ 3253 w 7169284"/>
              <a:gd name="connsiteY15" fmla="*/ 3375803 h 3683787"/>
              <a:gd name="connsiteX16" fmla="*/ 12729 w 7169284"/>
              <a:gd name="connsiteY16" fmla="*/ 3422178 h 3683787"/>
              <a:gd name="connsiteX17" fmla="*/ 28003 w 7169284"/>
              <a:gd name="connsiteY17" fmla="*/ 3466151 h 3683787"/>
              <a:gd name="connsiteX18" fmla="*/ 48651 w 7169284"/>
              <a:gd name="connsiteY18" fmla="*/ 3507299 h 3683787"/>
              <a:gd name="connsiteX19" fmla="*/ 74249 w 7169284"/>
              <a:gd name="connsiteY19" fmla="*/ 3545196 h 3683787"/>
              <a:gd name="connsiteX20" fmla="*/ 104371 w 7169284"/>
              <a:gd name="connsiteY20" fmla="*/ 3579417 h 3683787"/>
              <a:gd name="connsiteX21" fmla="*/ 138592 w 7169284"/>
              <a:gd name="connsiteY21" fmla="*/ 3609539 h 3683787"/>
              <a:gd name="connsiteX22" fmla="*/ 176489 w 7169284"/>
              <a:gd name="connsiteY22" fmla="*/ 3635136 h 3683787"/>
              <a:gd name="connsiteX23" fmla="*/ 217637 w 7169284"/>
              <a:gd name="connsiteY23" fmla="*/ 3655784 h 3683787"/>
              <a:gd name="connsiteX24" fmla="*/ 261611 w 7169284"/>
              <a:gd name="connsiteY24" fmla="*/ 3671059 h 3683787"/>
              <a:gd name="connsiteX25" fmla="*/ 307986 w 7169284"/>
              <a:gd name="connsiteY25" fmla="*/ 3680535 h 3683787"/>
              <a:gd name="connsiteX26" fmla="*/ 356337 w 7169284"/>
              <a:gd name="connsiteY26" fmla="*/ 3683788 h 3683787"/>
              <a:gd name="connsiteX27" fmla="*/ 6812950 w 7169284"/>
              <a:gd name="connsiteY27" fmla="*/ 3683788 h 3683787"/>
              <a:gd name="connsiteX28" fmla="*/ 6861301 w 7169284"/>
              <a:gd name="connsiteY28" fmla="*/ 3680535 h 3683787"/>
              <a:gd name="connsiteX29" fmla="*/ 6907675 w 7169284"/>
              <a:gd name="connsiteY29" fmla="*/ 3671059 h 3683787"/>
              <a:gd name="connsiteX30" fmla="*/ 6951648 w 7169284"/>
              <a:gd name="connsiteY30" fmla="*/ 3655784 h 3683787"/>
              <a:gd name="connsiteX31" fmla="*/ 6992795 w 7169284"/>
              <a:gd name="connsiteY31" fmla="*/ 3635136 h 3683787"/>
              <a:gd name="connsiteX32" fmla="*/ 7030692 w 7169284"/>
              <a:gd name="connsiteY32" fmla="*/ 3609539 h 3683787"/>
              <a:gd name="connsiteX33" fmla="*/ 7064914 w 7169284"/>
              <a:gd name="connsiteY33" fmla="*/ 3579417 h 3683787"/>
              <a:gd name="connsiteX34" fmla="*/ 7095036 w 7169284"/>
              <a:gd name="connsiteY34" fmla="*/ 3545196 h 3683787"/>
              <a:gd name="connsiteX35" fmla="*/ 7120633 w 7169284"/>
              <a:gd name="connsiteY35" fmla="*/ 3507299 h 3683787"/>
              <a:gd name="connsiteX36" fmla="*/ 7141281 w 7169284"/>
              <a:gd name="connsiteY36" fmla="*/ 3466151 h 3683787"/>
              <a:gd name="connsiteX37" fmla="*/ 7156556 w 7169284"/>
              <a:gd name="connsiteY37" fmla="*/ 3422178 h 3683787"/>
              <a:gd name="connsiteX38" fmla="*/ 7166032 w 7169284"/>
              <a:gd name="connsiteY38" fmla="*/ 3375803 h 3683787"/>
              <a:gd name="connsiteX39" fmla="*/ 7169285 w 7169284"/>
              <a:gd name="connsiteY39" fmla="*/ 3327451 h 3683787"/>
              <a:gd name="connsiteX40" fmla="*/ 7169285 w 7169284"/>
              <a:gd name="connsiteY40" fmla="*/ 1422404 h 3683787"/>
              <a:gd name="connsiteX41" fmla="*/ 7166032 w 7169284"/>
              <a:gd name="connsiteY41" fmla="*/ 1374053 h 3683787"/>
              <a:gd name="connsiteX42" fmla="*/ 7156556 w 7169284"/>
              <a:gd name="connsiteY42" fmla="*/ 1327678 h 3683787"/>
              <a:gd name="connsiteX43" fmla="*/ 7141281 w 7169284"/>
              <a:gd name="connsiteY43" fmla="*/ 1283704 h 3683787"/>
              <a:gd name="connsiteX44" fmla="*/ 7120633 w 7169284"/>
              <a:gd name="connsiteY44" fmla="*/ 1242556 h 3683787"/>
              <a:gd name="connsiteX45" fmla="*/ 7095036 w 7169284"/>
              <a:gd name="connsiteY45" fmla="*/ 1204659 h 3683787"/>
              <a:gd name="connsiteX46" fmla="*/ 7064914 w 7169284"/>
              <a:gd name="connsiteY46" fmla="*/ 1170438 h 3683787"/>
              <a:gd name="connsiteX47" fmla="*/ 7030692 w 7169284"/>
              <a:gd name="connsiteY47" fmla="*/ 1140316 h 3683787"/>
              <a:gd name="connsiteX48" fmla="*/ 6992795 w 7169284"/>
              <a:gd name="connsiteY48" fmla="*/ 1114718 h 3683787"/>
              <a:gd name="connsiteX49" fmla="*/ 6951648 w 7169284"/>
              <a:gd name="connsiteY49" fmla="*/ 1094070 h 3683787"/>
              <a:gd name="connsiteX50" fmla="*/ 6907675 w 7169284"/>
              <a:gd name="connsiteY50" fmla="*/ 1078796 h 3683787"/>
              <a:gd name="connsiteX51" fmla="*/ 6861301 w 7169284"/>
              <a:gd name="connsiteY51" fmla="*/ 1069320 h 3683787"/>
              <a:gd name="connsiteX52" fmla="*/ 6812950 w 7169284"/>
              <a:gd name="connsiteY52" fmla="*/ 1066067 h 3683787"/>
              <a:gd name="connsiteX0" fmla="*/ 708093 w 7169284"/>
              <a:gd name="connsiteY0" fmla="*/ 0 h 3683787"/>
              <a:gd name="connsiteX1" fmla="*/ 603384 w 7169284"/>
              <a:gd name="connsiteY1" fmla="*/ 1066067 h 3683787"/>
              <a:gd name="connsiteX2" fmla="*/ 2993816 w 7169284"/>
              <a:gd name="connsiteY2" fmla="*/ 1082813 h 3683787"/>
              <a:gd name="connsiteX3" fmla="*/ 708093 w 7169284"/>
              <a:gd name="connsiteY3" fmla="*/ 0 h 3683787"/>
              <a:gd name="connsiteX0" fmla="*/ 6812950 w 7169286"/>
              <a:gd name="connsiteY0" fmla="*/ 1066067 h 3683789"/>
              <a:gd name="connsiteX1" fmla="*/ 356337 w 7169286"/>
              <a:gd name="connsiteY1" fmla="*/ 1066067 h 3683789"/>
              <a:gd name="connsiteX2" fmla="*/ 307986 w 7169286"/>
              <a:gd name="connsiteY2" fmla="*/ 1069320 h 3683789"/>
              <a:gd name="connsiteX3" fmla="*/ 261611 w 7169286"/>
              <a:gd name="connsiteY3" fmla="*/ 1078796 h 3683789"/>
              <a:gd name="connsiteX4" fmla="*/ 217637 w 7169286"/>
              <a:gd name="connsiteY4" fmla="*/ 1094070 h 3683789"/>
              <a:gd name="connsiteX5" fmla="*/ 176489 w 7169286"/>
              <a:gd name="connsiteY5" fmla="*/ 1114718 h 3683789"/>
              <a:gd name="connsiteX6" fmla="*/ 138592 w 7169286"/>
              <a:gd name="connsiteY6" fmla="*/ 1140316 h 3683789"/>
              <a:gd name="connsiteX7" fmla="*/ 104371 w 7169286"/>
              <a:gd name="connsiteY7" fmla="*/ 1170438 h 3683789"/>
              <a:gd name="connsiteX8" fmla="*/ 74249 w 7169286"/>
              <a:gd name="connsiteY8" fmla="*/ 1204659 h 3683789"/>
              <a:gd name="connsiteX9" fmla="*/ 48651 w 7169286"/>
              <a:gd name="connsiteY9" fmla="*/ 1242556 h 3683789"/>
              <a:gd name="connsiteX10" fmla="*/ 28003 w 7169286"/>
              <a:gd name="connsiteY10" fmla="*/ 1283704 h 3683789"/>
              <a:gd name="connsiteX11" fmla="*/ 12729 w 7169286"/>
              <a:gd name="connsiteY11" fmla="*/ 1327678 h 3683789"/>
              <a:gd name="connsiteX12" fmla="*/ 3253 w 7169286"/>
              <a:gd name="connsiteY12" fmla="*/ 1374053 h 3683789"/>
              <a:gd name="connsiteX13" fmla="*/ 0 w 7169286"/>
              <a:gd name="connsiteY13" fmla="*/ 1422404 h 3683789"/>
              <a:gd name="connsiteX14" fmla="*/ 0 w 7169286"/>
              <a:gd name="connsiteY14" fmla="*/ 3327451 h 3683789"/>
              <a:gd name="connsiteX15" fmla="*/ 3253 w 7169286"/>
              <a:gd name="connsiteY15" fmla="*/ 3375803 h 3683789"/>
              <a:gd name="connsiteX16" fmla="*/ 12729 w 7169286"/>
              <a:gd name="connsiteY16" fmla="*/ 3422178 h 3683789"/>
              <a:gd name="connsiteX17" fmla="*/ 28003 w 7169286"/>
              <a:gd name="connsiteY17" fmla="*/ 3466151 h 3683789"/>
              <a:gd name="connsiteX18" fmla="*/ 48651 w 7169286"/>
              <a:gd name="connsiteY18" fmla="*/ 3507299 h 3683789"/>
              <a:gd name="connsiteX19" fmla="*/ 74249 w 7169286"/>
              <a:gd name="connsiteY19" fmla="*/ 3545196 h 3683789"/>
              <a:gd name="connsiteX20" fmla="*/ 104371 w 7169286"/>
              <a:gd name="connsiteY20" fmla="*/ 3579417 h 3683789"/>
              <a:gd name="connsiteX21" fmla="*/ 138592 w 7169286"/>
              <a:gd name="connsiteY21" fmla="*/ 3609539 h 3683789"/>
              <a:gd name="connsiteX22" fmla="*/ 176489 w 7169286"/>
              <a:gd name="connsiteY22" fmla="*/ 3635136 h 3683789"/>
              <a:gd name="connsiteX23" fmla="*/ 217637 w 7169286"/>
              <a:gd name="connsiteY23" fmla="*/ 3655784 h 3683789"/>
              <a:gd name="connsiteX24" fmla="*/ 261611 w 7169286"/>
              <a:gd name="connsiteY24" fmla="*/ 3671059 h 3683789"/>
              <a:gd name="connsiteX25" fmla="*/ 307986 w 7169286"/>
              <a:gd name="connsiteY25" fmla="*/ 3680535 h 3683789"/>
              <a:gd name="connsiteX26" fmla="*/ 356337 w 7169286"/>
              <a:gd name="connsiteY26" fmla="*/ 3683788 h 3683789"/>
              <a:gd name="connsiteX27" fmla="*/ 6812950 w 7169286"/>
              <a:gd name="connsiteY27" fmla="*/ 3683788 h 3683789"/>
              <a:gd name="connsiteX28" fmla="*/ 6861301 w 7169286"/>
              <a:gd name="connsiteY28" fmla="*/ 3680535 h 3683789"/>
              <a:gd name="connsiteX29" fmla="*/ 6907675 w 7169286"/>
              <a:gd name="connsiteY29" fmla="*/ 3671059 h 3683789"/>
              <a:gd name="connsiteX30" fmla="*/ 6951648 w 7169286"/>
              <a:gd name="connsiteY30" fmla="*/ 3655784 h 3683789"/>
              <a:gd name="connsiteX31" fmla="*/ 6992795 w 7169286"/>
              <a:gd name="connsiteY31" fmla="*/ 3635136 h 3683789"/>
              <a:gd name="connsiteX32" fmla="*/ 7030692 w 7169286"/>
              <a:gd name="connsiteY32" fmla="*/ 3609539 h 3683789"/>
              <a:gd name="connsiteX33" fmla="*/ 7064914 w 7169286"/>
              <a:gd name="connsiteY33" fmla="*/ 3579417 h 3683789"/>
              <a:gd name="connsiteX34" fmla="*/ 7095036 w 7169286"/>
              <a:gd name="connsiteY34" fmla="*/ 3545196 h 3683789"/>
              <a:gd name="connsiteX35" fmla="*/ 7120633 w 7169286"/>
              <a:gd name="connsiteY35" fmla="*/ 3507299 h 3683789"/>
              <a:gd name="connsiteX36" fmla="*/ 7141281 w 7169286"/>
              <a:gd name="connsiteY36" fmla="*/ 3466151 h 3683789"/>
              <a:gd name="connsiteX37" fmla="*/ 7156556 w 7169286"/>
              <a:gd name="connsiteY37" fmla="*/ 3422178 h 3683789"/>
              <a:gd name="connsiteX38" fmla="*/ 7166032 w 7169286"/>
              <a:gd name="connsiteY38" fmla="*/ 3375803 h 3683789"/>
              <a:gd name="connsiteX39" fmla="*/ 7169285 w 7169286"/>
              <a:gd name="connsiteY39" fmla="*/ 3327451 h 3683789"/>
              <a:gd name="connsiteX40" fmla="*/ 7169285 w 7169286"/>
              <a:gd name="connsiteY40" fmla="*/ 1422404 h 3683789"/>
              <a:gd name="connsiteX41" fmla="*/ 7166032 w 7169286"/>
              <a:gd name="connsiteY41" fmla="*/ 1374053 h 3683789"/>
              <a:gd name="connsiteX42" fmla="*/ 7156556 w 7169286"/>
              <a:gd name="connsiteY42" fmla="*/ 1327678 h 3683789"/>
              <a:gd name="connsiteX43" fmla="*/ 7141281 w 7169286"/>
              <a:gd name="connsiteY43" fmla="*/ 1283704 h 3683789"/>
              <a:gd name="connsiteX44" fmla="*/ 7120633 w 7169286"/>
              <a:gd name="connsiteY44" fmla="*/ 1242556 h 3683789"/>
              <a:gd name="connsiteX45" fmla="*/ 7095036 w 7169286"/>
              <a:gd name="connsiteY45" fmla="*/ 1204659 h 3683789"/>
              <a:gd name="connsiteX46" fmla="*/ 7064914 w 7169286"/>
              <a:gd name="connsiteY46" fmla="*/ 1170438 h 3683789"/>
              <a:gd name="connsiteX47" fmla="*/ 7030692 w 7169286"/>
              <a:gd name="connsiteY47" fmla="*/ 1140316 h 3683789"/>
              <a:gd name="connsiteX48" fmla="*/ 6992795 w 7169286"/>
              <a:gd name="connsiteY48" fmla="*/ 1114718 h 3683789"/>
              <a:gd name="connsiteX49" fmla="*/ 6951648 w 7169286"/>
              <a:gd name="connsiteY49" fmla="*/ 1094070 h 3683789"/>
              <a:gd name="connsiteX50" fmla="*/ 6907675 w 7169286"/>
              <a:gd name="connsiteY50" fmla="*/ 1078796 h 3683789"/>
              <a:gd name="connsiteX51" fmla="*/ 6861301 w 7169286"/>
              <a:gd name="connsiteY51" fmla="*/ 1069320 h 3683789"/>
              <a:gd name="connsiteX52" fmla="*/ 6812950 w 7169286"/>
              <a:gd name="connsiteY52" fmla="*/ 1066067 h 3683789"/>
              <a:gd name="connsiteX0" fmla="*/ 708093 w 7169286"/>
              <a:gd name="connsiteY0" fmla="*/ 0 h 3683789"/>
              <a:gd name="connsiteX1" fmla="*/ 1836130 w 7169286"/>
              <a:gd name="connsiteY1" fmla="*/ 1066067 h 3683789"/>
              <a:gd name="connsiteX2" fmla="*/ 2993816 w 7169286"/>
              <a:gd name="connsiteY2" fmla="*/ 1082813 h 3683789"/>
              <a:gd name="connsiteX3" fmla="*/ 708093 w 7169286"/>
              <a:gd name="connsiteY3" fmla="*/ 0 h 3683789"/>
              <a:gd name="connsiteX0" fmla="*/ 6812950 w 7169284"/>
              <a:gd name="connsiteY0" fmla="*/ 1099560 h 3717280"/>
              <a:gd name="connsiteX1" fmla="*/ 356337 w 7169284"/>
              <a:gd name="connsiteY1" fmla="*/ 1099560 h 3717280"/>
              <a:gd name="connsiteX2" fmla="*/ 307986 w 7169284"/>
              <a:gd name="connsiteY2" fmla="*/ 1102813 h 3717280"/>
              <a:gd name="connsiteX3" fmla="*/ 261611 w 7169284"/>
              <a:gd name="connsiteY3" fmla="*/ 1112289 h 3717280"/>
              <a:gd name="connsiteX4" fmla="*/ 217637 w 7169284"/>
              <a:gd name="connsiteY4" fmla="*/ 1127563 h 3717280"/>
              <a:gd name="connsiteX5" fmla="*/ 176489 w 7169284"/>
              <a:gd name="connsiteY5" fmla="*/ 1148211 h 3717280"/>
              <a:gd name="connsiteX6" fmla="*/ 138592 w 7169284"/>
              <a:gd name="connsiteY6" fmla="*/ 1173809 h 3717280"/>
              <a:gd name="connsiteX7" fmla="*/ 104371 w 7169284"/>
              <a:gd name="connsiteY7" fmla="*/ 1203931 h 3717280"/>
              <a:gd name="connsiteX8" fmla="*/ 74249 w 7169284"/>
              <a:gd name="connsiteY8" fmla="*/ 1238152 h 3717280"/>
              <a:gd name="connsiteX9" fmla="*/ 48651 w 7169284"/>
              <a:gd name="connsiteY9" fmla="*/ 1276049 h 3717280"/>
              <a:gd name="connsiteX10" fmla="*/ 28003 w 7169284"/>
              <a:gd name="connsiteY10" fmla="*/ 1317197 h 3717280"/>
              <a:gd name="connsiteX11" fmla="*/ 12729 w 7169284"/>
              <a:gd name="connsiteY11" fmla="*/ 1361171 h 3717280"/>
              <a:gd name="connsiteX12" fmla="*/ 3253 w 7169284"/>
              <a:gd name="connsiteY12" fmla="*/ 1407546 h 3717280"/>
              <a:gd name="connsiteX13" fmla="*/ 0 w 7169284"/>
              <a:gd name="connsiteY13" fmla="*/ 1455897 h 3717280"/>
              <a:gd name="connsiteX14" fmla="*/ 0 w 7169284"/>
              <a:gd name="connsiteY14" fmla="*/ 3360944 h 3717280"/>
              <a:gd name="connsiteX15" fmla="*/ 3253 w 7169284"/>
              <a:gd name="connsiteY15" fmla="*/ 3409296 h 3717280"/>
              <a:gd name="connsiteX16" fmla="*/ 12729 w 7169284"/>
              <a:gd name="connsiteY16" fmla="*/ 3455671 h 3717280"/>
              <a:gd name="connsiteX17" fmla="*/ 28003 w 7169284"/>
              <a:gd name="connsiteY17" fmla="*/ 3499644 h 3717280"/>
              <a:gd name="connsiteX18" fmla="*/ 48651 w 7169284"/>
              <a:gd name="connsiteY18" fmla="*/ 3540792 h 3717280"/>
              <a:gd name="connsiteX19" fmla="*/ 74249 w 7169284"/>
              <a:gd name="connsiteY19" fmla="*/ 3578689 h 3717280"/>
              <a:gd name="connsiteX20" fmla="*/ 104371 w 7169284"/>
              <a:gd name="connsiteY20" fmla="*/ 3612910 h 3717280"/>
              <a:gd name="connsiteX21" fmla="*/ 138592 w 7169284"/>
              <a:gd name="connsiteY21" fmla="*/ 3643032 h 3717280"/>
              <a:gd name="connsiteX22" fmla="*/ 176489 w 7169284"/>
              <a:gd name="connsiteY22" fmla="*/ 3668629 h 3717280"/>
              <a:gd name="connsiteX23" fmla="*/ 217637 w 7169284"/>
              <a:gd name="connsiteY23" fmla="*/ 3689277 h 3717280"/>
              <a:gd name="connsiteX24" fmla="*/ 261611 w 7169284"/>
              <a:gd name="connsiteY24" fmla="*/ 3704552 h 3717280"/>
              <a:gd name="connsiteX25" fmla="*/ 307986 w 7169284"/>
              <a:gd name="connsiteY25" fmla="*/ 3714028 h 3717280"/>
              <a:gd name="connsiteX26" fmla="*/ 356337 w 7169284"/>
              <a:gd name="connsiteY26" fmla="*/ 3717281 h 3717280"/>
              <a:gd name="connsiteX27" fmla="*/ 6812950 w 7169284"/>
              <a:gd name="connsiteY27" fmla="*/ 3717281 h 3717280"/>
              <a:gd name="connsiteX28" fmla="*/ 6861301 w 7169284"/>
              <a:gd name="connsiteY28" fmla="*/ 3714028 h 3717280"/>
              <a:gd name="connsiteX29" fmla="*/ 6907675 w 7169284"/>
              <a:gd name="connsiteY29" fmla="*/ 3704552 h 3717280"/>
              <a:gd name="connsiteX30" fmla="*/ 6951648 w 7169284"/>
              <a:gd name="connsiteY30" fmla="*/ 3689277 h 3717280"/>
              <a:gd name="connsiteX31" fmla="*/ 6992795 w 7169284"/>
              <a:gd name="connsiteY31" fmla="*/ 3668629 h 3717280"/>
              <a:gd name="connsiteX32" fmla="*/ 7030692 w 7169284"/>
              <a:gd name="connsiteY32" fmla="*/ 3643032 h 3717280"/>
              <a:gd name="connsiteX33" fmla="*/ 7064914 w 7169284"/>
              <a:gd name="connsiteY33" fmla="*/ 3612910 h 3717280"/>
              <a:gd name="connsiteX34" fmla="*/ 7095036 w 7169284"/>
              <a:gd name="connsiteY34" fmla="*/ 3578689 h 3717280"/>
              <a:gd name="connsiteX35" fmla="*/ 7120633 w 7169284"/>
              <a:gd name="connsiteY35" fmla="*/ 3540792 h 3717280"/>
              <a:gd name="connsiteX36" fmla="*/ 7141281 w 7169284"/>
              <a:gd name="connsiteY36" fmla="*/ 3499644 h 3717280"/>
              <a:gd name="connsiteX37" fmla="*/ 7156556 w 7169284"/>
              <a:gd name="connsiteY37" fmla="*/ 3455671 h 3717280"/>
              <a:gd name="connsiteX38" fmla="*/ 7166032 w 7169284"/>
              <a:gd name="connsiteY38" fmla="*/ 3409296 h 3717280"/>
              <a:gd name="connsiteX39" fmla="*/ 7169285 w 7169284"/>
              <a:gd name="connsiteY39" fmla="*/ 3360944 h 3717280"/>
              <a:gd name="connsiteX40" fmla="*/ 7169285 w 7169284"/>
              <a:gd name="connsiteY40" fmla="*/ 1455897 h 3717280"/>
              <a:gd name="connsiteX41" fmla="*/ 7166032 w 7169284"/>
              <a:gd name="connsiteY41" fmla="*/ 1407546 h 3717280"/>
              <a:gd name="connsiteX42" fmla="*/ 7156556 w 7169284"/>
              <a:gd name="connsiteY42" fmla="*/ 1361171 h 3717280"/>
              <a:gd name="connsiteX43" fmla="*/ 7141281 w 7169284"/>
              <a:gd name="connsiteY43" fmla="*/ 1317197 h 3717280"/>
              <a:gd name="connsiteX44" fmla="*/ 7120633 w 7169284"/>
              <a:gd name="connsiteY44" fmla="*/ 1276049 h 3717280"/>
              <a:gd name="connsiteX45" fmla="*/ 7095036 w 7169284"/>
              <a:gd name="connsiteY45" fmla="*/ 1238152 h 3717280"/>
              <a:gd name="connsiteX46" fmla="*/ 7064914 w 7169284"/>
              <a:gd name="connsiteY46" fmla="*/ 1203931 h 3717280"/>
              <a:gd name="connsiteX47" fmla="*/ 7030692 w 7169284"/>
              <a:gd name="connsiteY47" fmla="*/ 1173809 h 3717280"/>
              <a:gd name="connsiteX48" fmla="*/ 6992795 w 7169284"/>
              <a:gd name="connsiteY48" fmla="*/ 1148211 h 3717280"/>
              <a:gd name="connsiteX49" fmla="*/ 6951648 w 7169284"/>
              <a:gd name="connsiteY49" fmla="*/ 1127563 h 3717280"/>
              <a:gd name="connsiteX50" fmla="*/ 6907675 w 7169284"/>
              <a:gd name="connsiteY50" fmla="*/ 1112289 h 3717280"/>
              <a:gd name="connsiteX51" fmla="*/ 6861301 w 7169284"/>
              <a:gd name="connsiteY51" fmla="*/ 1102813 h 3717280"/>
              <a:gd name="connsiteX52" fmla="*/ 6812950 w 7169284"/>
              <a:gd name="connsiteY52" fmla="*/ 1099560 h 3717280"/>
              <a:gd name="connsiteX0" fmla="*/ 2377043 w 7169284"/>
              <a:gd name="connsiteY0" fmla="*/ 0 h 3717280"/>
              <a:gd name="connsiteX1" fmla="*/ 1836130 w 7169284"/>
              <a:gd name="connsiteY1" fmla="*/ 1099560 h 3717280"/>
              <a:gd name="connsiteX2" fmla="*/ 2993816 w 7169284"/>
              <a:gd name="connsiteY2" fmla="*/ 1116306 h 3717280"/>
              <a:gd name="connsiteX3" fmla="*/ 2377043 w 7169284"/>
              <a:gd name="connsiteY3" fmla="*/ 0 h 3717280"/>
              <a:gd name="connsiteX0" fmla="*/ 6812950 w 7169286"/>
              <a:gd name="connsiteY0" fmla="*/ 1099560 h 3717282"/>
              <a:gd name="connsiteX1" fmla="*/ 356337 w 7169286"/>
              <a:gd name="connsiteY1" fmla="*/ 1099560 h 3717282"/>
              <a:gd name="connsiteX2" fmla="*/ 307986 w 7169286"/>
              <a:gd name="connsiteY2" fmla="*/ 1102813 h 3717282"/>
              <a:gd name="connsiteX3" fmla="*/ 261611 w 7169286"/>
              <a:gd name="connsiteY3" fmla="*/ 1112289 h 3717282"/>
              <a:gd name="connsiteX4" fmla="*/ 217637 w 7169286"/>
              <a:gd name="connsiteY4" fmla="*/ 1127563 h 3717282"/>
              <a:gd name="connsiteX5" fmla="*/ 176489 w 7169286"/>
              <a:gd name="connsiteY5" fmla="*/ 1148211 h 3717282"/>
              <a:gd name="connsiteX6" fmla="*/ 138592 w 7169286"/>
              <a:gd name="connsiteY6" fmla="*/ 1173809 h 3717282"/>
              <a:gd name="connsiteX7" fmla="*/ 104371 w 7169286"/>
              <a:gd name="connsiteY7" fmla="*/ 1203931 h 3717282"/>
              <a:gd name="connsiteX8" fmla="*/ 74249 w 7169286"/>
              <a:gd name="connsiteY8" fmla="*/ 1238152 h 3717282"/>
              <a:gd name="connsiteX9" fmla="*/ 48651 w 7169286"/>
              <a:gd name="connsiteY9" fmla="*/ 1276049 h 3717282"/>
              <a:gd name="connsiteX10" fmla="*/ 28003 w 7169286"/>
              <a:gd name="connsiteY10" fmla="*/ 1317197 h 3717282"/>
              <a:gd name="connsiteX11" fmla="*/ 12729 w 7169286"/>
              <a:gd name="connsiteY11" fmla="*/ 1361171 h 3717282"/>
              <a:gd name="connsiteX12" fmla="*/ 3253 w 7169286"/>
              <a:gd name="connsiteY12" fmla="*/ 1407546 h 3717282"/>
              <a:gd name="connsiteX13" fmla="*/ 0 w 7169286"/>
              <a:gd name="connsiteY13" fmla="*/ 1455897 h 3717282"/>
              <a:gd name="connsiteX14" fmla="*/ 0 w 7169286"/>
              <a:gd name="connsiteY14" fmla="*/ 3360944 h 3717282"/>
              <a:gd name="connsiteX15" fmla="*/ 3253 w 7169286"/>
              <a:gd name="connsiteY15" fmla="*/ 3409296 h 3717282"/>
              <a:gd name="connsiteX16" fmla="*/ 12729 w 7169286"/>
              <a:gd name="connsiteY16" fmla="*/ 3455671 h 3717282"/>
              <a:gd name="connsiteX17" fmla="*/ 28003 w 7169286"/>
              <a:gd name="connsiteY17" fmla="*/ 3499644 h 3717282"/>
              <a:gd name="connsiteX18" fmla="*/ 48651 w 7169286"/>
              <a:gd name="connsiteY18" fmla="*/ 3540792 h 3717282"/>
              <a:gd name="connsiteX19" fmla="*/ 74249 w 7169286"/>
              <a:gd name="connsiteY19" fmla="*/ 3578689 h 3717282"/>
              <a:gd name="connsiteX20" fmla="*/ 104371 w 7169286"/>
              <a:gd name="connsiteY20" fmla="*/ 3612910 h 3717282"/>
              <a:gd name="connsiteX21" fmla="*/ 138592 w 7169286"/>
              <a:gd name="connsiteY21" fmla="*/ 3643032 h 3717282"/>
              <a:gd name="connsiteX22" fmla="*/ 176489 w 7169286"/>
              <a:gd name="connsiteY22" fmla="*/ 3668629 h 3717282"/>
              <a:gd name="connsiteX23" fmla="*/ 217637 w 7169286"/>
              <a:gd name="connsiteY23" fmla="*/ 3689277 h 3717282"/>
              <a:gd name="connsiteX24" fmla="*/ 261611 w 7169286"/>
              <a:gd name="connsiteY24" fmla="*/ 3704552 h 3717282"/>
              <a:gd name="connsiteX25" fmla="*/ 307986 w 7169286"/>
              <a:gd name="connsiteY25" fmla="*/ 3714028 h 3717282"/>
              <a:gd name="connsiteX26" fmla="*/ 356337 w 7169286"/>
              <a:gd name="connsiteY26" fmla="*/ 3717281 h 3717282"/>
              <a:gd name="connsiteX27" fmla="*/ 6812950 w 7169286"/>
              <a:gd name="connsiteY27" fmla="*/ 3717281 h 3717282"/>
              <a:gd name="connsiteX28" fmla="*/ 6861301 w 7169286"/>
              <a:gd name="connsiteY28" fmla="*/ 3714028 h 3717282"/>
              <a:gd name="connsiteX29" fmla="*/ 6907675 w 7169286"/>
              <a:gd name="connsiteY29" fmla="*/ 3704552 h 3717282"/>
              <a:gd name="connsiteX30" fmla="*/ 6951648 w 7169286"/>
              <a:gd name="connsiteY30" fmla="*/ 3689277 h 3717282"/>
              <a:gd name="connsiteX31" fmla="*/ 6992795 w 7169286"/>
              <a:gd name="connsiteY31" fmla="*/ 3668629 h 3717282"/>
              <a:gd name="connsiteX32" fmla="*/ 7030692 w 7169286"/>
              <a:gd name="connsiteY32" fmla="*/ 3643032 h 3717282"/>
              <a:gd name="connsiteX33" fmla="*/ 7064914 w 7169286"/>
              <a:gd name="connsiteY33" fmla="*/ 3612910 h 3717282"/>
              <a:gd name="connsiteX34" fmla="*/ 7095036 w 7169286"/>
              <a:gd name="connsiteY34" fmla="*/ 3578689 h 3717282"/>
              <a:gd name="connsiteX35" fmla="*/ 7120633 w 7169286"/>
              <a:gd name="connsiteY35" fmla="*/ 3540792 h 3717282"/>
              <a:gd name="connsiteX36" fmla="*/ 7141281 w 7169286"/>
              <a:gd name="connsiteY36" fmla="*/ 3499644 h 3717282"/>
              <a:gd name="connsiteX37" fmla="*/ 7156556 w 7169286"/>
              <a:gd name="connsiteY37" fmla="*/ 3455671 h 3717282"/>
              <a:gd name="connsiteX38" fmla="*/ 7166032 w 7169286"/>
              <a:gd name="connsiteY38" fmla="*/ 3409296 h 3717282"/>
              <a:gd name="connsiteX39" fmla="*/ 7169285 w 7169286"/>
              <a:gd name="connsiteY39" fmla="*/ 3360944 h 3717282"/>
              <a:gd name="connsiteX40" fmla="*/ 7169285 w 7169286"/>
              <a:gd name="connsiteY40" fmla="*/ 1455897 h 3717282"/>
              <a:gd name="connsiteX41" fmla="*/ 7166032 w 7169286"/>
              <a:gd name="connsiteY41" fmla="*/ 1407546 h 3717282"/>
              <a:gd name="connsiteX42" fmla="*/ 7156556 w 7169286"/>
              <a:gd name="connsiteY42" fmla="*/ 1361171 h 3717282"/>
              <a:gd name="connsiteX43" fmla="*/ 7141281 w 7169286"/>
              <a:gd name="connsiteY43" fmla="*/ 1317197 h 3717282"/>
              <a:gd name="connsiteX44" fmla="*/ 7120633 w 7169286"/>
              <a:gd name="connsiteY44" fmla="*/ 1276049 h 3717282"/>
              <a:gd name="connsiteX45" fmla="*/ 7095036 w 7169286"/>
              <a:gd name="connsiteY45" fmla="*/ 1238152 h 3717282"/>
              <a:gd name="connsiteX46" fmla="*/ 7064914 w 7169286"/>
              <a:gd name="connsiteY46" fmla="*/ 1203931 h 3717282"/>
              <a:gd name="connsiteX47" fmla="*/ 7030692 w 7169286"/>
              <a:gd name="connsiteY47" fmla="*/ 1173809 h 3717282"/>
              <a:gd name="connsiteX48" fmla="*/ 6992795 w 7169286"/>
              <a:gd name="connsiteY48" fmla="*/ 1148211 h 3717282"/>
              <a:gd name="connsiteX49" fmla="*/ 6951648 w 7169286"/>
              <a:gd name="connsiteY49" fmla="*/ 1127563 h 3717282"/>
              <a:gd name="connsiteX50" fmla="*/ 6907675 w 7169286"/>
              <a:gd name="connsiteY50" fmla="*/ 1112289 h 3717282"/>
              <a:gd name="connsiteX51" fmla="*/ 6861301 w 7169286"/>
              <a:gd name="connsiteY51" fmla="*/ 1102813 h 3717282"/>
              <a:gd name="connsiteX52" fmla="*/ 6812950 w 7169286"/>
              <a:gd name="connsiteY52" fmla="*/ 1099560 h 3717282"/>
              <a:gd name="connsiteX0" fmla="*/ 2377043 w 7169286"/>
              <a:gd name="connsiteY0" fmla="*/ 0 h 3717282"/>
              <a:gd name="connsiteX1" fmla="*/ 2348194 w 7169286"/>
              <a:gd name="connsiteY1" fmla="*/ 1116306 h 3717282"/>
              <a:gd name="connsiteX2" fmla="*/ 2993816 w 7169286"/>
              <a:gd name="connsiteY2" fmla="*/ 1116306 h 3717282"/>
              <a:gd name="connsiteX3" fmla="*/ 2377043 w 7169286"/>
              <a:gd name="connsiteY3" fmla="*/ 0 h 3717282"/>
              <a:gd name="connsiteX0" fmla="*/ 6812950 w 7169284"/>
              <a:gd name="connsiteY0" fmla="*/ 1082814 h 3700534"/>
              <a:gd name="connsiteX1" fmla="*/ 356337 w 7169284"/>
              <a:gd name="connsiteY1" fmla="*/ 1082814 h 3700534"/>
              <a:gd name="connsiteX2" fmla="*/ 307986 w 7169284"/>
              <a:gd name="connsiteY2" fmla="*/ 1086067 h 3700534"/>
              <a:gd name="connsiteX3" fmla="*/ 261611 w 7169284"/>
              <a:gd name="connsiteY3" fmla="*/ 1095543 h 3700534"/>
              <a:gd name="connsiteX4" fmla="*/ 217637 w 7169284"/>
              <a:gd name="connsiteY4" fmla="*/ 1110817 h 3700534"/>
              <a:gd name="connsiteX5" fmla="*/ 176489 w 7169284"/>
              <a:gd name="connsiteY5" fmla="*/ 1131465 h 3700534"/>
              <a:gd name="connsiteX6" fmla="*/ 138592 w 7169284"/>
              <a:gd name="connsiteY6" fmla="*/ 1157063 h 3700534"/>
              <a:gd name="connsiteX7" fmla="*/ 104371 w 7169284"/>
              <a:gd name="connsiteY7" fmla="*/ 1187185 h 3700534"/>
              <a:gd name="connsiteX8" fmla="*/ 74249 w 7169284"/>
              <a:gd name="connsiteY8" fmla="*/ 1221406 h 3700534"/>
              <a:gd name="connsiteX9" fmla="*/ 48651 w 7169284"/>
              <a:gd name="connsiteY9" fmla="*/ 1259303 h 3700534"/>
              <a:gd name="connsiteX10" fmla="*/ 28003 w 7169284"/>
              <a:gd name="connsiteY10" fmla="*/ 1300451 h 3700534"/>
              <a:gd name="connsiteX11" fmla="*/ 12729 w 7169284"/>
              <a:gd name="connsiteY11" fmla="*/ 1344425 h 3700534"/>
              <a:gd name="connsiteX12" fmla="*/ 3253 w 7169284"/>
              <a:gd name="connsiteY12" fmla="*/ 1390800 h 3700534"/>
              <a:gd name="connsiteX13" fmla="*/ 0 w 7169284"/>
              <a:gd name="connsiteY13" fmla="*/ 1439151 h 3700534"/>
              <a:gd name="connsiteX14" fmla="*/ 0 w 7169284"/>
              <a:gd name="connsiteY14" fmla="*/ 3344198 h 3700534"/>
              <a:gd name="connsiteX15" fmla="*/ 3253 w 7169284"/>
              <a:gd name="connsiteY15" fmla="*/ 3392550 h 3700534"/>
              <a:gd name="connsiteX16" fmla="*/ 12729 w 7169284"/>
              <a:gd name="connsiteY16" fmla="*/ 3438925 h 3700534"/>
              <a:gd name="connsiteX17" fmla="*/ 28003 w 7169284"/>
              <a:gd name="connsiteY17" fmla="*/ 3482898 h 3700534"/>
              <a:gd name="connsiteX18" fmla="*/ 48651 w 7169284"/>
              <a:gd name="connsiteY18" fmla="*/ 3524046 h 3700534"/>
              <a:gd name="connsiteX19" fmla="*/ 74249 w 7169284"/>
              <a:gd name="connsiteY19" fmla="*/ 3561943 h 3700534"/>
              <a:gd name="connsiteX20" fmla="*/ 104371 w 7169284"/>
              <a:gd name="connsiteY20" fmla="*/ 3596164 h 3700534"/>
              <a:gd name="connsiteX21" fmla="*/ 138592 w 7169284"/>
              <a:gd name="connsiteY21" fmla="*/ 3626286 h 3700534"/>
              <a:gd name="connsiteX22" fmla="*/ 176489 w 7169284"/>
              <a:gd name="connsiteY22" fmla="*/ 3651883 h 3700534"/>
              <a:gd name="connsiteX23" fmla="*/ 217637 w 7169284"/>
              <a:gd name="connsiteY23" fmla="*/ 3672531 h 3700534"/>
              <a:gd name="connsiteX24" fmla="*/ 261611 w 7169284"/>
              <a:gd name="connsiteY24" fmla="*/ 3687806 h 3700534"/>
              <a:gd name="connsiteX25" fmla="*/ 307986 w 7169284"/>
              <a:gd name="connsiteY25" fmla="*/ 3697282 h 3700534"/>
              <a:gd name="connsiteX26" fmla="*/ 356337 w 7169284"/>
              <a:gd name="connsiteY26" fmla="*/ 3700535 h 3700534"/>
              <a:gd name="connsiteX27" fmla="*/ 6812950 w 7169284"/>
              <a:gd name="connsiteY27" fmla="*/ 3700535 h 3700534"/>
              <a:gd name="connsiteX28" fmla="*/ 6861301 w 7169284"/>
              <a:gd name="connsiteY28" fmla="*/ 3697282 h 3700534"/>
              <a:gd name="connsiteX29" fmla="*/ 6907675 w 7169284"/>
              <a:gd name="connsiteY29" fmla="*/ 3687806 h 3700534"/>
              <a:gd name="connsiteX30" fmla="*/ 6951648 w 7169284"/>
              <a:gd name="connsiteY30" fmla="*/ 3672531 h 3700534"/>
              <a:gd name="connsiteX31" fmla="*/ 6992795 w 7169284"/>
              <a:gd name="connsiteY31" fmla="*/ 3651883 h 3700534"/>
              <a:gd name="connsiteX32" fmla="*/ 7030692 w 7169284"/>
              <a:gd name="connsiteY32" fmla="*/ 3626286 h 3700534"/>
              <a:gd name="connsiteX33" fmla="*/ 7064914 w 7169284"/>
              <a:gd name="connsiteY33" fmla="*/ 3596164 h 3700534"/>
              <a:gd name="connsiteX34" fmla="*/ 7095036 w 7169284"/>
              <a:gd name="connsiteY34" fmla="*/ 3561943 h 3700534"/>
              <a:gd name="connsiteX35" fmla="*/ 7120633 w 7169284"/>
              <a:gd name="connsiteY35" fmla="*/ 3524046 h 3700534"/>
              <a:gd name="connsiteX36" fmla="*/ 7141281 w 7169284"/>
              <a:gd name="connsiteY36" fmla="*/ 3482898 h 3700534"/>
              <a:gd name="connsiteX37" fmla="*/ 7156556 w 7169284"/>
              <a:gd name="connsiteY37" fmla="*/ 3438925 h 3700534"/>
              <a:gd name="connsiteX38" fmla="*/ 7166032 w 7169284"/>
              <a:gd name="connsiteY38" fmla="*/ 3392550 h 3700534"/>
              <a:gd name="connsiteX39" fmla="*/ 7169285 w 7169284"/>
              <a:gd name="connsiteY39" fmla="*/ 3344198 h 3700534"/>
              <a:gd name="connsiteX40" fmla="*/ 7169285 w 7169284"/>
              <a:gd name="connsiteY40" fmla="*/ 1439151 h 3700534"/>
              <a:gd name="connsiteX41" fmla="*/ 7166032 w 7169284"/>
              <a:gd name="connsiteY41" fmla="*/ 1390800 h 3700534"/>
              <a:gd name="connsiteX42" fmla="*/ 7156556 w 7169284"/>
              <a:gd name="connsiteY42" fmla="*/ 1344425 h 3700534"/>
              <a:gd name="connsiteX43" fmla="*/ 7141281 w 7169284"/>
              <a:gd name="connsiteY43" fmla="*/ 1300451 h 3700534"/>
              <a:gd name="connsiteX44" fmla="*/ 7120633 w 7169284"/>
              <a:gd name="connsiteY44" fmla="*/ 1259303 h 3700534"/>
              <a:gd name="connsiteX45" fmla="*/ 7095036 w 7169284"/>
              <a:gd name="connsiteY45" fmla="*/ 1221406 h 3700534"/>
              <a:gd name="connsiteX46" fmla="*/ 7064914 w 7169284"/>
              <a:gd name="connsiteY46" fmla="*/ 1187185 h 3700534"/>
              <a:gd name="connsiteX47" fmla="*/ 7030692 w 7169284"/>
              <a:gd name="connsiteY47" fmla="*/ 1157063 h 3700534"/>
              <a:gd name="connsiteX48" fmla="*/ 6992795 w 7169284"/>
              <a:gd name="connsiteY48" fmla="*/ 1131465 h 3700534"/>
              <a:gd name="connsiteX49" fmla="*/ 6951648 w 7169284"/>
              <a:gd name="connsiteY49" fmla="*/ 1110817 h 3700534"/>
              <a:gd name="connsiteX50" fmla="*/ 6907675 w 7169284"/>
              <a:gd name="connsiteY50" fmla="*/ 1095543 h 3700534"/>
              <a:gd name="connsiteX51" fmla="*/ 6861301 w 7169284"/>
              <a:gd name="connsiteY51" fmla="*/ 1086067 h 3700534"/>
              <a:gd name="connsiteX52" fmla="*/ 6812950 w 7169284"/>
              <a:gd name="connsiteY52" fmla="*/ 1082814 h 3700534"/>
              <a:gd name="connsiteX0" fmla="*/ 2092563 w 7169284"/>
              <a:gd name="connsiteY0" fmla="*/ 0 h 3700534"/>
              <a:gd name="connsiteX1" fmla="*/ 2348194 w 7169284"/>
              <a:gd name="connsiteY1" fmla="*/ 1099560 h 3700534"/>
              <a:gd name="connsiteX2" fmla="*/ 2993816 w 7169284"/>
              <a:gd name="connsiteY2" fmla="*/ 1099560 h 3700534"/>
              <a:gd name="connsiteX3" fmla="*/ 2092563 w 7169284"/>
              <a:gd name="connsiteY3" fmla="*/ 0 h 3700534"/>
              <a:gd name="connsiteX0" fmla="*/ 6812950 w 7169286"/>
              <a:gd name="connsiteY0" fmla="*/ 1220972 h 3838694"/>
              <a:gd name="connsiteX1" fmla="*/ 356337 w 7169286"/>
              <a:gd name="connsiteY1" fmla="*/ 1220972 h 3838694"/>
              <a:gd name="connsiteX2" fmla="*/ 307986 w 7169286"/>
              <a:gd name="connsiteY2" fmla="*/ 1224225 h 3838694"/>
              <a:gd name="connsiteX3" fmla="*/ 261611 w 7169286"/>
              <a:gd name="connsiteY3" fmla="*/ 1233701 h 3838694"/>
              <a:gd name="connsiteX4" fmla="*/ 217637 w 7169286"/>
              <a:gd name="connsiteY4" fmla="*/ 1248975 h 3838694"/>
              <a:gd name="connsiteX5" fmla="*/ 176489 w 7169286"/>
              <a:gd name="connsiteY5" fmla="*/ 1269623 h 3838694"/>
              <a:gd name="connsiteX6" fmla="*/ 138592 w 7169286"/>
              <a:gd name="connsiteY6" fmla="*/ 1295221 h 3838694"/>
              <a:gd name="connsiteX7" fmla="*/ 104371 w 7169286"/>
              <a:gd name="connsiteY7" fmla="*/ 1325343 h 3838694"/>
              <a:gd name="connsiteX8" fmla="*/ 74249 w 7169286"/>
              <a:gd name="connsiteY8" fmla="*/ 1359564 h 3838694"/>
              <a:gd name="connsiteX9" fmla="*/ 48651 w 7169286"/>
              <a:gd name="connsiteY9" fmla="*/ 1397461 h 3838694"/>
              <a:gd name="connsiteX10" fmla="*/ 28003 w 7169286"/>
              <a:gd name="connsiteY10" fmla="*/ 1438609 h 3838694"/>
              <a:gd name="connsiteX11" fmla="*/ 12729 w 7169286"/>
              <a:gd name="connsiteY11" fmla="*/ 1482583 h 3838694"/>
              <a:gd name="connsiteX12" fmla="*/ 3253 w 7169286"/>
              <a:gd name="connsiteY12" fmla="*/ 1528958 h 3838694"/>
              <a:gd name="connsiteX13" fmla="*/ 0 w 7169286"/>
              <a:gd name="connsiteY13" fmla="*/ 1577309 h 3838694"/>
              <a:gd name="connsiteX14" fmla="*/ 0 w 7169286"/>
              <a:gd name="connsiteY14" fmla="*/ 3482356 h 3838694"/>
              <a:gd name="connsiteX15" fmla="*/ 3253 w 7169286"/>
              <a:gd name="connsiteY15" fmla="*/ 3530708 h 3838694"/>
              <a:gd name="connsiteX16" fmla="*/ 12729 w 7169286"/>
              <a:gd name="connsiteY16" fmla="*/ 3577083 h 3838694"/>
              <a:gd name="connsiteX17" fmla="*/ 28003 w 7169286"/>
              <a:gd name="connsiteY17" fmla="*/ 3621056 h 3838694"/>
              <a:gd name="connsiteX18" fmla="*/ 48651 w 7169286"/>
              <a:gd name="connsiteY18" fmla="*/ 3662204 h 3838694"/>
              <a:gd name="connsiteX19" fmla="*/ 74249 w 7169286"/>
              <a:gd name="connsiteY19" fmla="*/ 3700101 h 3838694"/>
              <a:gd name="connsiteX20" fmla="*/ 104371 w 7169286"/>
              <a:gd name="connsiteY20" fmla="*/ 3734322 h 3838694"/>
              <a:gd name="connsiteX21" fmla="*/ 138592 w 7169286"/>
              <a:gd name="connsiteY21" fmla="*/ 3764444 h 3838694"/>
              <a:gd name="connsiteX22" fmla="*/ 176489 w 7169286"/>
              <a:gd name="connsiteY22" fmla="*/ 3790041 h 3838694"/>
              <a:gd name="connsiteX23" fmla="*/ 217637 w 7169286"/>
              <a:gd name="connsiteY23" fmla="*/ 3810689 h 3838694"/>
              <a:gd name="connsiteX24" fmla="*/ 261611 w 7169286"/>
              <a:gd name="connsiteY24" fmla="*/ 3825964 h 3838694"/>
              <a:gd name="connsiteX25" fmla="*/ 307986 w 7169286"/>
              <a:gd name="connsiteY25" fmla="*/ 3835440 h 3838694"/>
              <a:gd name="connsiteX26" fmla="*/ 356337 w 7169286"/>
              <a:gd name="connsiteY26" fmla="*/ 3838693 h 3838694"/>
              <a:gd name="connsiteX27" fmla="*/ 6812950 w 7169286"/>
              <a:gd name="connsiteY27" fmla="*/ 3838693 h 3838694"/>
              <a:gd name="connsiteX28" fmla="*/ 6861301 w 7169286"/>
              <a:gd name="connsiteY28" fmla="*/ 3835440 h 3838694"/>
              <a:gd name="connsiteX29" fmla="*/ 6907675 w 7169286"/>
              <a:gd name="connsiteY29" fmla="*/ 3825964 h 3838694"/>
              <a:gd name="connsiteX30" fmla="*/ 6951648 w 7169286"/>
              <a:gd name="connsiteY30" fmla="*/ 3810689 h 3838694"/>
              <a:gd name="connsiteX31" fmla="*/ 6992795 w 7169286"/>
              <a:gd name="connsiteY31" fmla="*/ 3790041 h 3838694"/>
              <a:gd name="connsiteX32" fmla="*/ 7030692 w 7169286"/>
              <a:gd name="connsiteY32" fmla="*/ 3764444 h 3838694"/>
              <a:gd name="connsiteX33" fmla="*/ 7064914 w 7169286"/>
              <a:gd name="connsiteY33" fmla="*/ 3734322 h 3838694"/>
              <a:gd name="connsiteX34" fmla="*/ 7095036 w 7169286"/>
              <a:gd name="connsiteY34" fmla="*/ 3700101 h 3838694"/>
              <a:gd name="connsiteX35" fmla="*/ 7120633 w 7169286"/>
              <a:gd name="connsiteY35" fmla="*/ 3662204 h 3838694"/>
              <a:gd name="connsiteX36" fmla="*/ 7141281 w 7169286"/>
              <a:gd name="connsiteY36" fmla="*/ 3621056 h 3838694"/>
              <a:gd name="connsiteX37" fmla="*/ 7156556 w 7169286"/>
              <a:gd name="connsiteY37" fmla="*/ 3577083 h 3838694"/>
              <a:gd name="connsiteX38" fmla="*/ 7166032 w 7169286"/>
              <a:gd name="connsiteY38" fmla="*/ 3530708 h 3838694"/>
              <a:gd name="connsiteX39" fmla="*/ 7169285 w 7169286"/>
              <a:gd name="connsiteY39" fmla="*/ 3482356 h 3838694"/>
              <a:gd name="connsiteX40" fmla="*/ 7169285 w 7169286"/>
              <a:gd name="connsiteY40" fmla="*/ 1577309 h 3838694"/>
              <a:gd name="connsiteX41" fmla="*/ 7166032 w 7169286"/>
              <a:gd name="connsiteY41" fmla="*/ 1528958 h 3838694"/>
              <a:gd name="connsiteX42" fmla="*/ 7156556 w 7169286"/>
              <a:gd name="connsiteY42" fmla="*/ 1482583 h 3838694"/>
              <a:gd name="connsiteX43" fmla="*/ 7141281 w 7169286"/>
              <a:gd name="connsiteY43" fmla="*/ 1438609 h 3838694"/>
              <a:gd name="connsiteX44" fmla="*/ 7120633 w 7169286"/>
              <a:gd name="connsiteY44" fmla="*/ 1397461 h 3838694"/>
              <a:gd name="connsiteX45" fmla="*/ 7095036 w 7169286"/>
              <a:gd name="connsiteY45" fmla="*/ 1359564 h 3838694"/>
              <a:gd name="connsiteX46" fmla="*/ 7064914 w 7169286"/>
              <a:gd name="connsiteY46" fmla="*/ 1325343 h 3838694"/>
              <a:gd name="connsiteX47" fmla="*/ 7030692 w 7169286"/>
              <a:gd name="connsiteY47" fmla="*/ 1295221 h 3838694"/>
              <a:gd name="connsiteX48" fmla="*/ 6992795 w 7169286"/>
              <a:gd name="connsiteY48" fmla="*/ 1269623 h 3838694"/>
              <a:gd name="connsiteX49" fmla="*/ 6951648 w 7169286"/>
              <a:gd name="connsiteY49" fmla="*/ 1248975 h 3838694"/>
              <a:gd name="connsiteX50" fmla="*/ 6907675 w 7169286"/>
              <a:gd name="connsiteY50" fmla="*/ 1233701 h 3838694"/>
              <a:gd name="connsiteX51" fmla="*/ 6861301 w 7169286"/>
              <a:gd name="connsiteY51" fmla="*/ 1224225 h 3838694"/>
              <a:gd name="connsiteX52" fmla="*/ 6812950 w 7169286"/>
              <a:gd name="connsiteY52" fmla="*/ 1220972 h 3838694"/>
              <a:gd name="connsiteX0" fmla="*/ 997315 w 7169286"/>
              <a:gd name="connsiteY0" fmla="*/ 0 h 3838694"/>
              <a:gd name="connsiteX1" fmla="*/ 2348194 w 7169286"/>
              <a:gd name="connsiteY1" fmla="*/ 1237718 h 3838694"/>
              <a:gd name="connsiteX2" fmla="*/ 2993816 w 7169286"/>
              <a:gd name="connsiteY2" fmla="*/ 1237718 h 3838694"/>
              <a:gd name="connsiteX3" fmla="*/ 997315 w 7169286"/>
              <a:gd name="connsiteY3" fmla="*/ 0 h 3838694"/>
            </a:gdLst>
            <a:ahLst/>
            <a:cxnLst>
              <a:cxn ang="0">
                <a:pos x="connsiteX0" y="connsiteY0"/>
              </a:cxn>
              <a:cxn ang="0">
                <a:pos x="connsiteX1" y="connsiteY1"/>
              </a:cxn>
              <a:cxn ang="0">
                <a:pos x="connsiteX2" y="connsiteY2"/>
              </a:cxn>
              <a:cxn ang="0">
                <a:pos x="connsiteX3" y="connsiteY3"/>
              </a:cxn>
            </a:cxnLst>
            <a:rect l="l" t="t" r="r" b="b"/>
            <a:pathLst>
              <a:path w="7169286" h="3838694" extrusionOk="0">
                <a:moveTo>
                  <a:pt x="6812950" y="1220972"/>
                </a:moveTo>
                <a:lnTo>
                  <a:pt x="356337" y="1220972"/>
                </a:lnTo>
                <a:lnTo>
                  <a:pt x="307986" y="1224225"/>
                </a:lnTo>
                <a:lnTo>
                  <a:pt x="261611" y="1233701"/>
                </a:lnTo>
                <a:lnTo>
                  <a:pt x="217637" y="1248975"/>
                </a:lnTo>
                <a:lnTo>
                  <a:pt x="176489" y="1269623"/>
                </a:lnTo>
                <a:lnTo>
                  <a:pt x="138592" y="1295221"/>
                </a:lnTo>
                <a:lnTo>
                  <a:pt x="104371" y="1325343"/>
                </a:lnTo>
                <a:lnTo>
                  <a:pt x="74249" y="1359564"/>
                </a:lnTo>
                <a:lnTo>
                  <a:pt x="48651" y="1397461"/>
                </a:lnTo>
                <a:lnTo>
                  <a:pt x="28003" y="1438609"/>
                </a:lnTo>
                <a:lnTo>
                  <a:pt x="12729" y="1482583"/>
                </a:lnTo>
                <a:lnTo>
                  <a:pt x="3253" y="1528958"/>
                </a:lnTo>
                <a:lnTo>
                  <a:pt x="0" y="1577309"/>
                </a:lnTo>
                <a:lnTo>
                  <a:pt x="0" y="3482356"/>
                </a:lnTo>
                <a:lnTo>
                  <a:pt x="3253" y="3530708"/>
                </a:lnTo>
                <a:lnTo>
                  <a:pt x="12729" y="3577083"/>
                </a:lnTo>
                <a:lnTo>
                  <a:pt x="28003" y="3621056"/>
                </a:lnTo>
                <a:lnTo>
                  <a:pt x="48651" y="3662204"/>
                </a:lnTo>
                <a:lnTo>
                  <a:pt x="74249" y="3700101"/>
                </a:lnTo>
                <a:lnTo>
                  <a:pt x="104371" y="3734322"/>
                </a:lnTo>
                <a:lnTo>
                  <a:pt x="138592" y="3764444"/>
                </a:lnTo>
                <a:lnTo>
                  <a:pt x="176489" y="3790041"/>
                </a:lnTo>
                <a:lnTo>
                  <a:pt x="217637" y="3810689"/>
                </a:lnTo>
                <a:lnTo>
                  <a:pt x="261611" y="3825964"/>
                </a:lnTo>
                <a:lnTo>
                  <a:pt x="307986" y="3835440"/>
                </a:lnTo>
                <a:lnTo>
                  <a:pt x="356337" y="3838693"/>
                </a:lnTo>
                <a:lnTo>
                  <a:pt x="6812950" y="3838693"/>
                </a:lnTo>
                <a:lnTo>
                  <a:pt x="6861301" y="3835440"/>
                </a:lnTo>
                <a:lnTo>
                  <a:pt x="6907675" y="3825964"/>
                </a:lnTo>
                <a:lnTo>
                  <a:pt x="6951648" y="3810689"/>
                </a:lnTo>
                <a:lnTo>
                  <a:pt x="6992795" y="3790041"/>
                </a:lnTo>
                <a:lnTo>
                  <a:pt x="7030692" y="3764444"/>
                </a:lnTo>
                <a:lnTo>
                  <a:pt x="7064914" y="3734322"/>
                </a:lnTo>
                <a:lnTo>
                  <a:pt x="7095036" y="3700101"/>
                </a:lnTo>
                <a:lnTo>
                  <a:pt x="7120633" y="3662204"/>
                </a:lnTo>
                <a:lnTo>
                  <a:pt x="7141281" y="3621056"/>
                </a:lnTo>
                <a:lnTo>
                  <a:pt x="7156556" y="3577083"/>
                </a:lnTo>
                <a:lnTo>
                  <a:pt x="7166032" y="3530708"/>
                </a:lnTo>
                <a:lnTo>
                  <a:pt x="7169285" y="3482356"/>
                </a:lnTo>
                <a:lnTo>
                  <a:pt x="7169285" y="1577309"/>
                </a:lnTo>
                <a:lnTo>
                  <a:pt x="7166032" y="1528958"/>
                </a:lnTo>
                <a:lnTo>
                  <a:pt x="7156556" y="1482583"/>
                </a:lnTo>
                <a:lnTo>
                  <a:pt x="7141281" y="1438609"/>
                </a:lnTo>
                <a:lnTo>
                  <a:pt x="7120633" y="1397461"/>
                </a:lnTo>
                <a:lnTo>
                  <a:pt x="7095036" y="1359564"/>
                </a:lnTo>
                <a:lnTo>
                  <a:pt x="7064914" y="1325343"/>
                </a:lnTo>
                <a:lnTo>
                  <a:pt x="7030692" y="1295221"/>
                </a:lnTo>
                <a:lnTo>
                  <a:pt x="6992795" y="1269623"/>
                </a:lnTo>
                <a:lnTo>
                  <a:pt x="6951648" y="1248975"/>
                </a:lnTo>
                <a:lnTo>
                  <a:pt x="6907675" y="1233701"/>
                </a:lnTo>
                <a:lnTo>
                  <a:pt x="6861301" y="1224225"/>
                </a:lnTo>
                <a:lnTo>
                  <a:pt x="6812950" y="1220972"/>
                </a:lnTo>
                <a:close/>
              </a:path>
              <a:path w="7169286" h="3838694" extrusionOk="0">
                <a:moveTo>
                  <a:pt x="997315" y="0"/>
                </a:moveTo>
                <a:lnTo>
                  <a:pt x="2348194" y="1237718"/>
                </a:lnTo>
                <a:lnTo>
                  <a:pt x="2993816" y="1237718"/>
                </a:lnTo>
                <a:lnTo>
                  <a:pt x="997315" y="0"/>
                </a:lnTo>
                <a:close/>
              </a:path>
            </a:pathLst>
          </a:custGeom>
          <a:solidFill>
            <a:srgbClr val="D3908F"/>
          </a:solidFill>
          <a:ln>
            <a:noFill/>
          </a:ln>
        </p:spPr>
        <p:txBody>
          <a:bodyPr spcFirstLastPara="1" wrap="square" lIns="0" tIns="0" rIns="0" bIns="0" anchor="t" anchorCtr="0">
            <a:noAutofit/>
          </a:bodyPr>
          <a:lstStyle/>
          <a:p>
            <a:endParaRPr sz="964"/>
          </a:p>
        </p:txBody>
      </p:sp>
      <p:sp>
        <p:nvSpPr>
          <p:cNvPr id="10" name="Google Shape;173;p20">
            <a:extLst>
              <a:ext uri="{FF2B5EF4-FFF2-40B4-BE49-F238E27FC236}">
                <a16:creationId xmlns:a16="http://schemas.microsoft.com/office/drawing/2014/main" id="{6BB9A3C9-920B-5DD9-BA88-7263F5EA65C4}"/>
              </a:ext>
            </a:extLst>
          </p:cNvPr>
          <p:cNvSpPr txBox="1"/>
          <p:nvPr/>
        </p:nvSpPr>
        <p:spPr>
          <a:xfrm>
            <a:off x="5927178" y="5353968"/>
            <a:ext cx="1658532" cy="1146391"/>
          </a:xfrm>
          <a:prstGeom prst="rect">
            <a:avLst/>
          </a:prstGeom>
          <a:noFill/>
          <a:ln>
            <a:noFill/>
          </a:ln>
        </p:spPr>
        <p:txBody>
          <a:bodyPr spcFirstLastPara="1" wrap="square" lIns="0" tIns="8504" rIns="0" bIns="0" anchor="ctr" anchorCtr="0">
            <a:noAutofit/>
          </a:bodyPr>
          <a:lstStyle/>
          <a:p>
            <a:pPr algn="ctr">
              <a:lnSpc>
                <a:spcPct val="116753"/>
              </a:lnSpc>
            </a:pPr>
            <a:r>
              <a:rPr lang="en-US" sz="2800" b="1" dirty="0">
                <a:solidFill>
                  <a:srgbClr val="FFFFFF"/>
                </a:solidFill>
                <a:latin typeface="Trebuchet MS"/>
                <a:ea typeface="Trebuchet MS"/>
                <a:cs typeface="Trebuchet MS"/>
                <a:sym typeface="Trebuchet MS"/>
              </a:rPr>
              <a:t>number of groups</a:t>
            </a:r>
            <a:endParaRPr sz="2800" dirty="0">
              <a:latin typeface="Trebuchet MS"/>
              <a:ea typeface="Trebuchet MS"/>
              <a:cs typeface="Trebuchet MS"/>
              <a:sym typeface="Trebuchet MS"/>
            </a:endParaRPr>
          </a:p>
        </p:txBody>
      </p:sp>
    </p:spTree>
    <p:extLst>
      <p:ext uri="{BB962C8B-B14F-4D97-AF65-F5344CB8AC3E}">
        <p14:creationId xmlns:p14="http://schemas.microsoft.com/office/powerpoint/2010/main" val="4041644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69A81-EACE-CA4A-8F32-2988B1716969}"/>
              </a:ext>
            </a:extLst>
          </p:cNvPr>
          <p:cNvSpPr>
            <a:spLocks noGrp="1"/>
          </p:cNvSpPr>
          <p:nvPr>
            <p:ph type="title"/>
          </p:nvPr>
        </p:nvSpPr>
        <p:spPr/>
        <p:txBody>
          <a:bodyPr/>
          <a:lstStyle/>
          <a:p>
            <a:r>
              <a:rPr lang="en-US" sz="5400" dirty="0" err="1">
                <a:solidFill>
                  <a:schemeClr val="tx1"/>
                </a:solidFill>
              </a:rPr>
              <a:t>group_by</a:t>
            </a:r>
            <a:r>
              <a:rPr lang="en-US" sz="5400" dirty="0">
                <a:solidFill>
                  <a:schemeClr val="tx1"/>
                </a:solidFill>
              </a:rPr>
              <a:t>() |&gt; summarize()</a:t>
            </a:r>
            <a:endParaRPr lang="en-US" dirty="0">
              <a:solidFill>
                <a:schemeClr val="tx1"/>
              </a:solidFill>
            </a:endParaRPr>
          </a:p>
        </p:txBody>
      </p:sp>
    </p:spTree>
    <p:extLst>
      <p:ext uri="{BB962C8B-B14F-4D97-AF65-F5344CB8AC3E}">
        <p14:creationId xmlns:p14="http://schemas.microsoft.com/office/powerpoint/2010/main" val="2827583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890984" y="758471"/>
            <a:ext cx="2468688" cy="923330"/>
          </a:xfrm>
          <a:prstGeom prst="rect">
            <a:avLst/>
          </a:prstGeom>
          <a:noFill/>
        </p:spPr>
        <p:txBody>
          <a:bodyPr wrap="none" rtlCol="0">
            <a:spAutoFit/>
          </a:bodyPr>
          <a:lstStyle/>
          <a:p>
            <a:pPr algn="ctr"/>
            <a:r>
              <a:rPr lang="en-US" sz="5400" dirty="0" err="1">
                <a:latin typeface="+mj-lt"/>
                <a:sym typeface="Calibri"/>
              </a:rPr>
              <a:t>group_by</a:t>
            </a:r>
            <a:r>
              <a:rPr lang="en-US" sz="5400" dirty="0">
                <a:latin typeface="+mj-lt"/>
                <a:sym typeface="Calibri"/>
              </a:rPr>
              <a:t>()</a:t>
            </a:r>
            <a:endParaRPr lang="en-US" sz="5400" dirty="0">
              <a:latin typeface="+mj-lt"/>
            </a:endParaRPr>
          </a:p>
        </p:txBody>
      </p:sp>
      <p:sp>
        <p:nvSpPr>
          <p:cNvPr id="8" name="TextBox 7"/>
          <p:cNvSpPr txBox="1"/>
          <p:nvPr/>
        </p:nvSpPr>
        <p:spPr>
          <a:xfrm>
            <a:off x="4694963" y="758471"/>
            <a:ext cx="2875531" cy="923330"/>
          </a:xfrm>
          <a:prstGeom prst="rect">
            <a:avLst/>
          </a:prstGeom>
          <a:noFill/>
        </p:spPr>
        <p:txBody>
          <a:bodyPr wrap="none" rtlCol="0">
            <a:spAutoFit/>
          </a:bodyPr>
          <a:lstStyle/>
          <a:p>
            <a:pPr algn="ctr"/>
            <a:r>
              <a:rPr lang="en-US" sz="5400" dirty="0">
                <a:latin typeface="+mj-lt"/>
                <a:sym typeface="Calibri"/>
              </a:rPr>
              <a:t>summarize</a:t>
            </a:r>
            <a:r>
              <a:rPr lang="en-US" sz="5400" dirty="0">
                <a:latin typeface="Calibri"/>
                <a:sym typeface="Calibri"/>
              </a:rPr>
              <a:t>()</a:t>
            </a:r>
            <a:endParaRPr lang="en-US" dirty="0"/>
          </a:p>
        </p:txBody>
      </p:sp>
      <p:sp>
        <p:nvSpPr>
          <p:cNvPr id="9" name="TextBox 8"/>
          <p:cNvSpPr txBox="1"/>
          <p:nvPr/>
        </p:nvSpPr>
        <p:spPr>
          <a:xfrm>
            <a:off x="3521410" y="831373"/>
            <a:ext cx="1011815" cy="923330"/>
          </a:xfrm>
          <a:prstGeom prst="rect">
            <a:avLst/>
          </a:prstGeom>
          <a:noFill/>
        </p:spPr>
        <p:txBody>
          <a:bodyPr wrap="none" rtlCol="0">
            <a:spAutoFit/>
          </a:bodyPr>
          <a:lstStyle/>
          <a:p>
            <a:r>
              <a:rPr lang="en-US" sz="5400" dirty="0">
                <a:latin typeface="+mj-lt"/>
                <a:sym typeface="Calibri"/>
              </a:rPr>
              <a:t>|&gt;</a:t>
            </a:r>
            <a:endParaRPr lang="en-US" sz="5400" dirty="0">
              <a:latin typeface="+mj-lt"/>
            </a:endParaRPr>
          </a:p>
        </p:txBody>
      </p:sp>
      <p:graphicFrame>
        <p:nvGraphicFramePr>
          <p:cNvPr id="3" name="Google Shape;154;p18"/>
          <p:cNvGraphicFramePr/>
          <p:nvPr/>
        </p:nvGraphicFramePr>
        <p:xfrm>
          <a:off x="1606351" y="2967054"/>
          <a:ext cx="2401947" cy="2690254"/>
        </p:xfrm>
        <a:graphic>
          <a:graphicData uri="http://schemas.openxmlformats.org/drawingml/2006/table">
            <a:tbl>
              <a:tblPr firstRow="1" bandRow="1">
                <a:noFill/>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4" name="Right Arrow 3"/>
          <p:cNvSpPr/>
          <p:nvPr/>
        </p:nvSpPr>
        <p:spPr>
          <a:xfrm>
            <a:off x="4268089" y="3960514"/>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8077727" y="4303413"/>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p:cNvGrpSpPr/>
          <p:nvPr/>
        </p:nvGrpSpPr>
        <p:grpSpPr>
          <a:xfrm>
            <a:off x="5350840" y="2931327"/>
            <a:ext cx="2476438" cy="2690254"/>
            <a:chOff x="4377469" y="1940727"/>
            <a:chExt cx="2476438" cy="2690254"/>
          </a:xfrm>
        </p:grpSpPr>
        <p:graphicFrame>
          <p:nvGraphicFramePr>
            <p:cNvPr id="5" name="Google Shape;154;p18"/>
            <p:cNvGraphicFramePr/>
            <p:nvPr/>
          </p:nvGraphicFramePr>
          <p:xfrm>
            <a:off x="4451960" y="1940727"/>
            <a:ext cx="2401947" cy="2690254"/>
          </p:xfrm>
          <a:graphic>
            <a:graphicData uri="http://schemas.openxmlformats.org/drawingml/2006/table">
              <a:tbl>
                <a:tblPr firstRow="1" bandRow="1">
                  <a:noFill/>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gridCol w="992072">
                    <a:extLst>
                      <a:ext uri="{9D8B030D-6E8A-4147-A177-3AD203B41FA5}">
                        <a16:colId xmlns:a16="http://schemas.microsoft.com/office/drawing/2014/main" val="20002"/>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767C85"/>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2"/>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4"/>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5"/>
                    </a:ext>
                  </a:extLst>
                </a:tr>
                <a:tr h="384322">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1D2"/>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4377470" y="2241176"/>
              <a:ext cx="2476437" cy="896471"/>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ounded Rectangle 11"/>
            <p:cNvSpPr/>
            <p:nvPr/>
          </p:nvSpPr>
          <p:spPr>
            <a:xfrm>
              <a:off x="4377470" y="3122313"/>
              <a:ext cx="2476437" cy="685800"/>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ounded Rectangle 12"/>
            <p:cNvSpPr/>
            <p:nvPr/>
          </p:nvSpPr>
          <p:spPr>
            <a:xfrm>
              <a:off x="4377469" y="3808113"/>
              <a:ext cx="2476437" cy="754334"/>
            </a:xfrm>
            <a:prstGeom prst="roundRect">
              <a:avLst/>
            </a:prstGeom>
            <a:noFill/>
            <a:ln w="57150"/>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grpSp>
      <p:graphicFrame>
        <p:nvGraphicFramePr>
          <p:cNvPr id="14" name="Google Shape;154;p18"/>
          <p:cNvGraphicFramePr/>
          <p:nvPr/>
        </p:nvGraphicFramePr>
        <p:xfrm>
          <a:off x="9169819" y="3482785"/>
          <a:ext cx="1409875" cy="1537288"/>
        </p:xfrm>
        <a:graphic>
          <a:graphicData uri="http://schemas.openxmlformats.org/drawingml/2006/table">
            <a:tbl>
              <a:tblPr firstRow="1" bandRow="1">
                <a:noFill/>
                <a:effectLst/>
              </a:tblPr>
              <a:tblGrid>
                <a:gridCol w="724508">
                  <a:extLst>
                    <a:ext uri="{9D8B030D-6E8A-4147-A177-3AD203B41FA5}">
                      <a16:colId xmlns:a16="http://schemas.microsoft.com/office/drawing/2014/main" val="20000"/>
                    </a:ext>
                  </a:extLst>
                </a:gridCol>
                <a:gridCol w="685367">
                  <a:extLst>
                    <a:ext uri="{9D8B030D-6E8A-4147-A177-3AD203B41FA5}">
                      <a16:colId xmlns:a16="http://schemas.microsoft.com/office/drawing/2014/main" val="20001"/>
                    </a:ext>
                  </a:extLst>
                </a:gridCol>
              </a:tblGrid>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tx1">
                        <a:lumMod val="95000"/>
                        <a:lumOff val="5000"/>
                      </a:schemeClr>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solidFill>
                  </a:tcPr>
                </a:tc>
                <a:extLst>
                  <a:ext uri="{0D108BD9-81ED-4DB2-BD59-A6C34878D82A}">
                    <a16:rowId xmlns:a16="http://schemas.microsoft.com/office/drawing/2014/main" val="10000"/>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3908F"/>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1"/>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92B57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3"/>
                  </a:ext>
                </a:extLst>
              </a:tr>
              <a:tr h="384322">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8DB4E3"/>
                    </a:solidFill>
                  </a:tcPr>
                </a:tc>
                <a:tc>
                  <a:txBody>
                    <a:bodyPr/>
                    <a:lstStyle/>
                    <a:p>
                      <a:pPr marL="0" marR="0" lvl="0" indent="0" algn="l" rtl="0">
                        <a:lnSpc>
                          <a:spcPct val="100000"/>
                        </a:lnSpc>
                        <a:spcBef>
                          <a:spcPts val="0"/>
                        </a:spcBef>
                        <a:spcAft>
                          <a:spcPts val="0"/>
                        </a:spcAft>
                        <a:buNone/>
                      </a:pPr>
                      <a:endParaRPr sz="300" u="none" strike="noStrike" cap="none" dirty="0">
                        <a:latin typeface="Times New Roman"/>
                        <a:ea typeface="Times New Roman"/>
                        <a:cs typeface="Times New Roman"/>
                        <a:sym typeface="Times New Roman"/>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chemeClr val="accent6">
                        <a:lumMod val="60000"/>
                        <a:lumOff val="40000"/>
                      </a:schemeClr>
                    </a:solidFill>
                  </a:tcPr>
                </a:tc>
                <a:extLst>
                  <a:ext uri="{0D108BD9-81ED-4DB2-BD59-A6C34878D82A}">
                    <a16:rowId xmlns:a16="http://schemas.microsoft.com/office/drawing/2014/main" val="10006"/>
                  </a:ext>
                </a:extLst>
              </a:tr>
            </a:tbl>
          </a:graphicData>
        </a:graphic>
      </p:graphicFrame>
      <p:sp>
        <p:nvSpPr>
          <p:cNvPr id="16"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sp>
        <p:nvSpPr>
          <p:cNvPr id="17" name="Google Shape;296;p32"/>
          <p:cNvSpPr txBox="1"/>
          <p:nvPr/>
        </p:nvSpPr>
        <p:spPr>
          <a:xfrm>
            <a:off x="1510050" y="2115906"/>
            <a:ext cx="7411101" cy="890808"/>
          </a:xfrm>
          <a:prstGeom prst="rect">
            <a:avLst/>
          </a:prstGeom>
          <a:noFill/>
          <a:ln>
            <a:noFill/>
          </a:ln>
        </p:spPr>
        <p:txBody>
          <a:bodyPr spcFirstLastPara="1" wrap="square" lIns="0" tIns="6455" rIns="0" bIns="0" anchor="t" anchorCtr="0">
            <a:noAutofit/>
          </a:bodyPr>
          <a:lstStyle/>
          <a:p>
            <a:pPr marL="6803"/>
            <a:r>
              <a:rPr lang="en-US" sz="3600" dirty="0">
                <a:latin typeface="Calibri"/>
                <a:ea typeface="Calibri"/>
                <a:cs typeface="Calibri"/>
                <a:sym typeface="Calibri"/>
              </a:rPr>
              <a:t>Make summaries of your data </a:t>
            </a:r>
            <a:r>
              <a:rPr lang="en-US" sz="3600" i="1" dirty="0">
                <a:latin typeface="Calibri"/>
                <a:ea typeface="Calibri"/>
                <a:cs typeface="Calibri"/>
                <a:sym typeface="Calibri"/>
              </a:rPr>
              <a:t>by group</a:t>
            </a:r>
            <a:endParaRPr sz="3600" i="1" dirty="0">
              <a:latin typeface="Calibri"/>
              <a:ea typeface="Calibri"/>
              <a:cs typeface="Calibri"/>
              <a:sym typeface="Calibri"/>
            </a:endParaRPr>
          </a:p>
        </p:txBody>
      </p:sp>
      <p:sp>
        <p:nvSpPr>
          <p:cNvPr id="18" name="Right Arrow 17"/>
          <p:cNvSpPr/>
          <p:nvPr/>
        </p:nvSpPr>
        <p:spPr>
          <a:xfrm rot="611046">
            <a:off x="8077727" y="3682611"/>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rot="20988954" flipV="1">
            <a:off x="8077727" y="4892854"/>
            <a:ext cx="822960" cy="30480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22605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2400300" y="2382161"/>
            <a:ext cx="6503815" cy="1450525"/>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1021269706"/>
              </p:ext>
            </p:extLst>
          </p:nvPr>
        </p:nvGraphicFramePr>
        <p:xfrm>
          <a:off x="2299233" y="4353872"/>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5001412</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potassium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bicarbonate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5009134</a:t>
                      </a: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chloride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6328301" y="4684083"/>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15160" y="763285"/>
            <a:ext cx="6239272" cy="923330"/>
          </a:xfrm>
          <a:prstGeom prst="rect">
            <a:avLst/>
          </a:prstGeom>
          <a:noFill/>
        </p:spPr>
        <p:txBody>
          <a:bodyPr wrap="none" rtlCol="0">
            <a:spAutoFit/>
          </a:bodyPr>
          <a:lstStyle/>
          <a:p>
            <a:r>
              <a:rPr lang="en-US" sz="5400" dirty="0" err="1">
                <a:latin typeface="+mj-lt"/>
                <a:sym typeface="Calibri"/>
              </a:rPr>
              <a:t>group_by</a:t>
            </a:r>
            <a:r>
              <a:rPr lang="en-US" sz="5400" dirty="0">
                <a:latin typeface="+mj-lt"/>
                <a:sym typeface="Calibri"/>
              </a:rPr>
              <a:t>() |&gt; 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3874412971"/>
              </p:ext>
            </p:extLst>
          </p:nvPr>
        </p:nvGraphicFramePr>
        <p:xfrm>
          <a:off x="7054432" y="4353872"/>
          <a:ext cx="2051392" cy="861864"/>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test_count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1800" b="0" i="0" kern="1200" dirty="0">
                          <a:solidFill>
                            <a:schemeClr val="tx1"/>
                          </a:solidFill>
                          <a:effectLst/>
                          <a:latin typeface="+mn-lt"/>
                          <a:ea typeface="+mn-ea"/>
                          <a:cs typeface="+mn-cs"/>
                        </a:rPr>
                        <a:t>155554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bl>
          </a:graphicData>
        </a:graphic>
      </p:graphicFrame>
      <p:sp>
        <p:nvSpPr>
          <p:cNvPr id="14" name="Rectangle 13"/>
          <p:cNvSpPr/>
          <p:nvPr/>
        </p:nvSpPr>
        <p:spPr>
          <a:xfrm>
            <a:off x="2844092" y="2443142"/>
            <a:ext cx="6503815" cy="1323439"/>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rgbClr val="FF0000"/>
                </a:solidFill>
                <a:latin typeface="Consolas" panose="020B0609020204030204" pitchFamily="49" charset="0"/>
                <a:ea typeface="Courier New"/>
                <a:cs typeface="Consolas" panose="020B0609020204030204" pitchFamily="49" charset="0"/>
                <a:sym typeface="Courier New"/>
              </a:rPr>
              <a:t>	</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test_count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spTree>
    <p:extLst>
      <p:ext uri="{BB962C8B-B14F-4D97-AF65-F5344CB8AC3E}">
        <p14:creationId xmlns:p14="http://schemas.microsoft.com/office/powerpoint/2010/main" val="2885098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16" name="Google Shape;131;p17"/>
          <p:cNvSpPr/>
          <p:nvPr/>
        </p:nvSpPr>
        <p:spPr>
          <a:xfrm>
            <a:off x="2969821" y="2453532"/>
            <a:ext cx="6048449" cy="1489285"/>
          </a:xfrm>
          <a:custGeom>
            <a:avLst/>
            <a:gdLst/>
            <a:ahLst/>
            <a:cxnLst/>
            <a:rect l="l" t="t" r="r" b="b"/>
            <a:pathLst>
              <a:path w="14544040" h="1333500" extrusionOk="0">
                <a:moveTo>
                  <a:pt x="0" y="0"/>
                </a:moveTo>
                <a:lnTo>
                  <a:pt x="14543737" y="0"/>
                </a:lnTo>
                <a:lnTo>
                  <a:pt x="14543737" y="1333348"/>
                </a:lnTo>
                <a:lnTo>
                  <a:pt x="0" y="1333348"/>
                </a:lnTo>
                <a:lnTo>
                  <a:pt x="0" y="0"/>
                </a:lnTo>
                <a:close/>
              </a:path>
            </a:pathLst>
          </a:custGeom>
          <a:solidFill>
            <a:srgbClr val="F0F2F4"/>
          </a:solidFill>
          <a:ln>
            <a:solidFill>
              <a:schemeClr val="tx1">
                <a:lumMod val="85000"/>
                <a:lumOff val="15000"/>
              </a:schemeClr>
            </a:solidFill>
          </a:ln>
        </p:spPr>
        <p:txBody>
          <a:bodyPr spcFirstLastPara="1" wrap="square" lIns="0" tIns="0" rIns="0" bIns="0" anchor="t" anchorCtr="0">
            <a:noAutofit/>
          </a:bodyPr>
          <a:lstStyle/>
          <a:p>
            <a:endParaRPr sz="964" dirty="0"/>
          </a:p>
        </p:txBody>
      </p:sp>
      <p:sp>
        <p:nvSpPr>
          <p:cNvPr id="296" name="Google Shape;296;p32"/>
          <p:cNvSpPr txBox="1"/>
          <p:nvPr/>
        </p:nvSpPr>
        <p:spPr>
          <a:xfrm>
            <a:off x="1072055" y="1747595"/>
            <a:ext cx="6159054" cy="1167589"/>
          </a:xfrm>
          <a:prstGeom prst="rect">
            <a:avLst/>
          </a:prstGeom>
          <a:noFill/>
          <a:ln>
            <a:noFill/>
          </a:ln>
        </p:spPr>
        <p:txBody>
          <a:bodyPr spcFirstLastPara="1" wrap="square" lIns="0" tIns="6455" rIns="0" bIns="0" anchor="t" anchorCtr="0">
            <a:noAutofit/>
          </a:bodyPr>
          <a:lstStyle/>
          <a:p>
            <a:pPr marL="464003" indent="-457200">
              <a:buFont typeface="Arial" charset="0"/>
              <a:buChar char="•"/>
            </a:pPr>
            <a:r>
              <a:rPr lang="en-US" sz="2800" dirty="0">
                <a:latin typeface="Calibri"/>
                <a:ea typeface="Calibri"/>
                <a:cs typeface="Calibri"/>
                <a:sym typeface="Calibri"/>
              </a:rPr>
              <a:t>Make summaries of your data</a:t>
            </a:r>
          </a:p>
        </p:txBody>
      </p:sp>
      <p:sp>
        <p:nvSpPr>
          <p:cNvPr id="15" name="Google Shape;46;p7"/>
          <p:cNvSpPr>
            <a:spLocks noChangeAspect="1"/>
          </p:cNvSpPr>
          <p:nvPr/>
        </p:nvSpPr>
        <p:spPr>
          <a:xfrm>
            <a:off x="11152671" y="5805616"/>
            <a:ext cx="776274" cy="83567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endParaRPr sz="964"/>
          </a:p>
        </p:txBody>
      </p:sp>
      <p:graphicFrame>
        <p:nvGraphicFramePr>
          <p:cNvPr id="13" name="Table 12"/>
          <p:cNvGraphicFramePr>
            <a:graphicFrameLocks noGrp="1"/>
          </p:cNvGraphicFramePr>
          <p:nvPr>
            <p:extLst>
              <p:ext uri="{D42A27DB-BD31-4B8C-83A1-F6EECF244321}">
                <p14:modId xmlns:p14="http://schemas.microsoft.com/office/powerpoint/2010/main" val="1451127897"/>
              </p:ext>
            </p:extLst>
          </p:nvPr>
        </p:nvGraphicFramePr>
        <p:xfrm>
          <a:off x="1900244" y="4228890"/>
          <a:ext cx="3736808" cy="2287415"/>
        </p:xfrm>
        <a:graphic>
          <a:graphicData uri="http://schemas.openxmlformats.org/drawingml/2006/table">
            <a:tbl>
              <a:tblPr firstRow="1" bandRow="1"/>
              <a:tblGrid>
                <a:gridCol w="1505607">
                  <a:extLst>
                    <a:ext uri="{9D8B030D-6E8A-4147-A177-3AD203B41FA5}">
                      <a16:colId xmlns:a16="http://schemas.microsoft.com/office/drawing/2014/main" val="20000"/>
                    </a:ext>
                  </a:extLst>
                </a:gridCol>
                <a:gridCol w="2231201">
                  <a:extLst>
                    <a:ext uri="{9D8B030D-6E8A-4147-A177-3AD203B41FA5}">
                      <a16:colId xmlns:a16="http://schemas.microsoft.com/office/drawing/2014/main" val="20001"/>
                    </a:ext>
                  </a:extLst>
                </a:gridCol>
              </a:tblGrid>
              <a:tr h="370840">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tc>
                  <a:txBody>
                    <a:bodyPr/>
                    <a:lstStyle/>
                    <a:p>
                      <a:pPr marL="0" lvl="0" indent="0" algn="ctr" rtl="0">
                        <a:spcBef>
                          <a:spcPts val="0"/>
                        </a:spcBef>
                        <a:spcAft>
                          <a:spcPts val="0"/>
                        </a:spcAft>
                        <a:buNone/>
                      </a:pPr>
                      <a:r>
                        <a:rPr lang="en-US" sz="2400" b="1" dirty="0">
                          <a:solidFill>
                            <a:schemeClr val="lt1"/>
                          </a:solidFill>
                        </a:rPr>
                        <a:t>test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sodium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potassium</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2"/>
                  </a:ext>
                </a:extLst>
              </a:tr>
              <a:tr h="563687">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bicarbonate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chloride</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9D9D9"/>
                    </a:solidFill>
                  </a:tcPr>
                </a:tc>
                <a:extLst>
                  <a:ext uri="{0D108BD9-81ED-4DB2-BD59-A6C34878D82A}">
                    <a16:rowId xmlns:a16="http://schemas.microsoft.com/office/drawing/2014/main" val="10004"/>
                  </a:ext>
                </a:extLst>
              </a:tr>
            </a:tbl>
          </a:graphicData>
        </a:graphic>
      </p:graphicFrame>
      <p:sp>
        <p:nvSpPr>
          <p:cNvPr id="18" name="Google Shape;387;p40"/>
          <p:cNvSpPr/>
          <p:nvPr/>
        </p:nvSpPr>
        <p:spPr>
          <a:xfrm>
            <a:off x="5929312" y="5256636"/>
            <a:ext cx="333375" cy="231922"/>
          </a:xfrm>
          <a:custGeom>
            <a:avLst/>
            <a:gdLst/>
            <a:ahLst/>
            <a:cxnLst/>
            <a:rect l="l" t="t" r="r" b="b"/>
            <a:pathLst>
              <a:path w="622300" h="382270" extrusionOk="0">
                <a:moveTo>
                  <a:pt x="357634" y="0"/>
                </a:moveTo>
                <a:lnTo>
                  <a:pt x="357634" y="133825"/>
                </a:lnTo>
                <a:lnTo>
                  <a:pt x="0" y="133825"/>
                </a:lnTo>
                <a:lnTo>
                  <a:pt x="0" y="247816"/>
                </a:lnTo>
                <a:lnTo>
                  <a:pt x="357634" y="247816"/>
                </a:lnTo>
                <a:lnTo>
                  <a:pt x="357634" y="381642"/>
                </a:lnTo>
                <a:lnTo>
                  <a:pt x="622084" y="190821"/>
                </a:lnTo>
                <a:lnTo>
                  <a:pt x="357634" y="0"/>
                </a:lnTo>
                <a:close/>
              </a:path>
            </a:pathLst>
          </a:custGeom>
          <a:solidFill>
            <a:srgbClr val="53585F"/>
          </a:solidFill>
          <a:ln>
            <a:noFill/>
          </a:ln>
        </p:spPr>
        <p:txBody>
          <a:bodyPr spcFirstLastPara="1" wrap="square" lIns="0" tIns="0" rIns="0" bIns="0" anchor="t" anchorCtr="0">
            <a:noAutofit/>
          </a:bodyPr>
          <a:lstStyle/>
          <a:p>
            <a:endParaRPr sz="964"/>
          </a:p>
        </p:txBody>
      </p:sp>
      <p:sp>
        <p:nvSpPr>
          <p:cNvPr id="26" name="TextBox 25"/>
          <p:cNvSpPr txBox="1"/>
          <p:nvPr/>
        </p:nvSpPr>
        <p:spPr>
          <a:xfrm>
            <a:off x="815160" y="763285"/>
            <a:ext cx="6239272" cy="923330"/>
          </a:xfrm>
          <a:prstGeom prst="rect">
            <a:avLst/>
          </a:prstGeom>
          <a:noFill/>
        </p:spPr>
        <p:txBody>
          <a:bodyPr wrap="none" rtlCol="0">
            <a:spAutoFit/>
          </a:bodyPr>
          <a:lstStyle/>
          <a:p>
            <a:r>
              <a:rPr lang="en-US" sz="5400" dirty="0" err="1">
                <a:latin typeface="+mj-lt"/>
                <a:sym typeface="Calibri"/>
              </a:rPr>
              <a:t>group_by</a:t>
            </a:r>
            <a:r>
              <a:rPr lang="en-US" sz="5400" dirty="0">
                <a:latin typeface="+mj-lt"/>
                <a:sym typeface="Calibri"/>
              </a:rPr>
              <a:t>() |&gt; summarize</a:t>
            </a:r>
            <a:r>
              <a:rPr lang="en-US" sz="5400" dirty="0">
                <a:latin typeface="Calibri"/>
                <a:sym typeface="Calibri"/>
              </a:rPr>
              <a:t>()</a:t>
            </a:r>
            <a:endParaRPr lang="en-US" dirty="0"/>
          </a:p>
        </p:txBody>
      </p:sp>
      <p:graphicFrame>
        <p:nvGraphicFramePr>
          <p:cNvPr id="27" name="Table 26"/>
          <p:cNvGraphicFramePr>
            <a:graphicFrameLocks noGrp="1"/>
          </p:cNvGraphicFramePr>
          <p:nvPr>
            <p:extLst>
              <p:ext uri="{D42A27DB-BD31-4B8C-83A1-F6EECF244321}">
                <p14:modId xmlns:p14="http://schemas.microsoft.com/office/powerpoint/2010/main" val="2856900"/>
              </p:ext>
            </p:extLst>
          </p:nvPr>
        </p:nvGraphicFramePr>
        <p:xfrm>
          <a:off x="8606339" y="4310789"/>
          <a:ext cx="2051392" cy="2139420"/>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test_count</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538DD5"/>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778434246"/>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3860153828"/>
                  </a:ext>
                </a:extLst>
              </a:tr>
              <a:tr h="370840">
                <a:tc>
                  <a:txBody>
                    <a:bodyPr/>
                    <a:lstStyle/>
                    <a:p>
                      <a:pPr marL="0" lvl="0" indent="0" algn="ctr" rtl="0">
                        <a:spcBef>
                          <a:spcPts val="0"/>
                        </a:spcBef>
                        <a:spcAft>
                          <a:spcPts val="0"/>
                        </a:spcAft>
                        <a:buNone/>
                      </a:pPr>
                      <a:r>
                        <a:rPr lang="en-US" sz="2000" b="0" i="0" u="none" strike="noStrike" cap="none" dirty="0">
                          <a:solidFill>
                            <a:srgbClr val="000000"/>
                          </a:solidFill>
                          <a:latin typeface="Arial"/>
                          <a:ea typeface="Arial"/>
                          <a:cs typeface="Arial"/>
                          <a:sym typeface="Arial"/>
                        </a:rPr>
                        <a:t>24</a:t>
                      </a:r>
                      <a:endParaRPr sz="2000" b="0" i="0" u="none" strike="noStrike" cap="none" dirty="0">
                        <a:solidFill>
                          <a:srgbClr val="000000"/>
                        </a:solidFill>
                        <a:latin typeface="Arial"/>
                        <a:ea typeface="Arial"/>
                        <a:cs typeface="Arial"/>
                        <a:sym typeface="Aria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8DB4E2"/>
                    </a:solidFill>
                  </a:tcPr>
                </a:tc>
                <a:extLst>
                  <a:ext uri="{0D108BD9-81ED-4DB2-BD59-A6C34878D82A}">
                    <a16:rowId xmlns:a16="http://schemas.microsoft.com/office/drawing/2014/main" val="1025789013"/>
                  </a:ext>
                </a:extLst>
              </a:tr>
            </a:tbl>
          </a:graphicData>
        </a:graphic>
      </p:graphicFrame>
      <p:sp>
        <p:nvSpPr>
          <p:cNvPr id="14" name="Rectangle 13"/>
          <p:cNvSpPr/>
          <p:nvPr/>
        </p:nvSpPr>
        <p:spPr>
          <a:xfrm>
            <a:off x="2969821" y="2453532"/>
            <a:ext cx="6252355" cy="1323439"/>
          </a:xfrm>
          <a:prstGeom prst="rect">
            <a:avLst/>
          </a:prstGeom>
        </p:spPr>
        <p:txBody>
          <a:bodyPr wrap="square">
            <a:spAutoFit/>
          </a:bodyPr>
          <a:lstStyle/>
          <a:p>
            <a:r>
              <a:rPr lang="en-US" sz="2400" dirty="0">
                <a:latin typeface="Consolas" panose="020B0609020204030204" pitchFamily="49" charset="0"/>
                <a:ea typeface="Courier New"/>
                <a:cs typeface="Consolas" panose="020B0609020204030204" pitchFamily="49" charset="0"/>
                <a:sym typeface="Courier New"/>
              </a:rPr>
              <a:t>chem |&gt;</a:t>
            </a:r>
          </a:p>
          <a:p>
            <a:r>
              <a:rPr lang="en-US" sz="2400" dirty="0">
                <a:solidFill>
                  <a:srgbClr val="FF0000"/>
                </a:solidFill>
                <a:latin typeface="Consolas" panose="020B0609020204030204" pitchFamily="49" charset="0"/>
                <a:ea typeface="Courier New"/>
                <a:cs typeface="Consolas" panose="020B0609020204030204" pitchFamily="49" charset="0"/>
                <a:sym typeface="Courier New"/>
              </a:rPr>
              <a:t>	</a:t>
            </a:r>
            <a:r>
              <a:rPr lang="en-US" sz="2400" dirty="0" err="1">
                <a:solidFill>
                  <a:srgbClr val="FF0000"/>
                </a:solidFill>
                <a:latin typeface="Consolas" panose="020B0609020204030204" pitchFamily="49" charset="0"/>
                <a:ea typeface="Courier New"/>
                <a:cs typeface="Consolas" panose="020B0609020204030204" pitchFamily="49" charset="0"/>
                <a:sym typeface="Courier New"/>
              </a:rPr>
              <a:t>group_by</a:t>
            </a:r>
            <a:r>
              <a:rPr lang="en-US" sz="2400" dirty="0">
                <a:solidFill>
                  <a:srgbClr val="FF0000"/>
                </a:solidFill>
                <a:latin typeface="Consolas" panose="020B0609020204030204" pitchFamily="49" charset="0"/>
                <a:ea typeface="Courier New"/>
                <a:cs typeface="Consolas" panose="020B0609020204030204" pitchFamily="49" charset="0"/>
                <a:sym typeface="Courier New"/>
              </a:rPr>
              <a:t>(</a:t>
            </a:r>
            <a:r>
              <a:rPr lang="en-US" sz="2400" dirty="0" err="1">
                <a:solidFill>
                  <a:srgbClr val="FF0000"/>
                </a:solidFill>
                <a:latin typeface="Consolas" panose="020B0609020204030204" pitchFamily="49" charset="0"/>
                <a:ea typeface="Courier New"/>
                <a:cs typeface="Consolas" panose="020B0609020204030204" pitchFamily="49" charset="0"/>
                <a:sym typeface="Courier New"/>
              </a:rPr>
              <a:t>mrn</a:t>
            </a:r>
            <a:r>
              <a:rPr lang="en-US" sz="2400" dirty="0">
                <a:solidFill>
                  <a:srgbClr val="FF0000"/>
                </a:solidFill>
                <a:latin typeface="Consolas" panose="020B0609020204030204" pitchFamily="49" charset="0"/>
                <a:ea typeface="Courier New"/>
                <a:cs typeface="Consolas" panose="020B0609020204030204" pitchFamily="49" charset="0"/>
                <a:sym typeface="Courier New"/>
              </a:rPr>
              <a:t>) |&gt;</a:t>
            </a:r>
          </a:p>
          <a:p>
            <a:r>
              <a:rPr lang="en-US" sz="2400" dirty="0">
                <a:solidFill>
                  <a:schemeClr val="bg1">
                    <a:lumMod val="65000"/>
                  </a:schemeClr>
                </a:solidFill>
                <a:latin typeface="Consolas" panose="020B0609020204030204" pitchFamily="49" charset="0"/>
                <a:ea typeface="Courier New"/>
                <a:cs typeface="Consolas" panose="020B0609020204030204" pitchFamily="49" charset="0"/>
                <a:sym typeface="Courier New"/>
              </a:rPr>
              <a:t>	</a:t>
            </a:r>
            <a:r>
              <a:rPr lang="en-US" sz="2400" dirty="0">
                <a:latin typeface="Consolas" panose="020B0609020204030204" pitchFamily="49" charset="0"/>
                <a:ea typeface="Courier New"/>
                <a:cs typeface="Consolas" panose="020B0609020204030204" pitchFamily="49" charset="0"/>
                <a:sym typeface="Courier New"/>
              </a:rPr>
              <a:t>summarize(</a:t>
            </a:r>
            <a:r>
              <a:rPr lang="en-US" sz="2400" dirty="0" err="1">
                <a:solidFill>
                  <a:srgbClr val="538DD5"/>
                </a:solidFill>
                <a:latin typeface="Consolas" panose="020B0609020204030204" pitchFamily="49" charset="0"/>
                <a:ea typeface="Courier New"/>
                <a:cs typeface="Consolas" panose="020B0609020204030204" pitchFamily="49" charset="0"/>
                <a:sym typeface="Courier New"/>
              </a:rPr>
              <a:t>test_count</a:t>
            </a:r>
            <a:r>
              <a:rPr lang="en-US" sz="2400" dirty="0">
                <a:solidFill>
                  <a:srgbClr val="538DD5"/>
                </a:solidFill>
                <a:latin typeface="Consolas" panose="020B0609020204030204" pitchFamily="49" charset="0"/>
                <a:ea typeface="Courier New"/>
                <a:cs typeface="Consolas" panose="020B0609020204030204" pitchFamily="49" charset="0"/>
                <a:sym typeface="Courier New"/>
              </a:rPr>
              <a:t> </a:t>
            </a:r>
            <a:r>
              <a:rPr lang="en-US" sz="3200" b="1" dirty="0">
                <a:solidFill>
                  <a:schemeClr val="accent3"/>
                </a:solidFill>
                <a:latin typeface="Consolas" panose="020B0609020204030204" pitchFamily="49" charset="0"/>
                <a:ea typeface="Courier New"/>
                <a:cs typeface="Consolas" panose="020B0609020204030204" pitchFamily="49" charset="0"/>
                <a:sym typeface="Courier New"/>
              </a:rPr>
              <a:t>=</a:t>
            </a:r>
            <a:r>
              <a:rPr lang="en-US" sz="2400" dirty="0">
                <a:latin typeface="Consolas" panose="020B0609020204030204" pitchFamily="49" charset="0"/>
                <a:ea typeface="Courier New"/>
                <a:cs typeface="Consolas" panose="020B0609020204030204" pitchFamily="49" charset="0"/>
                <a:sym typeface="Courier New"/>
              </a:rPr>
              <a:t> </a:t>
            </a:r>
            <a:r>
              <a:rPr lang="en-US" sz="2400" dirty="0">
                <a:solidFill>
                  <a:srgbClr val="8DB4E2"/>
                </a:solidFill>
                <a:latin typeface="Consolas" panose="020B0609020204030204" pitchFamily="49" charset="0"/>
                <a:ea typeface="Courier New"/>
                <a:cs typeface="Consolas" panose="020B0609020204030204" pitchFamily="49" charset="0"/>
                <a:sym typeface="Courier New"/>
              </a:rPr>
              <a:t>n()</a:t>
            </a:r>
            <a:r>
              <a:rPr lang="en-US" sz="2400" dirty="0">
                <a:latin typeface="Consolas" panose="020B0609020204030204" pitchFamily="49" charset="0"/>
                <a:ea typeface="Courier New"/>
                <a:cs typeface="Consolas" panose="020B0609020204030204" pitchFamily="49" charset="0"/>
                <a:sym typeface="Courier New"/>
              </a:rPr>
              <a:t>)</a:t>
            </a:r>
            <a:endParaRPr lang="en-US" sz="1400" dirty="0"/>
          </a:p>
        </p:txBody>
      </p:sp>
      <p:graphicFrame>
        <p:nvGraphicFramePr>
          <p:cNvPr id="10" name="Table 9">
            <a:extLst>
              <a:ext uri="{FF2B5EF4-FFF2-40B4-BE49-F238E27FC236}">
                <a16:creationId xmlns:a16="http://schemas.microsoft.com/office/drawing/2014/main" id="{F3C7F4C9-73FF-1A4B-95FE-6EB57DA1E636}"/>
              </a:ext>
            </a:extLst>
          </p:cNvPr>
          <p:cNvGraphicFramePr>
            <a:graphicFrameLocks noGrp="1"/>
          </p:cNvGraphicFramePr>
          <p:nvPr>
            <p:extLst>
              <p:ext uri="{D42A27DB-BD31-4B8C-83A1-F6EECF244321}">
                <p14:modId xmlns:p14="http://schemas.microsoft.com/office/powerpoint/2010/main" val="1819662265"/>
              </p:ext>
            </p:extLst>
          </p:nvPr>
        </p:nvGraphicFramePr>
        <p:xfrm>
          <a:off x="6554947" y="4302888"/>
          <a:ext cx="2051392" cy="2139420"/>
        </p:xfrm>
        <a:graphic>
          <a:graphicData uri="http://schemas.openxmlformats.org/drawingml/2006/table">
            <a:tbl>
              <a:tblPr firstRow="1" bandRow="1"/>
              <a:tblGrid>
                <a:gridCol w="2051392">
                  <a:extLst>
                    <a:ext uri="{9D8B030D-6E8A-4147-A177-3AD203B41FA5}">
                      <a16:colId xmlns:a16="http://schemas.microsoft.com/office/drawing/2014/main" val="20000"/>
                    </a:ext>
                  </a:extLst>
                </a:gridCol>
              </a:tblGrid>
              <a:tr h="373817">
                <a:tc>
                  <a:txBody>
                    <a:bodyPr/>
                    <a:lstStyle/>
                    <a:p>
                      <a:pPr marL="0" lvl="0" indent="0" algn="ctr" rtl="0">
                        <a:spcBef>
                          <a:spcPts val="0"/>
                        </a:spcBef>
                        <a:spcAft>
                          <a:spcPts val="0"/>
                        </a:spcAft>
                        <a:buNone/>
                      </a:pPr>
                      <a:r>
                        <a:rPr lang="en-US" sz="2400" b="1" dirty="0" err="1">
                          <a:solidFill>
                            <a:schemeClr val="lt1"/>
                          </a:solidFill>
                        </a:rPr>
                        <a:t>mrn</a:t>
                      </a:r>
                      <a:endParaRPr sz="2400" b="1" dirty="0">
                        <a:solidFill>
                          <a:schemeClr val="lt1"/>
                        </a:solidFill>
                      </a:endParaRPr>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370840">
                <a:tc>
                  <a:txBody>
                    <a:bodyPr/>
                    <a:lstStyle/>
                    <a:p>
                      <a:pPr marL="0" lvl="0" indent="0" algn="ctr" rtl="0">
                        <a:spcBef>
                          <a:spcPts val="0"/>
                        </a:spcBef>
                        <a:spcAft>
                          <a:spcPts val="0"/>
                        </a:spcAft>
                        <a:buNone/>
                      </a:pPr>
                      <a:r>
                        <a:rPr lang="en-US" sz="2000" dirty="0"/>
                        <a:t>5001412</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10001"/>
                  </a:ext>
                </a:extLst>
              </a:tr>
              <a:tr h="370840">
                <a:tc>
                  <a:txBody>
                    <a:bodyPr/>
                    <a:lstStyle/>
                    <a:p>
                      <a:pPr marL="0" lvl="0" indent="0" algn="ctr" rtl="0">
                        <a:spcBef>
                          <a:spcPts val="0"/>
                        </a:spcBef>
                        <a:spcAft>
                          <a:spcPts val="0"/>
                        </a:spcAft>
                        <a:buNone/>
                      </a:pPr>
                      <a:r>
                        <a:rPr lang="en-US" sz="2000" dirty="0"/>
                        <a:t>5000533</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1394885157"/>
                  </a:ext>
                </a:extLst>
              </a:tr>
              <a:tr h="370840">
                <a:tc>
                  <a:txBody>
                    <a:bodyPr/>
                    <a:lstStyle/>
                    <a:p>
                      <a:pPr marL="0" lvl="0" indent="0" algn="ctr" rtl="0">
                        <a:spcBef>
                          <a:spcPts val="0"/>
                        </a:spcBef>
                        <a:spcAft>
                          <a:spcPts val="0"/>
                        </a:spcAft>
                        <a:buNone/>
                      </a:pPr>
                      <a:r>
                        <a:rPr lang="en-US" sz="2000" dirty="0"/>
                        <a:t>5009134</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3362528972"/>
                  </a:ext>
                </a:extLst>
              </a:tr>
              <a:tr h="370840">
                <a:tc>
                  <a:txBody>
                    <a:bodyPr/>
                    <a:lstStyle/>
                    <a:p>
                      <a:pPr marL="0" lvl="0" indent="0" algn="ctr" rtl="0">
                        <a:spcBef>
                          <a:spcPts val="0"/>
                        </a:spcBef>
                        <a:spcAft>
                          <a:spcPts val="0"/>
                        </a:spcAft>
                        <a:buNone/>
                      </a:pPr>
                      <a:r>
                        <a:rPr lang="en-US" sz="2000" dirty="0"/>
                        <a:t>5008518</a:t>
                      </a:r>
                      <a:endParaRPr sz="2000" dirty="0"/>
                    </a:p>
                  </a:txBody>
                  <a:tcPr marL="48978" marR="48978" marT="55446" marB="55446"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alpha val="50196"/>
                      </a:srgbClr>
                    </a:solidFill>
                  </a:tcPr>
                </a:tc>
                <a:extLst>
                  <a:ext uri="{0D108BD9-81ED-4DB2-BD59-A6C34878D82A}">
                    <a16:rowId xmlns:a16="http://schemas.microsoft.com/office/drawing/2014/main" val="3121703329"/>
                  </a:ext>
                </a:extLst>
              </a:tr>
            </a:tbl>
          </a:graphicData>
        </a:graphic>
      </p:graphicFrame>
    </p:spTree>
    <p:extLst>
      <p:ext uri="{BB962C8B-B14F-4D97-AF65-F5344CB8AC3E}">
        <p14:creationId xmlns:p14="http://schemas.microsoft.com/office/powerpoint/2010/main" val="882865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6A2D24-E81A-8241-8BE4-10C628CAAAB4}"/>
              </a:ext>
            </a:extLst>
          </p:cNvPr>
          <p:cNvSpPr>
            <a:spLocks noGrp="1"/>
          </p:cNvSpPr>
          <p:nvPr>
            <p:ph type="title"/>
          </p:nvPr>
        </p:nvSpPr>
        <p:spPr/>
        <p:txBody>
          <a:bodyPr/>
          <a:lstStyle/>
          <a:p>
            <a:r>
              <a:rPr lang="en-US" dirty="0"/>
              <a:t>Your Turn #3</a:t>
            </a:r>
          </a:p>
        </p:txBody>
      </p:sp>
      <p:sp>
        <p:nvSpPr>
          <p:cNvPr id="5" name="Text Placeholder 2">
            <a:extLst>
              <a:ext uri="{FF2B5EF4-FFF2-40B4-BE49-F238E27FC236}">
                <a16:creationId xmlns:a16="http://schemas.microsoft.com/office/drawing/2014/main" id="{0F8623C7-1227-A04A-B096-498B1A18A501}"/>
              </a:ext>
            </a:extLst>
          </p:cNvPr>
          <p:cNvSpPr txBox="1">
            <a:spLocks/>
          </p:cNvSpPr>
          <p:nvPr/>
        </p:nvSpPr>
        <p:spPr>
          <a:xfrm>
            <a:off x="541176" y="2390775"/>
            <a:ext cx="11220294" cy="3979545"/>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4800" kern="1200">
                <a:solidFill>
                  <a:schemeClr val="accent4">
                    <a:lumMod val="75000"/>
                  </a:schemeClr>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914400" indent="-914400">
              <a:buFont typeface="+mj-lt"/>
              <a:buAutoNum type="arabicPeriod"/>
            </a:pPr>
            <a:r>
              <a:rPr lang="en-US" dirty="0"/>
              <a:t>Complete the Grouping and Summarizing section</a:t>
            </a:r>
          </a:p>
          <a:p>
            <a:pPr marL="914400" indent="-914400">
              <a:buFont typeface="+mj-lt"/>
              <a:buAutoNum type="arabicPeriod"/>
            </a:pPr>
            <a:r>
              <a:rPr lang="en-US" dirty="0"/>
              <a:t>Sticky up when done </a:t>
            </a:r>
          </a:p>
        </p:txBody>
      </p:sp>
    </p:spTree>
    <p:extLst>
      <p:ext uri="{BB962C8B-B14F-4D97-AF65-F5344CB8AC3E}">
        <p14:creationId xmlns:p14="http://schemas.microsoft.com/office/powerpoint/2010/main" val="6788609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2864C1-603E-8842-AE96-D3526096E32C}"/>
              </a:ext>
            </a:extLst>
          </p:cNvPr>
          <p:cNvSpPr>
            <a:spLocks noGrp="1"/>
          </p:cNvSpPr>
          <p:nvPr>
            <p:ph idx="4294967295"/>
          </p:nvPr>
        </p:nvSpPr>
        <p:spPr>
          <a:xfrm>
            <a:off x="497305" y="1663700"/>
            <a:ext cx="11309213" cy="4618205"/>
          </a:xfrm>
        </p:spPr>
        <p:txBody>
          <a:bodyPr>
            <a:normAutofit/>
          </a:bodyPr>
          <a:lstStyle/>
          <a:p>
            <a:pPr marL="0" indent="0">
              <a:buNone/>
            </a:pPr>
            <a:r>
              <a:rPr lang="en-US" sz="3200" b="1" dirty="0"/>
              <a:t>Summarize() </a:t>
            </a:r>
            <a:r>
              <a:rPr lang="en-US" sz="3200" dirty="0"/>
              <a:t>is a function that enables us to calculate summaries of variables (columns).  </a:t>
            </a:r>
          </a:p>
          <a:p>
            <a:pPr marL="0" indent="0">
              <a:buNone/>
            </a:pPr>
            <a:r>
              <a:rPr lang="en-US" sz="3200" dirty="0"/>
              <a:t>Common summary activities include counting observations using </a:t>
            </a:r>
            <a:r>
              <a:rPr lang="en-US" sz="3200" b="1" dirty="0"/>
              <a:t>n()</a:t>
            </a:r>
            <a:r>
              <a:rPr lang="en-US" sz="3200" dirty="0"/>
              <a:t>, counting unique observations using </a:t>
            </a:r>
            <a:r>
              <a:rPr lang="en-US" sz="3200" b="1" dirty="0" err="1"/>
              <a:t>n_distinct</a:t>
            </a:r>
            <a:r>
              <a:rPr lang="en-US" sz="3200" b="1" dirty="0"/>
              <a:t>()</a:t>
            </a:r>
            <a:r>
              <a:rPr lang="en-US" sz="3200" dirty="0"/>
              <a:t>, and calculating means using </a:t>
            </a:r>
            <a:r>
              <a:rPr lang="en-US" sz="3200" b="1" dirty="0"/>
              <a:t>mean()</a:t>
            </a:r>
            <a:r>
              <a:rPr lang="en-US" sz="3200" dirty="0"/>
              <a:t>.</a:t>
            </a:r>
          </a:p>
          <a:p>
            <a:pPr marL="0" indent="0">
              <a:buNone/>
            </a:pPr>
            <a:r>
              <a:rPr lang="en-US" sz="3200" b="1" dirty="0" err="1"/>
              <a:t>Group_by</a:t>
            </a:r>
            <a:r>
              <a:rPr lang="en-US" sz="3200" b="1" dirty="0"/>
              <a:t>()</a:t>
            </a:r>
            <a:r>
              <a:rPr lang="en-US" sz="3200" dirty="0"/>
              <a:t> is a function that enables us to create subsets of data by a variable.  Data can also be grouped by multiple variables.</a:t>
            </a:r>
          </a:p>
          <a:p>
            <a:pPr marL="0" indent="0">
              <a:buNone/>
            </a:pPr>
            <a:r>
              <a:rPr lang="en-US" sz="3200" dirty="0"/>
              <a:t>Combining the </a:t>
            </a:r>
            <a:r>
              <a:rPr lang="en-US" sz="3200" b="1" dirty="0" err="1"/>
              <a:t>group_by</a:t>
            </a:r>
            <a:r>
              <a:rPr lang="en-US" sz="3200" b="1" dirty="0"/>
              <a:t>()</a:t>
            </a:r>
            <a:r>
              <a:rPr lang="en-US" sz="3200" dirty="0"/>
              <a:t> and </a:t>
            </a:r>
            <a:r>
              <a:rPr lang="en-US" sz="3200" b="1" dirty="0"/>
              <a:t>summarize()</a:t>
            </a:r>
            <a:r>
              <a:rPr lang="en-US" sz="3200" dirty="0"/>
              <a:t> functions is a powerful way to look at summarizations across groups.</a:t>
            </a:r>
          </a:p>
        </p:txBody>
      </p:sp>
      <p:sp>
        <p:nvSpPr>
          <p:cNvPr id="4" name="object 10">
            <a:extLst>
              <a:ext uri="{FF2B5EF4-FFF2-40B4-BE49-F238E27FC236}">
                <a16:creationId xmlns:a16="http://schemas.microsoft.com/office/drawing/2014/main" id="{76AF4A87-DBFF-1B44-A044-1B865727C039}"/>
              </a:ext>
            </a:extLst>
          </p:cNvPr>
          <p:cNvSpPr txBox="1"/>
          <p:nvPr/>
        </p:nvSpPr>
        <p:spPr>
          <a:xfrm>
            <a:off x="1765568" y="576094"/>
            <a:ext cx="9018175" cy="689291"/>
          </a:xfrm>
          <a:prstGeom prst="rect">
            <a:avLst/>
          </a:prstGeom>
        </p:spPr>
        <p:txBody>
          <a:bodyPr vert="horz" wrap="square" lIns="0" tIns="12065" rIns="0" bIns="0" rtlCol="0">
            <a:spAutoFit/>
          </a:bodyPr>
          <a:lstStyle/>
          <a:p>
            <a:pPr marL="12700" algn="ctr">
              <a:lnSpc>
                <a:spcPct val="100000"/>
              </a:lnSpc>
              <a:spcBef>
                <a:spcPts val="95"/>
              </a:spcBef>
            </a:pPr>
            <a:r>
              <a:rPr lang="en-US" sz="4400" spc="-5" dirty="0">
                <a:latin typeface="Tw Cen MT" panose="020B0602020104020603" pitchFamily="34" charset="77"/>
                <a:cs typeface="Helvetica Neue"/>
              </a:rPr>
              <a:t>Recap</a:t>
            </a:r>
            <a:endParaRPr sz="4400" dirty="0">
              <a:latin typeface="Tw Cen MT" panose="020B0602020104020603" pitchFamily="34" charset="77"/>
              <a:cs typeface="Helvetica Neue"/>
            </a:endParaRPr>
          </a:p>
        </p:txBody>
      </p:sp>
    </p:spTree>
    <p:extLst>
      <p:ext uri="{BB962C8B-B14F-4D97-AF65-F5344CB8AC3E}">
        <p14:creationId xmlns:p14="http://schemas.microsoft.com/office/powerpoint/2010/main" val="24897169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606C-BC3C-DA46-952C-6A430CD04159}"/>
              </a:ext>
            </a:extLst>
          </p:cNvPr>
          <p:cNvSpPr>
            <a:spLocks noGrp="1"/>
          </p:cNvSpPr>
          <p:nvPr>
            <p:ph type="title"/>
          </p:nvPr>
        </p:nvSpPr>
        <p:spPr>
          <a:xfrm>
            <a:off x="502443" y="2752468"/>
            <a:ext cx="11187112" cy="1463040"/>
          </a:xfrm>
        </p:spPr>
        <p:txBody>
          <a:bodyPr/>
          <a:lstStyle/>
          <a:p>
            <a:r>
              <a:rPr lang="en-US" dirty="0">
                <a:latin typeface="+mn-lt"/>
              </a:rPr>
              <a:t>What else?</a:t>
            </a:r>
          </a:p>
        </p:txBody>
      </p:sp>
    </p:spTree>
    <p:extLst>
      <p:ext uri="{BB962C8B-B14F-4D97-AF65-F5344CB8AC3E}">
        <p14:creationId xmlns:p14="http://schemas.microsoft.com/office/powerpoint/2010/main" val="3297111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66D9F7-9C44-AA49-B3D0-BB47897423A0}"/>
              </a:ext>
            </a:extLst>
          </p:cNvPr>
          <p:cNvPicPr>
            <a:picLocks noChangeAspect="1"/>
          </p:cNvPicPr>
          <p:nvPr/>
        </p:nvPicPr>
        <p:blipFill>
          <a:blip r:embed="rId3"/>
          <a:stretch>
            <a:fillRect/>
          </a:stretch>
        </p:blipFill>
        <p:spPr>
          <a:xfrm>
            <a:off x="1780513" y="134714"/>
            <a:ext cx="8630973" cy="6588572"/>
          </a:xfrm>
          <a:prstGeom prst="rect">
            <a:avLst/>
          </a:prstGeom>
        </p:spPr>
      </p:pic>
    </p:spTree>
    <p:extLst>
      <p:ext uri="{BB962C8B-B14F-4D97-AF65-F5344CB8AC3E}">
        <p14:creationId xmlns:p14="http://schemas.microsoft.com/office/powerpoint/2010/main" val="4136216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5E8F3C-E7A3-CC49-8EBA-E7177324CB62}"/>
              </a:ext>
            </a:extLst>
          </p:cNvPr>
          <p:cNvSpPr txBox="1"/>
          <p:nvPr/>
        </p:nvSpPr>
        <p:spPr>
          <a:xfrm>
            <a:off x="626225" y="236074"/>
            <a:ext cx="10939550" cy="6385851"/>
          </a:xfrm>
          <a:prstGeom prst="rect">
            <a:avLst/>
          </a:prstGeom>
          <a:noFill/>
        </p:spPr>
        <p:txBody>
          <a:bodyPr wrap="square" rtlCol="0">
            <a:spAutoFit/>
          </a:bodyPr>
          <a:lstStyle/>
          <a:p>
            <a:r>
              <a:rPr lang="en-US" sz="4000" dirty="0"/>
              <a:t>Lesson Goals</a:t>
            </a:r>
          </a:p>
          <a:p>
            <a:pPr marL="342900" marR="0" lvl="0" indent="-342900" rtl="0">
              <a:lnSpc>
                <a:spcPct val="107000"/>
              </a:lnSpc>
              <a:spcBef>
                <a:spcPts val="0"/>
              </a:spcBef>
              <a:spcAft>
                <a:spcPts val="0"/>
              </a:spcAft>
              <a:buFont typeface="+mj-lt"/>
              <a:buAutoNum type="arabicPeriod"/>
            </a:pPr>
            <a:r>
              <a:rPr lang="en-US" sz="3200" kern="100" dirty="0">
                <a:effectLst/>
                <a:ea typeface="Calibri" panose="020F0502020204030204" pitchFamily="34" charset="0"/>
                <a:cs typeface="Arial" panose="020B0604020202020204" pitchFamily="34" charset="0"/>
              </a:rPr>
              <a:t>Construct a table that summarizes basic statistics (e.g., count, proportion, mean, range) of a dataset and its subgroups</a:t>
            </a:r>
          </a:p>
          <a:p>
            <a:pPr marL="342900" indent="-342900">
              <a:lnSpc>
                <a:spcPct val="107000"/>
              </a:lnSpc>
              <a:buFont typeface="+mj-lt"/>
              <a:buAutoNum type="arabicPeriod"/>
            </a:pPr>
            <a:r>
              <a:rPr lang="en-US" sz="3200" kern="100" dirty="0">
                <a:effectLst/>
                <a:ea typeface="Calibri" panose="020F0502020204030204" pitchFamily="34" charset="0"/>
                <a:cs typeface="Arial" panose="020B0604020202020204" pitchFamily="34" charset="0"/>
              </a:rPr>
              <a:t>Utilize programming and software tools to facilitate efficient, reproducible, and transparent data analytics workflows</a:t>
            </a:r>
            <a:endParaRPr lang="en-US" sz="3200" dirty="0"/>
          </a:p>
          <a:p>
            <a:r>
              <a:rPr lang="en-US" sz="4000" dirty="0"/>
              <a:t>Lesson Objectives</a:t>
            </a:r>
          </a:p>
          <a:p>
            <a:pPr marL="457200" indent="-457200">
              <a:buFont typeface="+mj-lt"/>
              <a:buAutoNum type="arabicPeriod"/>
            </a:pPr>
            <a:r>
              <a:rPr lang="en-US" sz="3200" dirty="0"/>
              <a:t>Link sequential data analysis steps together using the pipe operator to improve readability</a:t>
            </a:r>
          </a:p>
          <a:p>
            <a:pPr marL="457200" indent="-457200">
              <a:lnSpc>
                <a:spcPct val="100000"/>
              </a:lnSpc>
              <a:spcBef>
                <a:spcPts val="0"/>
              </a:spcBef>
              <a:spcAft>
                <a:spcPts val="0"/>
              </a:spcAft>
              <a:buClrTx/>
              <a:buSzTx/>
              <a:buFont typeface="+mj-lt"/>
              <a:buAutoNum type="arabicPeriod"/>
            </a:pPr>
            <a:r>
              <a:rPr lang="en-US" sz="3200" dirty="0"/>
              <a:t>Calculate a summary statistic for a variable using the summarize() function</a:t>
            </a:r>
          </a:p>
          <a:p>
            <a:pPr marL="457200" indent="-457200">
              <a:lnSpc>
                <a:spcPct val="100000"/>
              </a:lnSpc>
              <a:spcBef>
                <a:spcPts val="0"/>
              </a:spcBef>
              <a:spcAft>
                <a:spcPts val="0"/>
              </a:spcAft>
              <a:buClrTx/>
              <a:buSzTx/>
              <a:buFont typeface="+mj-lt"/>
              <a:buAutoNum type="arabicPeriod"/>
            </a:pPr>
            <a:r>
              <a:rPr lang="en-US" sz="3200" dirty="0"/>
              <a:t>Combine </a:t>
            </a:r>
            <a:r>
              <a:rPr lang="en-US" sz="3200" dirty="0" err="1"/>
              <a:t>group_by</a:t>
            </a:r>
            <a:r>
              <a:rPr lang="en-US" sz="3200" dirty="0"/>
              <a:t>() and summarize() functions to calculate summary statistics for groups of data</a:t>
            </a:r>
          </a:p>
        </p:txBody>
      </p:sp>
    </p:spTree>
    <p:extLst>
      <p:ext uri="{BB962C8B-B14F-4D97-AF65-F5344CB8AC3E}">
        <p14:creationId xmlns:p14="http://schemas.microsoft.com/office/powerpoint/2010/main" val="38234969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18914</TotalTime>
  <Words>2284</Words>
  <Application>Microsoft Macintosh PowerPoint</Application>
  <PresentationFormat>Widescreen</PresentationFormat>
  <Paragraphs>332</Paragraphs>
  <Slides>37</Slides>
  <Notes>30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Calibri</vt:lpstr>
      <vt:lpstr>Consolas</vt:lpstr>
      <vt:lpstr>Monaco</vt:lpstr>
      <vt:lpstr>Times New Roman</vt:lpstr>
      <vt:lpstr>Trebuchet MS</vt:lpstr>
      <vt:lpstr>Tw Cen MT</vt:lpstr>
      <vt:lpstr>Tw Cen MT Condensed</vt:lpstr>
      <vt:lpstr>Wingdings</vt:lpstr>
      <vt:lpstr>Wingdings 3</vt:lpstr>
      <vt:lpstr>Integral</vt:lpstr>
      <vt:lpstr>Grouping and Summarizing Data</vt:lpstr>
      <vt:lpstr>DISCLOSURE</vt:lpstr>
      <vt:lpstr>PowerPoint Presentation</vt:lpstr>
      <vt:lpstr>Typical Data Science Pipeline</vt:lpstr>
      <vt:lpstr>Piping Data from One Row to the Next</vt:lpstr>
      <vt:lpstr>Reviewing turnaround times</vt:lpstr>
      <vt:lpstr>Data Analysis Steps</vt:lpstr>
      <vt:lpstr>Reviewing turnaround times</vt:lpstr>
      <vt:lpstr>Data Analysis Steps</vt:lpstr>
      <vt:lpstr>The Pipe Operator |&gt;</vt:lpstr>
      <vt:lpstr>Data Analysis Steps</vt:lpstr>
      <vt:lpstr>Shortcut to type |&gt; </vt:lpstr>
      <vt:lpstr>Your Turn #1</vt:lpstr>
      <vt:lpstr>Summarize the data set</vt:lpstr>
      <vt:lpstr>Q: What is the average sodium value?</vt:lpstr>
      <vt:lpstr>PowerPoint Presentation</vt:lpstr>
      <vt:lpstr>PowerPoint Presentation</vt:lpstr>
      <vt:lpstr>PowerPoint Presentation</vt:lpstr>
      <vt:lpstr>PowerPoint Presentation</vt:lpstr>
      <vt:lpstr>PowerPoint Presentation</vt:lpstr>
      <vt:lpstr>Your Turn #2</vt:lpstr>
      <vt:lpstr>PowerPoint Presentation</vt:lpstr>
      <vt:lpstr>Calculate the mean turnaround time</vt:lpstr>
      <vt:lpstr>Calculate the 75th percentile turnaround time</vt:lpstr>
      <vt:lpstr>Grouping your data</vt:lpstr>
      <vt:lpstr>PowerPoint Presentation</vt:lpstr>
      <vt:lpstr>PowerPoint Presentation</vt:lpstr>
      <vt:lpstr>PowerPoint Presentation</vt:lpstr>
      <vt:lpstr>group_by() |&gt; summarize()</vt:lpstr>
      <vt:lpstr>PowerPoint Presentation</vt:lpstr>
      <vt:lpstr>PowerPoint Presentation</vt:lpstr>
      <vt:lpstr>PowerPoint Presentation</vt:lpstr>
      <vt:lpstr>Your Turn #3</vt:lpstr>
      <vt:lpstr>PowerPoint Presentation</vt:lpstr>
      <vt:lpstr>What else?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Medical Doctors  Reproducible Clinical Data Analysis</dc:title>
  <dc:creator>Kadauke, Stephan,M.D.</dc:creator>
  <cp:lastModifiedBy>Patrick C Mathias</cp:lastModifiedBy>
  <cp:revision>726</cp:revision>
  <cp:lastPrinted>2020-07-14T03:12:28Z</cp:lastPrinted>
  <dcterms:created xsi:type="dcterms:W3CDTF">2018-02-01T22:00:01Z</dcterms:created>
  <dcterms:modified xsi:type="dcterms:W3CDTF">2025-10-24T20:52:26Z</dcterms:modified>
</cp:coreProperties>
</file>